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0D2DFC7-B045-3942-D2AD-95EF3C9AECC0}">
          <p14:sldIdLst>
            <p14:sldId id="256"/>
            <p14:sldId id="257"/>
          </p14:sldIdLst>
        </p14:section>
        <p14:section name="Definition" id="{C92F0C48-F10D-3D51-1798-AE18E7B88F5C}">
          <p14:sldIdLst>
            <p14:sldId id="258"/>
            <p14:sldId id="259"/>
            <p14:sldId id="260"/>
          </p14:sldIdLst>
        </p14:section>
        <p14:section name="History" id="{B886A9E5-D4D1-B5A5-1579-F3A92A370BB6}">
          <p14:sldIdLst>
            <p14:sldId id="261"/>
            <p14:sldId id="262"/>
            <p14:sldId id="263"/>
            <p14:sldId id="264"/>
          </p14:sldIdLst>
        </p14:section>
        <p14:section name="Roles" id="{027C4E7A-5A6B-F39F-25D2-7F7A2A8F72FA}">
          <p14:sldIdLst>
            <p14:sldId id="265"/>
            <p14:sldId id="266"/>
            <p14:sldId id="267"/>
          </p14:sldIdLst>
        </p14:section>
        <p14:section name="Visual communication" id="{FEE625B3-5DE4-144D-C16E-701DA97765B4}">
          <p14:sldIdLst>
            <p14:sldId id="268"/>
            <p14:sldId id="269"/>
            <p14:sldId id="270"/>
            <p14:sldId id="271"/>
            <p14:sldId id="272"/>
          </p14:sldIdLst>
        </p14:section>
        <p14:section name="Design contexts" id="{46AA17C8-BB29-F08D-D9BC-A7B8119A499F}">
          <p14:sldIdLst>
            <p14:sldId id="273"/>
            <p14:sldId id="274"/>
            <p14:sldId id="275"/>
            <p14:sldId id="276"/>
          </p14:sldIdLst>
        </p14:section>
        <p14:section name="Wrap-up" id="{41D7D45A-C59A-AF7B-D5DE-643705EECE68}">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6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209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and introduce the session. Today builds a shared vocabulary for the whole course: what graphic design is, where it came from, what designers do, how visual messages work, and how context shapes design. Ask students to name one piece of design they noticed on their way to class.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parts. Tell students the session moves from the big question, what is graphic design, towards practical thinking about where and how designs are used. There is an activity near the end, so they should keep a design example in mind.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aloud and stress the word 'solutions'. Design is not decoration; it is problem solving with visual tools. Every project has three things to hold in mind: the message, the audience and the medium. Ask: what is the message of the packaging nearest to you, and who is it for?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helps students understand why designers must justify decisions by function, not just taste. Emphasise that the overlap is real; many designers have an art practice. The key difference is who decides whether the work succeeded: in design, it is whether the audience gets and acts on the message.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are the raw materials of nearly every design. Later in the course we study each in depth. For now, ask students to pick any design in the room and point to examples of each material in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tour, not an exam. The pattern to notice is that every technology change made images and text easier to produce and distribute. Dates marked 'c.' are approximate, and the attribution of paper to Cai Lun is traditional rather than certain.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two ideas. First, lithography and industrial printing created mass visual culture. Second, reactions to industrialisation (Arts and Crafts, Art Nouveau, then Bauhaus) shaped how designers think about form and function. The term 'graphic design' itself only appears in the 1920s.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two eras. The modernist era is about clarity, systems and the grid; the digital era is about tools. Ask students which of these tools or ideas they use already. Point out that the principles from earlier eras still apply on screen.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reference table. Show one image for each movement if you have them. Dates are approximate because movements overlap and fade gradually. The discussion question connects history to the present, for example flat design echoing Swiss Style and Bauhaus.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Presenting the work as a process helps students see that software is only one part of design. Most of the effort goes into understanding the problem and exploring ideas. Emphasise the loop: client or user feedback means designers revisit earlier stages.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common specialisations, and many designers work across several. Ask students which they find most interesting and why. Mention that job titles vary between studios, in-house teams and freelance work.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are visual, technical, intellectual and interpersonal. Students often focus on software, so stress that thinking and communication skills are what clients value most. The right panel shows how collaborative the job is: designers rarely work alone.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simplified communication model adapted for design. The designer encodes an idea into visual form, it travels through a medium, and the audience decodes it. Noise is what degrades the message; feedback tells you whether it worked. Ask students to name sources of noise in a bus-stop advertisement.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light introduction to semiotics, based on Peirce's three types of sign. Icons resemble, indexes point or imply, and symbols depend on shared agreement. Designers often combine all three. Ask: is a heart on an app an icon, an index or a symbol?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Gestalt psychology describes how people naturally organise visual information. Walk through each example and ask where students see it in real layouts: proximity in a menu, similarity in navigation buttons, closure in logos, continuity in infographics, and figure-ground in negative-space logos.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Hierarchy tells the viewer what to read first, second and third. Ask students to cover the poster text and decide what they notice first, then check against the numbers. Point out that reading order depends on the script and culture, so position rules change in right-to-left layouts.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same two words in three treatments and ask students to describe each in one word. This makes the point that form carries meaning. Ask what product each would suit, and which would feel wrong for a bank or a children's toy.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context brings its own constraints. Ask students to give one example of each from their daily life. The key point is that a good designer asks about context before choosing any visual style.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practical checklist students will use in projects. Emphasise that choosing the wrong color mode or resolution is a common beginner mistake. If time allows, show how the same blue looks different on screen and in print.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brand message needs a different design in each setting. Ask students how the headline length, type size and image would change between the billboard and the product label. This reinforces that context drives decisions about hierarchy and detail.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medium, design always sits inside commercial, cultural and social settings. Invite students to share an example of a design that did not work in a particular culture, or a campaign that changed public behavior. Link back to the audience question from the start of the session.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students and give each pair a design to analyse, or let them choose one from a pile of printed examples or from their phones. Circulate and listen for vocabulary from today. After 15 minutes, invite two or three pairs to share their proposed improvement.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outline. Use the questions on the right as an exit ticket or discussion post. Ask students to write a one-sentence definition of graphic design in their own words and compare it with a partner's.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widely used references. Meggs covers history, Lupton's books cover typography and fundamentals, Williams gives an accessible introduction to core principles, and Müller-Brockmann is a classic on grids. Editions change, so check what is available in your library.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6309360" cy="219456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3" name="Text 0"/>
          <p:cNvSpPr>
            <a:spLocks noGrp="1"/>
          </p:cNvSpPr>
          <p:nvPr>
            <p:ph type="body" idx="101" hasCustomPrompt="1"/>
          </p:nvPr>
        </p:nvSpPr>
        <p:spPr>
          <a:xfrm>
            <a:off x="731520" y="4343400"/>
            <a:ext cx="5852160" cy="109728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pic>
        <p:nvPicPr>
          <p:cNvPr id="3" name="Image 0" descr="preencoded.png"/>
          <p:cNvPicPr>
            <a:picLocks noChangeAspect="1"/>
          </p:cNvPicPr>
          <p:nvPr/>
        </p:nvPicPr>
        <p:blipFill>
          <a:blip r:embed="rId2"/>
          <a:stretch>
            <a:fillRect/>
          </a:stretch>
        </p:blipFill>
        <p:spPr>
          <a:xfrm>
            <a:off x="548640" y="6400800"/>
            <a:ext cx="603504" cy="182880"/>
          </a:xfrm>
          <a:prstGeom prst="rect">
            <a:avLst/>
          </a:prstGeom>
        </p:spPr>
      </p:pic>
      <p:sp>
        <p:nvSpPr>
          <p:cNvPr id="4" name="Text 0"/>
          <p:cNvSpPr/>
          <p:nvPr/>
        </p:nvSpPr>
        <p:spPr>
          <a:xfrm>
            <a:off x="1325880" y="6373368"/>
            <a:ext cx="4572000" cy="237744"/>
          </a:xfrm>
          <a:prstGeom prst="rect">
            <a:avLst/>
          </a:prstGeom>
          <a:noFill/>
          <a:ln/>
        </p:spPr>
        <p:txBody>
          <a:bodyPr wrap="square" lIns="0" tIns="0" rIns="0" bIns="0" rtlCol="0" anchor="ctr"/>
          <a:lstStyle/>
          <a:p>
            <a:pPr marL="0" indent="0">
              <a:buNone/>
            </a:pPr>
            <a:r>
              <a:rPr lang="en-US" sz="1000" dirty="0">
                <a:solidFill>
                  <a:srgbClr val="5A6272"/>
                </a:solidFill>
              </a:rPr>
              <a:t>Introduction to Graphic Design</a:t>
            </a:r>
            <a:endParaRPr lang="en-US" sz="1000" dirty="0"/>
          </a:p>
        </p:txBody>
      </p:sp>
      <p:sp>
        <p:nvSpPr>
          <p:cNvPr id="25"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pic>
        <p:nvPicPr>
          <p:cNvPr id="3" name="Image 0" descr="preencoded.png"/>
          <p:cNvPicPr>
            <a:picLocks noChangeAspect="1"/>
          </p:cNvPicPr>
          <p:nvPr/>
        </p:nvPicPr>
        <p:blipFill>
          <a:blip r:embed="rId2"/>
          <a:stretch>
            <a:fillRect/>
          </a:stretch>
        </p:blipFill>
        <p:spPr>
          <a:xfrm>
            <a:off x="548640" y="6400800"/>
            <a:ext cx="603504" cy="182880"/>
          </a:xfrm>
          <a:prstGeom prst="rect">
            <a:avLst/>
          </a:prstGeom>
        </p:spPr>
      </p:pic>
      <p:sp>
        <p:nvSpPr>
          <p:cNvPr id="4" name="Text 0"/>
          <p:cNvSpPr/>
          <p:nvPr/>
        </p:nvSpPr>
        <p:spPr>
          <a:xfrm>
            <a:off x="1325880" y="6373368"/>
            <a:ext cx="4572000" cy="237744"/>
          </a:xfrm>
          <a:prstGeom prst="rect">
            <a:avLst/>
          </a:prstGeom>
          <a:noFill/>
          <a:ln/>
        </p:spPr>
        <p:txBody>
          <a:bodyPr wrap="square" lIns="0" tIns="0" rIns="0" bIns="0" rtlCol="0" anchor="ctr"/>
          <a:lstStyle/>
          <a:p>
            <a:pPr marL="0" indent="0">
              <a:buNone/>
            </a:pPr>
            <a:r>
              <a:rPr lang="en-US" sz="1000" dirty="0">
                <a:solidFill>
                  <a:srgbClr val="B7BDC9"/>
                </a:solidFill>
              </a:rPr>
              <a:t>Introduction to Graphic Design</a:t>
            </a:r>
            <a:endParaRPr lang="en-US" sz="1000" dirty="0"/>
          </a:p>
        </p:txBody>
      </p:sp>
      <p:sp>
        <p:nvSpPr>
          <p:cNvPr id="25"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B7BDC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7.png"/><Relationship Id="rId7"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17.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6309360" cy="2194560"/>
          </a:xfrm>
          <a:prstGeom prst="rect">
            <a:avLst/>
          </a:prstGeom>
          <a:noFill/>
          <a:ln/>
        </p:spPr>
        <p:txBody>
          <a:bodyPr wrap="square" lIns="0" tIns="0" rIns="0" bIns="0" rtlCol="0" anchor="t"/>
          <a:lstStyle/>
          <a:p>
            <a:pPr marL="0" indent="0" algn="l">
              <a:buNone/>
            </a:pPr>
            <a:r>
              <a:rPr lang="en-US" sz="5400" b="1" dirty="0">
                <a:solidFill>
                  <a:schemeClr val="bg1"/>
                </a:solidFill>
              </a:rPr>
              <a:t>Introduction to Graphic Design</a:t>
            </a:r>
            <a:endParaRPr lang="en-US" sz="5400" dirty="0"/>
          </a:p>
        </p:txBody>
      </p:sp>
      <p:sp>
        <p:nvSpPr>
          <p:cNvPr id="3" name="Text 0"/>
          <p:cNvSpPr>
            <a:spLocks noGrp="1"/>
          </p:cNvSpPr>
          <p:nvPr>
            <p:ph type="body" idx="101" hasCustomPrompt="1"/>
          </p:nvPr>
        </p:nvSpPr>
        <p:spPr>
          <a:xfrm>
            <a:off x="731520" y="4343400"/>
            <a:ext cx="5852160" cy="1097280"/>
          </a:xfrm>
          <a:prstGeom prst="rect">
            <a:avLst/>
          </a:prstGeom>
          <a:noFill/>
          <a:ln/>
        </p:spPr>
        <p:txBody>
          <a:bodyPr wrap="square" lIns="0" tIns="0" rIns="0" bIns="0" rtlCol="0" anchor="t"/>
          <a:lstStyle/>
          <a:p>
            <a:pPr marL="0" indent="0" algn="l">
              <a:buNone/>
            </a:pPr>
            <a:r>
              <a:rPr lang="en-US" sz="2000" dirty="0">
                <a:solidFill>
                  <a:schemeClr val="bg2"/>
                </a:solidFill>
              </a:rPr>
              <a:t>Definition, history, roles, visual communication and design contexts</a:t>
            </a:r>
          </a:p>
          <a:p>
            <a:pPr marL="0" indent="0" algn="l">
              <a:buNone/>
            </a:pPr>
            <a:endParaRPr lang="en-US" dirty="0"/>
          </a:p>
          <a:p>
            <a:pPr marL="0" indent="0" algn="l">
              <a:buNone/>
            </a:pPr>
            <a:r>
              <a:rPr lang="en-US" dirty="0"/>
              <a:t>DR SUHAILA SAMSURI</a:t>
            </a:r>
            <a:endParaRPr lang="en-US" sz="2000" dirty="0"/>
          </a:p>
        </p:txBody>
      </p:sp>
      <p:sp>
        <p:nvSpPr>
          <p:cNvPr id="4" name="Title square"/>
          <p:cNvSpPr/>
          <p:nvPr/>
        </p:nvSpPr>
        <p:spPr>
          <a:xfrm>
            <a:off x="8138160" y="914400"/>
            <a:ext cx="3291840" cy="3291840"/>
          </a:xfrm>
          <a:prstGeom prst="rect">
            <a:avLst/>
          </a:prstGeom>
          <a:solidFill>
            <a:schemeClr val="accent3"/>
          </a:solidFill>
          <a:ln/>
        </p:spPr>
        <p:txBody>
          <a:bodyPr/>
          <a:lstStyle/>
          <a:p>
            <a:endParaRPr lang="en-US"/>
          </a:p>
        </p:txBody>
      </p:sp>
      <p:sp>
        <p:nvSpPr>
          <p:cNvPr id="5" name="Title circle"/>
          <p:cNvSpPr/>
          <p:nvPr/>
        </p:nvSpPr>
        <p:spPr>
          <a:xfrm>
            <a:off x="7223760" y="2651760"/>
            <a:ext cx="3108960" cy="3108960"/>
          </a:xfrm>
          <a:prstGeom prst="ellipse">
            <a:avLst/>
          </a:prstGeom>
          <a:solidFill>
            <a:schemeClr val="accent1"/>
          </a:solidFill>
          <a:ln/>
        </p:spPr>
        <p:txBody>
          <a:bodyPr/>
          <a:lstStyle/>
          <a:p>
            <a:endParaRPr lang="en-US"/>
          </a:p>
        </p:txBody>
      </p:sp>
      <p:sp>
        <p:nvSpPr>
          <p:cNvPr id="6" name="Title triangle"/>
          <p:cNvSpPr/>
          <p:nvPr/>
        </p:nvSpPr>
        <p:spPr>
          <a:xfrm>
            <a:off x="9326880" y="3566160"/>
            <a:ext cx="2468880" cy="2377440"/>
          </a:xfrm>
          <a:prstGeom prst="triangle">
            <a:avLst/>
          </a:prstGeom>
          <a:solidFill>
            <a:schemeClr val="accent2"/>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Session outline</a:t>
            </a:r>
            <a:endParaRPr lang="en-US" sz="3600" dirty="0"/>
          </a:p>
        </p:txBody>
      </p:sp>
      <p:sp>
        <p:nvSpPr>
          <p:cNvPr id="3" name="Outline row 1"/>
          <p:cNvSpPr/>
          <p:nvPr/>
        </p:nvSpPr>
        <p:spPr>
          <a:xfrm>
            <a:off x="548640" y="1508760"/>
            <a:ext cx="11094415" cy="822960"/>
          </a:xfrm>
          <a:prstGeom prst="rect">
            <a:avLst/>
          </a:prstGeom>
          <a:solidFill>
            <a:schemeClr val="bg2"/>
          </a:solidFill>
          <a:ln/>
        </p:spPr>
        <p:txBody>
          <a:bodyPr/>
          <a:lstStyle/>
          <a:p>
            <a:endParaRPr lang="en-US"/>
          </a:p>
        </p:txBody>
      </p:sp>
      <p:sp>
        <p:nvSpPr>
          <p:cNvPr id="4" name="Number 1"/>
          <p:cNvSpPr/>
          <p:nvPr/>
        </p:nvSpPr>
        <p:spPr>
          <a:xfrm>
            <a:off x="777240" y="1645920"/>
            <a:ext cx="548640" cy="54864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5" name="Text 3"/>
          <p:cNvSpPr txBox="1"/>
          <p:nvPr/>
        </p:nvSpPr>
        <p:spPr>
          <a:xfrm>
            <a:off x="1554480" y="1508760"/>
            <a:ext cx="3383280" cy="822960"/>
          </a:xfrm>
          <a:prstGeom prst="rect">
            <a:avLst/>
          </a:prstGeom>
          <a:noFill/>
          <a:ln/>
        </p:spPr>
        <p:txBody>
          <a:bodyPr wrap="square" lIns="0" tIns="0" rIns="0" bIns="0" rtlCol="0" anchor="ctr"/>
          <a:lstStyle/>
          <a:p>
            <a:pPr marL="0" indent="0">
              <a:buNone/>
            </a:pPr>
            <a:r>
              <a:rPr lang="en-US" sz="2200" b="1" dirty="0">
                <a:solidFill>
                  <a:schemeClr val="tx1"/>
                </a:solidFill>
              </a:rPr>
              <a:t>Definition</a:t>
            </a:r>
            <a:endParaRPr lang="en-US" sz="2200" dirty="0"/>
          </a:p>
        </p:txBody>
      </p:sp>
      <p:sp>
        <p:nvSpPr>
          <p:cNvPr id="6" name="Text 4"/>
          <p:cNvSpPr txBox="1"/>
          <p:nvPr/>
        </p:nvSpPr>
        <p:spPr>
          <a:xfrm>
            <a:off x="4937760" y="1508760"/>
            <a:ext cx="6492240" cy="822960"/>
          </a:xfrm>
          <a:prstGeom prst="rect">
            <a:avLst/>
          </a:prstGeom>
          <a:noFill/>
          <a:ln/>
        </p:spPr>
        <p:txBody>
          <a:bodyPr wrap="square" lIns="0" tIns="0" rIns="0" bIns="0" rtlCol="0" anchor="ctr"/>
          <a:lstStyle/>
          <a:p>
            <a:pPr marL="0" indent="0">
              <a:buNone/>
            </a:pPr>
            <a:r>
              <a:rPr lang="en-US" sz="1800" dirty="0">
                <a:solidFill>
                  <a:schemeClr val="accent4"/>
                </a:solidFill>
              </a:rPr>
              <a:t>What graphic design is, and what it is not</a:t>
            </a:r>
            <a:endParaRPr lang="en-US" sz="1800" dirty="0"/>
          </a:p>
        </p:txBody>
      </p:sp>
      <p:sp>
        <p:nvSpPr>
          <p:cNvPr id="7" name="Outline row 2"/>
          <p:cNvSpPr/>
          <p:nvPr/>
        </p:nvSpPr>
        <p:spPr>
          <a:xfrm>
            <a:off x="548640" y="2441448"/>
            <a:ext cx="11094415" cy="822960"/>
          </a:xfrm>
          <a:prstGeom prst="rect">
            <a:avLst/>
          </a:prstGeom>
          <a:solidFill>
            <a:schemeClr val="bg2"/>
          </a:solidFill>
          <a:ln/>
        </p:spPr>
        <p:txBody>
          <a:bodyPr/>
          <a:lstStyle/>
          <a:p>
            <a:endParaRPr lang="en-US"/>
          </a:p>
        </p:txBody>
      </p:sp>
      <p:sp>
        <p:nvSpPr>
          <p:cNvPr id="8" name="Number 2"/>
          <p:cNvSpPr/>
          <p:nvPr/>
        </p:nvSpPr>
        <p:spPr>
          <a:xfrm>
            <a:off x="777240" y="2578608"/>
            <a:ext cx="548640" cy="548640"/>
          </a:xfrm>
          <a:prstGeom prst="ellipse">
            <a:avLst/>
          </a:prstGeom>
          <a:solidFill>
            <a:schemeClr val="accent2"/>
          </a:solid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9" name="Text 7"/>
          <p:cNvSpPr txBox="1"/>
          <p:nvPr/>
        </p:nvSpPr>
        <p:spPr>
          <a:xfrm>
            <a:off x="1554480" y="2441448"/>
            <a:ext cx="3383280" cy="822960"/>
          </a:xfrm>
          <a:prstGeom prst="rect">
            <a:avLst/>
          </a:prstGeom>
          <a:noFill/>
          <a:ln/>
        </p:spPr>
        <p:txBody>
          <a:bodyPr wrap="square" lIns="0" tIns="0" rIns="0" bIns="0" rtlCol="0" anchor="ctr"/>
          <a:lstStyle/>
          <a:p>
            <a:pPr marL="0" indent="0">
              <a:buNone/>
            </a:pPr>
            <a:r>
              <a:rPr lang="en-US" sz="2200" b="1" dirty="0">
                <a:solidFill>
                  <a:schemeClr val="tx1"/>
                </a:solidFill>
              </a:rPr>
              <a:t>History</a:t>
            </a:r>
            <a:endParaRPr lang="en-US" sz="2200" dirty="0"/>
          </a:p>
        </p:txBody>
      </p:sp>
      <p:sp>
        <p:nvSpPr>
          <p:cNvPr id="10" name="Text 8"/>
          <p:cNvSpPr txBox="1"/>
          <p:nvPr/>
        </p:nvSpPr>
        <p:spPr>
          <a:xfrm>
            <a:off x="4937760" y="2441448"/>
            <a:ext cx="6492240" cy="822960"/>
          </a:xfrm>
          <a:prstGeom prst="rect">
            <a:avLst/>
          </a:prstGeom>
          <a:noFill/>
          <a:ln/>
        </p:spPr>
        <p:txBody>
          <a:bodyPr wrap="square" lIns="0" tIns="0" rIns="0" bIns="0" rtlCol="0" anchor="ctr"/>
          <a:lstStyle/>
          <a:p>
            <a:pPr marL="0" indent="0">
              <a:buNone/>
            </a:pPr>
            <a:r>
              <a:rPr lang="en-US" sz="1800" dirty="0">
                <a:solidFill>
                  <a:schemeClr val="accent4"/>
                </a:solidFill>
              </a:rPr>
              <a:t>From early marks and print to the digital age</a:t>
            </a:r>
            <a:endParaRPr lang="en-US" sz="1800" dirty="0"/>
          </a:p>
        </p:txBody>
      </p:sp>
      <p:sp>
        <p:nvSpPr>
          <p:cNvPr id="11" name="Outline row 3"/>
          <p:cNvSpPr/>
          <p:nvPr/>
        </p:nvSpPr>
        <p:spPr>
          <a:xfrm>
            <a:off x="548640" y="3374136"/>
            <a:ext cx="11094415" cy="822960"/>
          </a:xfrm>
          <a:prstGeom prst="rect">
            <a:avLst/>
          </a:prstGeom>
          <a:solidFill>
            <a:schemeClr val="bg2"/>
          </a:solidFill>
          <a:ln/>
        </p:spPr>
        <p:txBody>
          <a:bodyPr/>
          <a:lstStyle/>
          <a:p>
            <a:endParaRPr lang="en-US"/>
          </a:p>
        </p:txBody>
      </p:sp>
      <p:sp>
        <p:nvSpPr>
          <p:cNvPr id="12" name="Number 3"/>
          <p:cNvSpPr/>
          <p:nvPr/>
        </p:nvSpPr>
        <p:spPr>
          <a:xfrm>
            <a:off x="777240" y="3511296"/>
            <a:ext cx="548640" cy="548640"/>
          </a:xfrm>
          <a:prstGeom prst="ellipse">
            <a:avLst/>
          </a:prstGeom>
          <a:solidFill>
            <a:schemeClr val="accent3"/>
          </a:solidFill>
          <a:ln/>
        </p:spPr>
        <p:txBody>
          <a:bodyPr wrap="square" lIns="0" tIns="0" rIns="0" bIns="0" rtlCol="0" anchor="ctr"/>
          <a:lstStyle/>
          <a:p>
            <a:pPr marL="0" indent="0" algn="ctr">
              <a:buNone/>
            </a:pPr>
            <a:r>
              <a:rPr lang="en-US" sz="2200" b="1" dirty="0">
                <a:solidFill>
                  <a:schemeClr val="tx1"/>
                </a:solidFill>
              </a:rPr>
              <a:t>3</a:t>
            </a:r>
            <a:endParaRPr lang="en-US" sz="2200" dirty="0"/>
          </a:p>
        </p:txBody>
      </p:sp>
      <p:sp>
        <p:nvSpPr>
          <p:cNvPr id="13" name="Text 11"/>
          <p:cNvSpPr txBox="1"/>
          <p:nvPr/>
        </p:nvSpPr>
        <p:spPr>
          <a:xfrm>
            <a:off x="1554480" y="3374136"/>
            <a:ext cx="3383280" cy="822960"/>
          </a:xfrm>
          <a:prstGeom prst="rect">
            <a:avLst/>
          </a:prstGeom>
          <a:noFill/>
          <a:ln/>
        </p:spPr>
        <p:txBody>
          <a:bodyPr wrap="square" lIns="0" tIns="0" rIns="0" bIns="0" rtlCol="0" anchor="ctr"/>
          <a:lstStyle/>
          <a:p>
            <a:pPr marL="0" indent="0">
              <a:buNone/>
            </a:pPr>
            <a:r>
              <a:rPr lang="en-US" sz="2200" b="1" dirty="0">
                <a:solidFill>
                  <a:schemeClr val="tx1"/>
                </a:solidFill>
              </a:rPr>
              <a:t>Roles</a:t>
            </a:r>
            <a:endParaRPr lang="en-US" sz="2200" dirty="0"/>
          </a:p>
        </p:txBody>
      </p:sp>
      <p:sp>
        <p:nvSpPr>
          <p:cNvPr id="14" name="Text 12"/>
          <p:cNvSpPr txBox="1"/>
          <p:nvPr/>
        </p:nvSpPr>
        <p:spPr>
          <a:xfrm>
            <a:off x="4937760" y="3374136"/>
            <a:ext cx="6492240" cy="822960"/>
          </a:xfrm>
          <a:prstGeom prst="rect">
            <a:avLst/>
          </a:prstGeom>
          <a:noFill/>
          <a:ln/>
        </p:spPr>
        <p:txBody>
          <a:bodyPr wrap="square" lIns="0" tIns="0" rIns="0" bIns="0" rtlCol="0" anchor="ctr"/>
          <a:lstStyle/>
          <a:p>
            <a:pPr marL="0" indent="0">
              <a:buNone/>
            </a:pPr>
            <a:r>
              <a:rPr lang="en-US" sz="1800" dirty="0">
                <a:solidFill>
                  <a:schemeClr val="accent4"/>
                </a:solidFill>
              </a:rPr>
              <a:t>What designers do, and where they specialise</a:t>
            </a:r>
            <a:endParaRPr lang="en-US" sz="1800" dirty="0"/>
          </a:p>
        </p:txBody>
      </p:sp>
      <p:sp>
        <p:nvSpPr>
          <p:cNvPr id="15" name="Outline row 4"/>
          <p:cNvSpPr/>
          <p:nvPr/>
        </p:nvSpPr>
        <p:spPr>
          <a:xfrm>
            <a:off x="548640" y="4306824"/>
            <a:ext cx="11094415" cy="822960"/>
          </a:xfrm>
          <a:prstGeom prst="rect">
            <a:avLst/>
          </a:prstGeom>
          <a:solidFill>
            <a:schemeClr val="bg2"/>
          </a:solidFill>
          <a:ln/>
        </p:spPr>
        <p:txBody>
          <a:bodyPr/>
          <a:lstStyle/>
          <a:p>
            <a:endParaRPr lang="en-US"/>
          </a:p>
        </p:txBody>
      </p:sp>
      <p:sp>
        <p:nvSpPr>
          <p:cNvPr id="16" name="Number 4"/>
          <p:cNvSpPr/>
          <p:nvPr/>
        </p:nvSpPr>
        <p:spPr>
          <a:xfrm>
            <a:off x="777240" y="4443984"/>
            <a:ext cx="548640" cy="54864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17" name="Text 15"/>
          <p:cNvSpPr txBox="1"/>
          <p:nvPr/>
        </p:nvSpPr>
        <p:spPr>
          <a:xfrm>
            <a:off x="1554480" y="4306824"/>
            <a:ext cx="3383280" cy="822960"/>
          </a:xfrm>
          <a:prstGeom prst="rect">
            <a:avLst/>
          </a:prstGeom>
          <a:noFill/>
          <a:ln/>
        </p:spPr>
        <p:txBody>
          <a:bodyPr wrap="square" lIns="0" tIns="0" rIns="0" bIns="0" rtlCol="0" anchor="ctr"/>
          <a:lstStyle/>
          <a:p>
            <a:pPr marL="0" indent="0">
              <a:buNone/>
            </a:pPr>
            <a:r>
              <a:rPr lang="en-US" sz="2200" b="1" dirty="0">
                <a:solidFill>
                  <a:schemeClr val="tx1"/>
                </a:solidFill>
              </a:rPr>
              <a:t>Visual communication</a:t>
            </a:r>
            <a:endParaRPr lang="en-US" sz="2200" dirty="0"/>
          </a:p>
        </p:txBody>
      </p:sp>
      <p:sp>
        <p:nvSpPr>
          <p:cNvPr id="18" name="Text 16"/>
          <p:cNvSpPr txBox="1"/>
          <p:nvPr/>
        </p:nvSpPr>
        <p:spPr>
          <a:xfrm>
            <a:off x="4937760" y="4306824"/>
            <a:ext cx="6492240" cy="822960"/>
          </a:xfrm>
          <a:prstGeom prst="rect">
            <a:avLst/>
          </a:prstGeom>
          <a:noFill/>
          <a:ln/>
        </p:spPr>
        <p:txBody>
          <a:bodyPr wrap="square" lIns="0" tIns="0" rIns="0" bIns="0" rtlCol="0" anchor="ctr"/>
          <a:lstStyle/>
          <a:p>
            <a:pPr marL="0" indent="0">
              <a:buNone/>
            </a:pPr>
            <a:r>
              <a:rPr lang="en-US" sz="1800" dirty="0">
                <a:solidFill>
                  <a:schemeClr val="accent4"/>
                </a:solidFill>
              </a:rPr>
              <a:t>How images, type and color carry meaning</a:t>
            </a:r>
            <a:endParaRPr lang="en-US" sz="1800" dirty="0"/>
          </a:p>
        </p:txBody>
      </p:sp>
      <p:sp>
        <p:nvSpPr>
          <p:cNvPr id="19" name="Outline row 5"/>
          <p:cNvSpPr/>
          <p:nvPr/>
        </p:nvSpPr>
        <p:spPr>
          <a:xfrm>
            <a:off x="548640" y="5239512"/>
            <a:ext cx="11094415" cy="822960"/>
          </a:xfrm>
          <a:prstGeom prst="rect">
            <a:avLst/>
          </a:prstGeom>
          <a:solidFill>
            <a:schemeClr val="bg2"/>
          </a:solidFill>
          <a:ln/>
        </p:spPr>
        <p:txBody>
          <a:bodyPr/>
          <a:lstStyle/>
          <a:p>
            <a:endParaRPr lang="en-US"/>
          </a:p>
        </p:txBody>
      </p:sp>
      <p:sp>
        <p:nvSpPr>
          <p:cNvPr id="20" name="Number 5"/>
          <p:cNvSpPr/>
          <p:nvPr/>
        </p:nvSpPr>
        <p:spPr>
          <a:xfrm>
            <a:off x="777240" y="5376672"/>
            <a:ext cx="548640" cy="548640"/>
          </a:xfrm>
          <a:prstGeom prst="ellipse">
            <a:avLst/>
          </a:prstGeom>
          <a:solidFill>
            <a:schemeClr val="accent2"/>
          </a:solidFill>
          <a:ln/>
        </p:spPr>
        <p:txBody>
          <a:bodyPr wrap="square" lIns="0" tIns="0" rIns="0" bIns="0" rtlCol="0" anchor="ctr"/>
          <a:lstStyle/>
          <a:p>
            <a:pPr marL="0" indent="0" algn="ctr">
              <a:buNone/>
            </a:pPr>
            <a:r>
              <a:rPr lang="en-US" sz="2200" b="1" dirty="0">
                <a:solidFill>
                  <a:schemeClr val="bg1"/>
                </a:solidFill>
              </a:rPr>
              <a:t>5</a:t>
            </a:r>
            <a:endParaRPr lang="en-US" sz="2200" dirty="0"/>
          </a:p>
        </p:txBody>
      </p:sp>
      <p:sp>
        <p:nvSpPr>
          <p:cNvPr id="21" name="Text 19"/>
          <p:cNvSpPr txBox="1"/>
          <p:nvPr/>
        </p:nvSpPr>
        <p:spPr>
          <a:xfrm>
            <a:off x="1554480" y="5239512"/>
            <a:ext cx="3383280" cy="822960"/>
          </a:xfrm>
          <a:prstGeom prst="rect">
            <a:avLst/>
          </a:prstGeom>
          <a:noFill/>
          <a:ln/>
        </p:spPr>
        <p:txBody>
          <a:bodyPr wrap="square" lIns="0" tIns="0" rIns="0" bIns="0" rtlCol="0" anchor="ctr"/>
          <a:lstStyle/>
          <a:p>
            <a:pPr marL="0" indent="0">
              <a:buNone/>
            </a:pPr>
            <a:r>
              <a:rPr lang="en-US" sz="2200" b="1" dirty="0">
                <a:solidFill>
                  <a:schemeClr val="tx1"/>
                </a:solidFill>
              </a:rPr>
              <a:t>Design contexts</a:t>
            </a:r>
            <a:endParaRPr lang="en-US" sz="2200" dirty="0"/>
          </a:p>
        </p:txBody>
      </p:sp>
      <p:sp>
        <p:nvSpPr>
          <p:cNvPr id="22" name="Text 20"/>
          <p:cNvSpPr txBox="1"/>
          <p:nvPr/>
        </p:nvSpPr>
        <p:spPr>
          <a:xfrm>
            <a:off x="4937760" y="5239512"/>
            <a:ext cx="6492240" cy="822960"/>
          </a:xfrm>
          <a:prstGeom prst="rect">
            <a:avLst/>
          </a:prstGeom>
          <a:noFill/>
          <a:ln/>
        </p:spPr>
        <p:txBody>
          <a:bodyPr wrap="square" lIns="0" tIns="0" rIns="0" bIns="0" rtlCol="0" anchor="ctr"/>
          <a:lstStyle/>
          <a:p>
            <a:pPr marL="0" indent="0">
              <a:buNone/>
            </a:pPr>
            <a:r>
              <a:rPr lang="en-US" sz="1800" dirty="0">
                <a:solidFill>
                  <a:schemeClr val="accent4"/>
                </a:solidFill>
              </a:rPr>
              <a:t>How medium, audience and culture shape design</a:t>
            </a:r>
            <a:endParaRPr lang="en-US" sz="1800" dirty="0"/>
          </a:p>
        </p:txBody>
      </p:sp>
      <p:sp>
        <p:nvSpPr>
          <p:cNvPr id="25"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What is graphic design?</a:t>
            </a:r>
            <a:endParaRPr lang="en-US" sz="3600" dirty="0"/>
          </a:p>
        </p:txBody>
      </p:sp>
      <p:sp>
        <p:nvSpPr>
          <p:cNvPr id="3" name="Text 1"/>
          <p:cNvSpPr txBox="1"/>
          <p:nvPr/>
        </p:nvSpPr>
        <p:spPr>
          <a:xfrm>
            <a:off x="548640" y="1600200"/>
            <a:ext cx="5486400" cy="2194560"/>
          </a:xfrm>
          <a:prstGeom prst="rect">
            <a:avLst/>
          </a:prstGeom>
          <a:noFill/>
          <a:ln/>
        </p:spPr>
        <p:txBody>
          <a:bodyPr wrap="square" lIns="0" tIns="0" rIns="0" bIns="0" rtlCol="0" anchor="t"/>
          <a:lstStyle/>
          <a:p>
            <a:pPr marL="0" indent="0">
              <a:buNone/>
            </a:pPr>
            <a:r>
              <a:rPr lang="en-US" sz="3000" b="1" dirty="0">
                <a:solidFill>
                  <a:schemeClr val="tx1"/>
                </a:solidFill>
              </a:rPr>
              <a:t>Graphic design is the practice of creating visual solutions to communication problems.</a:t>
            </a:r>
            <a:endParaRPr lang="en-US" sz="3000" dirty="0"/>
          </a:p>
        </p:txBody>
      </p:sp>
      <p:sp>
        <p:nvSpPr>
          <p:cNvPr id="4" name="Text 2"/>
          <p:cNvSpPr txBox="1"/>
          <p:nvPr/>
        </p:nvSpPr>
        <p:spPr>
          <a:xfrm>
            <a:off x="548640" y="3383280"/>
            <a:ext cx="5303520" cy="1463040"/>
          </a:xfrm>
          <a:prstGeom prst="rect">
            <a:avLst/>
          </a:prstGeom>
          <a:noFill/>
          <a:ln/>
        </p:spPr>
        <p:txBody>
          <a:bodyPr wrap="square" lIns="0" tIns="0" rIns="0" bIns="0" rtlCol="0" anchor="t"/>
          <a:lstStyle/>
          <a:p>
            <a:pPr marL="0" indent="0">
              <a:buNone/>
            </a:pPr>
            <a:r>
              <a:rPr lang="en-US" sz="2200" dirty="0">
                <a:solidFill>
                  <a:schemeClr val="accent4"/>
                </a:solidFill>
              </a:rPr>
              <a:t>It combines type, image, color and layout to shape how people understand and respond to a message.</a:t>
            </a:r>
            <a:endParaRPr lang="en-US" sz="2200" dirty="0"/>
          </a:p>
        </p:txBody>
      </p:sp>
      <p:sp>
        <p:nvSpPr>
          <p:cNvPr id="5" name="Definition panel"/>
          <p:cNvSpPr/>
          <p:nvPr/>
        </p:nvSpPr>
        <p:spPr>
          <a:xfrm>
            <a:off x="6583680" y="1508760"/>
            <a:ext cx="5059375" cy="4434840"/>
          </a:xfrm>
          <a:prstGeom prst="rect">
            <a:avLst/>
          </a:prstGeom>
          <a:solidFill>
            <a:schemeClr val="bg2"/>
          </a:solidFill>
          <a:ln/>
        </p:spPr>
        <p:txBody>
          <a:bodyPr/>
          <a:lstStyle/>
          <a:p>
            <a:endParaRPr lang="en-US"/>
          </a:p>
        </p:txBody>
      </p:sp>
      <p:sp>
        <p:nvSpPr>
          <p:cNvPr id="6" name="Icon circle Message"/>
          <p:cNvSpPr/>
          <p:nvPr/>
        </p:nvSpPr>
        <p:spPr>
          <a:xfrm>
            <a:off x="6949440" y="1783080"/>
            <a:ext cx="914400" cy="914400"/>
          </a:xfrm>
          <a:prstGeom prst="ellipse">
            <a:avLst/>
          </a:prstGeom>
          <a:solidFill>
            <a:schemeClr val="accent1"/>
          </a:solidFill>
          <a:ln/>
        </p:spPr>
        <p:txBody>
          <a:bodyPr/>
          <a:lstStyle/>
          <a:p>
            <a:endParaRPr lang="en-US"/>
          </a:p>
        </p:txBody>
      </p:sp>
      <p:pic>
        <p:nvPicPr>
          <p:cNvPr id="7" name="Icon Message" descr="Message icon"/>
          <p:cNvPicPr>
            <a:picLocks noChangeAspect="1"/>
          </p:cNvPicPr>
          <p:nvPr/>
        </p:nvPicPr>
        <p:blipFill>
          <a:blip r:embed="rId3"/>
          <a:stretch>
            <a:fillRect/>
          </a:stretch>
        </p:blipFill>
        <p:spPr>
          <a:xfrm>
            <a:off x="7187184" y="2020824"/>
            <a:ext cx="438912" cy="438912"/>
          </a:xfrm>
          <a:prstGeom prst="rect">
            <a:avLst/>
          </a:prstGeom>
        </p:spPr>
      </p:pic>
      <p:sp>
        <p:nvSpPr>
          <p:cNvPr id="8" name="Text 5"/>
          <p:cNvSpPr txBox="1"/>
          <p:nvPr/>
        </p:nvSpPr>
        <p:spPr>
          <a:xfrm>
            <a:off x="8138160" y="1828800"/>
            <a:ext cx="3200400" cy="411480"/>
          </a:xfrm>
          <a:prstGeom prst="rect">
            <a:avLst/>
          </a:prstGeom>
          <a:noFill/>
          <a:ln/>
        </p:spPr>
        <p:txBody>
          <a:bodyPr wrap="square" lIns="0" tIns="0" rIns="0" bIns="0" rtlCol="0" anchor="t"/>
          <a:lstStyle/>
          <a:p>
            <a:pPr marL="0" indent="0">
              <a:buNone/>
            </a:pPr>
            <a:r>
              <a:rPr lang="en-US" sz="2400" b="1" dirty="0">
                <a:solidFill>
                  <a:schemeClr val="tx1"/>
                </a:solidFill>
              </a:rPr>
              <a:t>Message</a:t>
            </a:r>
            <a:endParaRPr lang="en-US" sz="2400" dirty="0"/>
          </a:p>
        </p:txBody>
      </p:sp>
      <p:sp>
        <p:nvSpPr>
          <p:cNvPr id="9" name="Text 6"/>
          <p:cNvSpPr txBox="1"/>
          <p:nvPr/>
        </p:nvSpPr>
        <p:spPr>
          <a:xfrm>
            <a:off x="8138160" y="2258568"/>
            <a:ext cx="3200400" cy="411480"/>
          </a:xfrm>
          <a:prstGeom prst="rect">
            <a:avLst/>
          </a:prstGeom>
          <a:noFill/>
          <a:ln/>
        </p:spPr>
        <p:txBody>
          <a:bodyPr wrap="square" lIns="0" tIns="0" rIns="0" bIns="0" rtlCol="0" anchor="t"/>
          <a:lstStyle/>
          <a:p>
            <a:pPr marL="0" indent="0">
              <a:buNone/>
            </a:pPr>
            <a:r>
              <a:rPr lang="en-US" sz="1800" dirty="0">
                <a:solidFill>
                  <a:schemeClr val="accent4"/>
                </a:solidFill>
              </a:rPr>
              <a:t>What needs to be said</a:t>
            </a:r>
            <a:endParaRPr lang="en-US" sz="1800" dirty="0"/>
          </a:p>
        </p:txBody>
      </p:sp>
      <p:sp>
        <p:nvSpPr>
          <p:cNvPr id="10" name="Icon circle Audience"/>
          <p:cNvSpPr/>
          <p:nvPr/>
        </p:nvSpPr>
        <p:spPr>
          <a:xfrm>
            <a:off x="6949440" y="3154680"/>
            <a:ext cx="914400" cy="914400"/>
          </a:xfrm>
          <a:prstGeom prst="ellipse">
            <a:avLst/>
          </a:prstGeom>
          <a:solidFill>
            <a:schemeClr val="accent2"/>
          </a:solidFill>
          <a:ln/>
        </p:spPr>
        <p:txBody>
          <a:bodyPr/>
          <a:lstStyle/>
          <a:p>
            <a:endParaRPr lang="en-US"/>
          </a:p>
        </p:txBody>
      </p:sp>
      <p:pic>
        <p:nvPicPr>
          <p:cNvPr id="11" name="Icon Audience" descr="Audience icon"/>
          <p:cNvPicPr>
            <a:picLocks noChangeAspect="1"/>
          </p:cNvPicPr>
          <p:nvPr/>
        </p:nvPicPr>
        <p:blipFill>
          <a:blip r:embed="rId4"/>
          <a:stretch>
            <a:fillRect/>
          </a:stretch>
        </p:blipFill>
        <p:spPr>
          <a:xfrm>
            <a:off x="7187184" y="3392424"/>
            <a:ext cx="438912" cy="438912"/>
          </a:xfrm>
          <a:prstGeom prst="rect">
            <a:avLst/>
          </a:prstGeom>
        </p:spPr>
      </p:pic>
      <p:sp>
        <p:nvSpPr>
          <p:cNvPr id="12" name="Text 8"/>
          <p:cNvSpPr txBox="1"/>
          <p:nvPr/>
        </p:nvSpPr>
        <p:spPr>
          <a:xfrm>
            <a:off x="8138160" y="3200400"/>
            <a:ext cx="3200400" cy="411480"/>
          </a:xfrm>
          <a:prstGeom prst="rect">
            <a:avLst/>
          </a:prstGeom>
          <a:noFill/>
          <a:ln/>
        </p:spPr>
        <p:txBody>
          <a:bodyPr wrap="square" lIns="0" tIns="0" rIns="0" bIns="0" rtlCol="0" anchor="t"/>
          <a:lstStyle/>
          <a:p>
            <a:pPr marL="0" indent="0">
              <a:buNone/>
            </a:pPr>
            <a:r>
              <a:rPr lang="en-US" sz="2400" b="1" dirty="0">
                <a:solidFill>
                  <a:schemeClr val="tx1"/>
                </a:solidFill>
              </a:rPr>
              <a:t>Audience</a:t>
            </a:r>
            <a:endParaRPr lang="en-US" sz="2400" dirty="0"/>
          </a:p>
        </p:txBody>
      </p:sp>
      <p:sp>
        <p:nvSpPr>
          <p:cNvPr id="13" name="Text 9"/>
          <p:cNvSpPr txBox="1"/>
          <p:nvPr/>
        </p:nvSpPr>
        <p:spPr>
          <a:xfrm>
            <a:off x="8138160" y="3630168"/>
            <a:ext cx="3200400" cy="411480"/>
          </a:xfrm>
          <a:prstGeom prst="rect">
            <a:avLst/>
          </a:prstGeom>
          <a:noFill/>
          <a:ln/>
        </p:spPr>
        <p:txBody>
          <a:bodyPr wrap="square" lIns="0" tIns="0" rIns="0" bIns="0" rtlCol="0" anchor="t"/>
          <a:lstStyle/>
          <a:p>
            <a:pPr marL="0" indent="0">
              <a:buNone/>
            </a:pPr>
            <a:r>
              <a:rPr lang="en-US" sz="1800" dirty="0">
                <a:solidFill>
                  <a:schemeClr val="accent4"/>
                </a:solidFill>
              </a:rPr>
              <a:t>Who needs to understand it</a:t>
            </a:r>
            <a:endParaRPr lang="en-US" sz="1800" dirty="0"/>
          </a:p>
        </p:txBody>
      </p:sp>
      <p:sp>
        <p:nvSpPr>
          <p:cNvPr id="14" name="Icon circle Medium"/>
          <p:cNvSpPr/>
          <p:nvPr/>
        </p:nvSpPr>
        <p:spPr>
          <a:xfrm>
            <a:off x="6949440" y="4526280"/>
            <a:ext cx="914400" cy="914400"/>
          </a:xfrm>
          <a:prstGeom prst="ellipse">
            <a:avLst/>
          </a:prstGeom>
          <a:solidFill>
            <a:schemeClr val="accent3"/>
          </a:solidFill>
          <a:ln/>
        </p:spPr>
        <p:txBody>
          <a:bodyPr/>
          <a:lstStyle/>
          <a:p>
            <a:endParaRPr lang="en-US"/>
          </a:p>
        </p:txBody>
      </p:sp>
      <p:pic>
        <p:nvPicPr>
          <p:cNvPr id="15" name="Icon Medium" descr="Medium icon"/>
          <p:cNvPicPr>
            <a:picLocks noChangeAspect="1"/>
          </p:cNvPicPr>
          <p:nvPr/>
        </p:nvPicPr>
        <p:blipFill>
          <a:blip r:embed="rId5"/>
          <a:stretch>
            <a:fillRect/>
          </a:stretch>
        </p:blipFill>
        <p:spPr>
          <a:xfrm>
            <a:off x="7187184" y="4764024"/>
            <a:ext cx="438912" cy="438912"/>
          </a:xfrm>
          <a:prstGeom prst="rect">
            <a:avLst/>
          </a:prstGeom>
        </p:spPr>
      </p:pic>
      <p:sp>
        <p:nvSpPr>
          <p:cNvPr id="16" name="Text 11"/>
          <p:cNvSpPr txBox="1"/>
          <p:nvPr/>
        </p:nvSpPr>
        <p:spPr>
          <a:xfrm>
            <a:off x="8138160" y="4572000"/>
            <a:ext cx="3200400" cy="411480"/>
          </a:xfrm>
          <a:prstGeom prst="rect">
            <a:avLst/>
          </a:prstGeom>
          <a:noFill/>
          <a:ln/>
        </p:spPr>
        <p:txBody>
          <a:bodyPr wrap="square" lIns="0" tIns="0" rIns="0" bIns="0" rtlCol="0" anchor="t"/>
          <a:lstStyle/>
          <a:p>
            <a:pPr marL="0" indent="0">
              <a:buNone/>
            </a:pPr>
            <a:r>
              <a:rPr lang="en-US" sz="2400" b="1" dirty="0">
                <a:solidFill>
                  <a:schemeClr val="tx1"/>
                </a:solidFill>
              </a:rPr>
              <a:t>Medium</a:t>
            </a:r>
            <a:endParaRPr lang="en-US" sz="2400" dirty="0"/>
          </a:p>
        </p:txBody>
      </p:sp>
      <p:sp>
        <p:nvSpPr>
          <p:cNvPr id="17" name="Text 12"/>
          <p:cNvSpPr txBox="1"/>
          <p:nvPr/>
        </p:nvSpPr>
        <p:spPr>
          <a:xfrm>
            <a:off x="8138160" y="5001768"/>
            <a:ext cx="3200400" cy="411480"/>
          </a:xfrm>
          <a:prstGeom prst="rect">
            <a:avLst/>
          </a:prstGeom>
          <a:noFill/>
          <a:ln/>
        </p:spPr>
        <p:txBody>
          <a:bodyPr wrap="square" lIns="0" tIns="0" rIns="0" bIns="0" rtlCol="0" anchor="t"/>
          <a:lstStyle/>
          <a:p>
            <a:pPr marL="0" indent="0">
              <a:buNone/>
            </a:pPr>
            <a:r>
              <a:rPr lang="en-US" sz="1800" dirty="0">
                <a:solidFill>
                  <a:schemeClr val="accent4"/>
                </a:solidFill>
              </a:rPr>
              <a:t>Where and how it appears</a:t>
            </a:r>
            <a:endParaRPr lang="en-US" sz="1800" dirty="0"/>
          </a:p>
        </p:txBody>
      </p:sp>
      <p:sp>
        <p:nvSpPr>
          <p:cNvPr id="25"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Graphic design vs fine art</a:t>
            </a:r>
            <a:endParaRPr lang="en-US" sz="3600" dirty="0"/>
          </a:p>
        </p:txBody>
      </p:sp>
      <p:graphicFrame>
        <p:nvGraphicFramePr>
          <p:cNvPr id="5" name="Comparison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3401568"/>
        </p:xfrm>
        <a:graphic>
          <a:graphicData uri="http://schemas.openxmlformats.org/drawingml/2006/table">
            <a:tbl>
              <a:tblPr/>
              <a:tblGrid>
                <a:gridCol w="237744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73575">
                  <a:extLst>
                    <a:ext uri="{9D8B030D-6E8A-4147-A177-3AD203B41FA5}">
                      <a16:colId xmlns:a16="http://schemas.microsoft.com/office/drawing/2014/main" val="20002"/>
                    </a:ext>
                  </a:extLst>
                </a:gridCol>
              </a:tblGrid>
              <a:tr h="548640">
                <a:tc>
                  <a:txBody>
                    <a:bodyPr/>
                    <a:lstStyle/>
                    <a:p>
                      <a:pPr marL="0" indent="0">
                        <a:buNone/>
                      </a:pPr>
                      <a:endParaRPr lang="en-US" sz="16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Fine art</a:t>
                      </a:r>
                      <a:endParaRPr lang="en-US" sz="16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accent1"/>
                    </a:solidFill>
                  </a:tcPr>
                </a:tc>
                <a:tc>
                  <a:txBody>
                    <a:bodyPr/>
                    <a:lstStyle/>
                    <a:p>
                      <a:pPr marL="0" indent="0">
                        <a:buNone/>
                      </a:pPr>
                      <a:r>
                        <a:rPr lang="en-US" sz="1600" b="1" dirty="0">
                          <a:solidFill>
                            <a:schemeClr val="bg1"/>
                          </a:solidFill>
                        </a:rPr>
                        <a:t>Graphic design</a:t>
                      </a:r>
                      <a:endParaRPr lang="en-US" sz="16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713232">
                <a:tc>
                  <a:txBody>
                    <a:bodyPr/>
                    <a:lstStyle/>
                    <a:p>
                      <a:pPr marL="0" indent="0">
                        <a:buNone/>
                      </a:pPr>
                      <a:r>
                        <a:rPr lang="en-US" sz="1500" b="1" dirty="0">
                          <a:solidFill>
                            <a:schemeClr val="tx1"/>
                          </a:solidFill>
                        </a:rPr>
                        <a:t>Purpose</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Self-expression and exploration</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Communication with a purpose</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713232">
                <a:tc>
                  <a:txBody>
                    <a:bodyPr/>
                    <a:lstStyle/>
                    <a:p>
                      <a:pPr marL="0" indent="0">
                        <a:buNone/>
                      </a:pPr>
                      <a:r>
                        <a:rPr lang="en-US" sz="1500" b="1" dirty="0">
                          <a:solidFill>
                            <a:schemeClr val="tx1"/>
                          </a:solidFill>
                        </a:rPr>
                        <a:t>Meaning</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Open to many interpretations</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A clear, intended message</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13232">
                <a:tc>
                  <a:txBody>
                    <a:bodyPr/>
                    <a:lstStyle/>
                    <a:p>
                      <a:pPr marL="0" indent="0">
                        <a:buNone/>
                      </a:pPr>
                      <a:r>
                        <a:rPr lang="en-US" sz="1500" b="1" dirty="0">
                          <a:solidFill>
                            <a:schemeClr val="tx1"/>
                          </a:solidFill>
                        </a:rPr>
                        <a:t>Who sets the goal</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The artist</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The brief, the client and the audience</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713232">
                <a:tc>
                  <a:txBody>
                    <a:bodyPr/>
                    <a:lstStyle/>
                    <a:p>
                      <a:pPr marL="0" indent="0">
                        <a:buNone/>
                      </a:pPr>
                      <a:r>
                        <a:rPr lang="en-US" sz="1500" b="1" dirty="0">
                          <a:solidFill>
                            <a:schemeClr val="tx1"/>
                          </a:solidFill>
                        </a:rPr>
                        <a:t>Judged by</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Response, critique and context</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Whether the message works</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4" name="Note panel"/>
          <p:cNvSpPr/>
          <p:nvPr/>
        </p:nvSpPr>
        <p:spPr>
          <a:xfrm>
            <a:off x="548640" y="5257800"/>
            <a:ext cx="11094415" cy="777240"/>
          </a:xfrm>
          <a:prstGeom prst="rect">
            <a:avLst/>
          </a:prstGeom>
          <a:solidFill>
            <a:schemeClr val="bg2"/>
          </a:solidFill>
          <a:ln/>
        </p:spPr>
        <p:txBody>
          <a:bodyPr/>
          <a:lstStyle/>
          <a:p>
            <a:endParaRPr lang="en-US"/>
          </a:p>
        </p:txBody>
      </p:sp>
      <p:sp>
        <p:nvSpPr>
          <p:cNvPr id="3" name="Note marker"/>
          <p:cNvSpPr/>
          <p:nvPr/>
        </p:nvSpPr>
        <p:spPr>
          <a:xfrm>
            <a:off x="777240" y="5440680"/>
            <a:ext cx="411480" cy="411480"/>
          </a:xfrm>
          <a:prstGeom prst="ellipse">
            <a:avLst/>
          </a:prstGeom>
          <a:solidFill>
            <a:schemeClr val="accent3"/>
          </a:solidFill>
          <a:ln/>
        </p:spPr>
        <p:txBody>
          <a:bodyPr/>
          <a:lstStyle/>
          <a:p>
            <a:endParaRPr lang="en-US"/>
          </a:p>
        </p:txBody>
      </p:sp>
      <p:sp>
        <p:nvSpPr>
          <p:cNvPr id="6" name="Text 3"/>
          <p:cNvSpPr txBox="1"/>
          <p:nvPr/>
        </p:nvSpPr>
        <p:spPr>
          <a:xfrm>
            <a:off x="1417320" y="5257800"/>
            <a:ext cx="9905695" cy="777240"/>
          </a:xfrm>
          <a:prstGeom prst="rect">
            <a:avLst/>
          </a:prstGeom>
          <a:noFill/>
          <a:ln/>
        </p:spPr>
        <p:txBody>
          <a:bodyPr wrap="square" lIns="0" tIns="0" rIns="0" bIns="0" rtlCol="0" anchor="ctr"/>
          <a:lstStyle/>
          <a:p>
            <a:pPr marL="0" indent="0">
              <a:buNone/>
            </a:pPr>
            <a:r>
              <a:rPr lang="en-US" sz="1700" dirty="0">
                <a:solidFill>
                  <a:schemeClr val="tx1"/>
                </a:solidFill>
              </a:rPr>
              <a:t>The boundary is blurred: designers can be expressive, and artists sometimes work to a brief.</a:t>
            </a:r>
            <a:endParaRPr lang="en-US" sz="1700" dirty="0"/>
          </a:p>
        </p:txBody>
      </p:sp>
      <p:sp>
        <p:nvSpPr>
          <p:cNvPr id="25"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What graphic designers work with</a:t>
            </a:r>
            <a:endParaRPr lang="en-US" sz="3600" dirty="0"/>
          </a:p>
        </p:txBody>
      </p:sp>
      <p:sp>
        <p:nvSpPr>
          <p:cNvPr id="3" name="Tile Typography"/>
          <p:cNvSpPr/>
          <p:nvPr/>
        </p:nvSpPr>
        <p:spPr>
          <a:xfrm>
            <a:off x="548640" y="1508760"/>
            <a:ext cx="2011680" cy="3931920"/>
          </a:xfrm>
          <a:prstGeom prst="rect">
            <a:avLst/>
          </a:prstGeom>
          <a:solidFill>
            <a:schemeClr val="bg2"/>
          </a:solidFill>
          <a:ln/>
        </p:spPr>
        <p:txBody>
          <a:bodyPr/>
          <a:lstStyle/>
          <a:p>
            <a:endParaRPr lang="en-US"/>
          </a:p>
        </p:txBody>
      </p:sp>
      <p:sp>
        <p:nvSpPr>
          <p:cNvPr id="4" name="Icon circle Typography"/>
          <p:cNvSpPr/>
          <p:nvPr/>
        </p:nvSpPr>
        <p:spPr>
          <a:xfrm>
            <a:off x="777240" y="1783080"/>
            <a:ext cx="822960" cy="822960"/>
          </a:xfrm>
          <a:prstGeom prst="ellipse">
            <a:avLst/>
          </a:prstGeom>
          <a:solidFill>
            <a:schemeClr val="accent1"/>
          </a:solidFill>
          <a:ln/>
        </p:spPr>
        <p:txBody>
          <a:bodyPr/>
          <a:lstStyle/>
          <a:p>
            <a:endParaRPr lang="en-US"/>
          </a:p>
        </p:txBody>
      </p:sp>
      <p:pic>
        <p:nvPicPr>
          <p:cNvPr id="5" name="Icon Typography" descr="Typography icon"/>
          <p:cNvPicPr>
            <a:picLocks noChangeAspect="1"/>
          </p:cNvPicPr>
          <p:nvPr/>
        </p:nvPicPr>
        <p:blipFill>
          <a:blip r:embed="rId3"/>
          <a:stretch>
            <a:fillRect/>
          </a:stretch>
        </p:blipFill>
        <p:spPr>
          <a:xfrm>
            <a:off x="991210" y="1997050"/>
            <a:ext cx="395021" cy="395021"/>
          </a:xfrm>
          <a:prstGeom prst="rect">
            <a:avLst/>
          </a:prstGeom>
        </p:spPr>
      </p:pic>
      <p:sp>
        <p:nvSpPr>
          <p:cNvPr id="6" name="Text 3"/>
          <p:cNvSpPr txBox="1"/>
          <p:nvPr/>
        </p:nvSpPr>
        <p:spPr>
          <a:xfrm>
            <a:off x="777240" y="2926080"/>
            <a:ext cx="1645920" cy="411480"/>
          </a:xfrm>
          <a:prstGeom prst="rect">
            <a:avLst/>
          </a:prstGeom>
          <a:noFill/>
          <a:ln/>
        </p:spPr>
        <p:txBody>
          <a:bodyPr wrap="square" lIns="0" tIns="0" rIns="0" bIns="0" rtlCol="0" anchor="t"/>
          <a:lstStyle/>
          <a:p>
            <a:pPr marL="0" indent="0">
              <a:buNone/>
            </a:pPr>
            <a:r>
              <a:rPr lang="en-US" sz="2200" b="1" dirty="0">
                <a:solidFill>
                  <a:schemeClr val="tx1"/>
                </a:solidFill>
              </a:rPr>
              <a:t>Typography</a:t>
            </a:r>
            <a:endParaRPr lang="en-US" sz="2200" dirty="0"/>
          </a:p>
        </p:txBody>
      </p:sp>
      <p:sp>
        <p:nvSpPr>
          <p:cNvPr id="7" name="Text 4"/>
          <p:cNvSpPr txBox="1"/>
          <p:nvPr/>
        </p:nvSpPr>
        <p:spPr>
          <a:xfrm>
            <a:off x="777240" y="3520440"/>
            <a:ext cx="1600200" cy="1828800"/>
          </a:xfrm>
          <a:prstGeom prst="rect">
            <a:avLst/>
          </a:prstGeom>
          <a:noFill/>
          <a:ln/>
        </p:spPr>
        <p:txBody>
          <a:bodyPr wrap="square" lIns="0" tIns="0" rIns="0" bIns="0" rtlCol="0" anchor="t"/>
          <a:lstStyle/>
          <a:p>
            <a:pPr marL="0" indent="0">
              <a:buNone/>
            </a:pPr>
            <a:r>
              <a:rPr lang="en-US" sz="1700" dirty="0">
                <a:solidFill>
                  <a:schemeClr val="accent4"/>
                </a:solidFill>
              </a:rPr>
              <a:t>Letterforms that give words a voice and structure.</a:t>
            </a:r>
            <a:endParaRPr lang="en-US" sz="1700" dirty="0"/>
          </a:p>
        </p:txBody>
      </p:sp>
      <p:sp>
        <p:nvSpPr>
          <p:cNvPr id="8" name="Tile Imagery"/>
          <p:cNvSpPr/>
          <p:nvPr/>
        </p:nvSpPr>
        <p:spPr>
          <a:xfrm>
            <a:off x="2819324" y="1508760"/>
            <a:ext cx="2011680" cy="3931920"/>
          </a:xfrm>
          <a:prstGeom prst="rect">
            <a:avLst/>
          </a:prstGeom>
          <a:solidFill>
            <a:schemeClr val="bg2"/>
          </a:solidFill>
          <a:ln/>
        </p:spPr>
        <p:txBody>
          <a:bodyPr/>
          <a:lstStyle/>
          <a:p>
            <a:endParaRPr lang="en-US"/>
          </a:p>
        </p:txBody>
      </p:sp>
      <p:sp>
        <p:nvSpPr>
          <p:cNvPr id="9" name="Icon circle Imagery"/>
          <p:cNvSpPr/>
          <p:nvPr/>
        </p:nvSpPr>
        <p:spPr>
          <a:xfrm>
            <a:off x="3047924" y="1783080"/>
            <a:ext cx="822960" cy="822960"/>
          </a:xfrm>
          <a:prstGeom prst="ellipse">
            <a:avLst/>
          </a:prstGeom>
          <a:solidFill>
            <a:schemeClr val="accent2"/>
          </a:solidFill>
          <a:ln/>
        </p:spPr>
        <p:txBody>
          <a:bodyPr/>
          <a:lstStyle/>
          <a:p>
            <a:endParaRPr lang="en-US"/>
          </a:p>
        </p:txBody>
      </p:sp>
      <p:pic>
        <p:nvPicPr>
          <p:cNvPr id="10" name="Icon Imagery" descr="Imagery icon"/>
          <p:cNvPicPr>
            <a:picLocks noChangeAspect="1"/>
          </p:cNvPicPr>
          <p:nvPr/>
        </p:nvPicPr>
        <p:blipFill>
          <a:blip r:embed="rId4"/>
          <a:stretch>
            <a:fillRect/>
          </a:stretch>
        </p:blipFill>
        <p:spPr>
          <a:xfrm>
            <a:off x="3261893" y="1997050"/>
            <a:ext cx="395021" cy="395021"/>
          </a:xfrm>
          <a:prstGeom prst="rect">
            <a:avLst/>
          </a:prstGeom>
        </p:spPr>
      </p:pic>
      <p:sp>
        <p:nvSpPr>
          <p:cNvPr id="11" name="Text 7"/>
          <p:cNvSpPr txBox="1"/>
          <p:nvPr/>
        </p:nvSpPr>
        <p:spPr>
          <a:xfrm>
            <a:off x="3047924" y="2926080"/>
            <a:ext cx="1645920" cy="411480"/>
          </a:xfrm>
          <a:prstGeom prst="rect">
            <a:avLst/>
          </a:prstGeom>
          <a:noFill/>
          <a:ln/>
        </p:spPr>
        <p:txBody>
          <a:bodyPr wrap="square" lIns="0" tIns="0" rIns="0" bIns="0" rtlCol="0" anchor="t"/>
          <a:lstStyle/>
          <a:p>
            <a:pPr marL="0" indent="0">
              <a:buNone/>
            </a:pPr>
            <a:r>
              <a:rPr lang="en-US" sz="2200" b="1" dirty="0">
                <a:solidFill>
                  <a:schemeClr val="tx1"/>
                </a:solidFill>
              </a:rPr>
              <a:t>Imagery</a:t>
            </a:r>
            <a:endParaRPr lang="en-US" sz="2200" dirty="0"/>
          </a:p>
        </p:txBody>
      </p:sp>
      <p:sp>
        <p:nvSpPr>
          <p:cNvPr id="12" name="Text 8"/>
          <p:cNvSpPr txBox="1"/>
          <p:nvPr/>
        </p:nvSpPr>
        <p:spPr>
          <a:xfrm>
            <a:off x="3047924" y="3520440"/>
            <a:ext cx="1600200" cy="1828800"/>
          </a:xfrm>
          <a:prstGeom prst="rect">
            <a:avLst/>
          </a:prstGeom>
          <a:noFill/>
          <a:ln/>
        </p:spPr>
        <p:txBody>
          <a:bodyPr wrap="square" lIns="0" tIns="0" rIns="0" bIns="0" rtlCol="0" anchor="t"/>
          <a:lstStyle/>
          <a:p>
            <a:pPr marL="0" indent="0">
              <a:buNone/>
            </a:pPr>
            <a:r>
              <a:rPr lang="en-US" sz="1700" dirty="0">
                <a:solidFill>
                  <a:schemeClr val="accent4"/>
                </a:solidFill>
              </a:rPr>
              <a:t>Photographs, illustrations and icons that show or interpret.</a:t>
            </a:r>
            <a:endParaRPr lang="en-US" sz="1700" dirty="0"/>
          </a:p>
        </p:txBody>
      </p:sp>
      <p:sp>
        <p:nvSpPr>
          <p:cNvPr id="13" name="Tile Color"/>
          <p:cNvSpPr/>
          <p:nvPr/>
        </p:nvSpPr>
        <p:spPr>
          <a:xfrm>
            <a:off x="5090008" y="1508760"/>
            <a:ext cx="2011680" cy="3931920"/>
          </a:xfrm>
          <a:prstGeom prst="rect">
            <a:avLst/>
          </a:prstGeom>
          <a:solidFill>
            <a:schemeClr val="bg2"/>
          </a:solidFill>
          <a:ln/>
        </p:spPr>
        <p:txBody>
          <a:bodyPr/>
          <a:lstStyle/>
          <a:p>
            <a:endParaRPr lang="en-US"/>
          </a:p>
        </p:txBody>
      </p:sp>
      <p:sp>
        <p:nvSpPr>
          <p:cNvPr id="14" name="Icon circle Color"/>
          <p:cNvSpPr/>
          <p:nvPr/>
        </p:nvSpPr>
        <p:spPr>
          <a:xfrm>
            <a:off x="5318608" y="1783080"/>
            <a:ext cx="822960" cy="822960"/>
          </a:xfrm>
          <a:prstGeom prst="ellipse">
            <a:avLst/>
          </a:prstGeom>
          <a:solidFill>
            <a:schemeClr val="accent3"/>
          </a:solidFill>
          <a:ln/>
        </p:spPr>
        <p:txBody>
          <a:bodyPr/>
          <a:lstStyle/>
          <a:p>
            <a:endParaRPr lang="en-US"/>
          </a:p>
        </p:txBody>
      </p:sp>
      <p:pic>
        <p:nvPicPr>
          <p:cNvPr id="15" name="Icon Color" descr="Color icon"/>
          <p:cNvPicPr>
            <a:picLocks noChangeAspect="1"/>
          </p:cNvPicPr>
          <p:nvPr/>
        </p:nvPicPr>
        <p:blipFill>
          <a:blip r:embed="rId5"/>
          <a:stretch>
            <a:fillRect/>
          </a:stretch>
        </p:blipFill>
        <p:spPr>
          <a:xfrm>
            <a:off x="5532577" y="1997050"/>
            <a:ext cx="395021" cy="395021"/>
          </a:xfrm>
          <a:prstGeom prst="rect">
            <a:avLst/>
          </a:prstGeom>
        </p:spPr>
      </p:pic>
      <p:sp>
        <p:nvSpPr>
          <p:cNvPr id="16" name="Text 11"/>
          <p:cNvSpPr txBox="1"/>
          <p:nvPr/>
        </p:nvSpPr>
        <p:spPr>
          <a:xfrm>
            <a:off x="5318608" y="2926080"/>
            <a:ext cx="1645920" cy="411480"/>
          </a:xfrm>
          <a:prstGeom prst="rect">
            <a:avLst/>
          </a:prstGeom>
          <a:noFill/>
          <a:ln/>
        </p:spPr>
        <p:txBody>
          <a:bodyPr wrap="square" lIns="0" tIns="0" rIns="0" bIns="0" rtlCol="0" anchor="t"/>
          <a:lstStyle/>
          <a:p>
            <a:pPr marL="0" indent="0">
              <a:buNone/>
            </a:pPr>
            <a:r>
              <a:rPr lang="en-US" sz="2200" b="1" dirty="0">
                <a:solidFill>
                  <a:schemeClr val="tx1"/>
                </a:solidFill>
              </a:rPr>
              <a:t>Color</a:t>
            </a:r>
            <a:endParaRPr lang="en-US" sz="2200" dirty="0"/>
          </a:p>
        </p:txBody>
      </p:sp>
      <p:sp>
        <p:nvSpPr>
          <p:cNvPr id="17" name="Text 12"/>
          <p:cNvSpPr txBox="1"/>
          <p:nvPr/>
        </p:nvSpPr>
        <p:spPr>
          <a:xfrm>
            <a:off x="5318608" y="3520440"/>
            <a:ext cx="1600200" cy="1828800"/>
          </a:xfrm>
          <a:prstGeom prst="rect">
            <a:avLst/>
          </a:prstGeom>
          <a:noFill/>
          <a:ln/>
        </p:spPr>
        <p:txBody>
          <a:bodyPr wrap="square" lIns="0" tIns="0" rIns="0" bIns="0" rtlCol="0" anchor="t"/>
          <a:lstStyle/>
          <a:p>
            <a:pPr marL="0" indent="0">
              <a:buNone/>
            </a:pPr>
            <a:r>
              <a:rPr lang="en-US" sz="1700" dirty="0">
                <a:solidFill>
                  <a:schemeClr val="accent4"/>
                </a:solidFill>
              </a:rPr>
              <a:t>Hue and contrast that set mood and meaning.</a:t>
            </a:r>
            <a:endParaRPr lang="en-US" sz="1700" dirty="0"/>
          </a:p>
        </p:txBody>
      </p:sp>
      <p:sp>
        <p:nvSpPr>
          <p:cNvPr id="18" name="Tile Layout"/>
          <p:cNvSpPr/>
          <p:nvPr/>
        </p:nvSpPr>
        <p:spPr>
          <a:xfrm>
            <a:off x="7360691" y="1508760"/>
            <a:ext cx="2011680" cy="3931920"/>
          </a:xfrm>
          <a:prstGeom prst="rect">
            <a:avLst/>
          </a:prstGeom>
          <a:solidFill>
            <a:schemeClr val="bg2"/>
          </a:solidFill>
          <a:ln/>
        </p:spPr>
        <p:txBody>
          <a:bodyPr/>
          <a:lstStyle/>
          <a:p>
            <a:endParaRPr lang="en-US"/>
          </a:p>
        </p:txBody>
      </p:sp>
      <p:sp>
        <p:nvSpPr>
          <p:cNvPr id="19" name="Icon circle Layout"/>
          <p:cNvSpPr/>
          <p:nvPr/>
        </p:nvSpPr>
        <p:spPr>
          <a:xfrm>
            <a:off x="7589291" y="1783080"/>
            <a:ext cx="822960" cy="822960"/>
          </a:xfrm>
          <a:prstGeom prst="ellipse">
            <a:avLst/>
          </a:prstGeom>
          <a:solidFill>
            <a:schemeClr val="accent1"/>
          </a:solidFill>
          <a:ln/>
        </p:spPr>
        <p:txBody>
          <a:bodyPr/>
          <a:lstStyle/>
          <a:p>
            <a:endParaRPr lang="en-US"/>
          </a:p>
        </p:txBody>
      </p:sp>
      <p:pic>
        <p:nvPicPr>
          <p:cNvPr id="20" name="Icon Layout" descr="Layout icon"/>
          <p:cNvPicPr>
            <a:picLocks noChangeAspect="1"/>
          </p:cNvPicPr>
          <p:nvPr/>
        </p:nvPicPr>
        <p:blipFill>
          <a:blip r:embed="rId6"/>
          <a:stretch>
            <a:fillRect/>
          </a:stretch>
        </p:blipFill>
        <p:spPr>
          <a:xfrm>
            <a:off x="7803261" y="1997050"/>
            <a:ext cx="395021" cy="395021"/>
          </a:xfrm>
          <a:prstGeom prst="rect">
            <a:avLst/>
          </a:prstGeom>
        </p:spPr>
      </p:pic>
      <p:sp>
        <p:nvSpPr>
          <p:cNvPr id="21" name="Text 15"/>
          <p:cNvSpPr txBox="1"/>
          <p:nvPr/>
        </p:nvSpPr>
        <p:spPr>
          <a:xfrm>
            <a:off x="7589291" y="2926080"/>
            <a:ext cx="1645920" cy="411480"/>
          </a:xfrm>
          <a:prstGeom prst="rect">
            <a:avLst/>
          </a:prstGeom>
          <a:noFill/>
          <a:ln/>
        </p:spPr>
        <p:txBody>
          <a:bodyPr wrap="square" lIns="0" tIns="0" rIns="0" bIns="0" rtlCol="0" anchor="t"/>
          <a:lstStyle/>
          <a:p>
            <a:pPr marL="0" indent="0">
              <a:buNone/>
            </a:pPr>
            <a:r>
              <a:rPr lang="en-US" sz="2200" b="1" dirty="0">
                <a:solidFill>
                  <a:schemeClr val="tx1"/>
                </a:solidFill>
              </a:rPr>
              <a:t>Layout</a:t>
            </a:r>
            <a:endParaRPr lang="en-US" sz="2200" dirty="0"/>
          </a:p>
        </p:txBody>
      </p:sp>
      <p:sp>
        <p:nvSpPr>
          <p:cNvPr id="22" name="Text 16"/>
          <p:cNvSpPr txBox="1"/>
          <p:nvPr/>
        </p:nvSpPr>
        <p:spPr>
          <a:xfrm>
            <a:off x="7589291" y="3520440"/>
            <a:ext cx="1600200" cy="1828800"/>
          </a:xfrm>
          <a:prstGeom prst="rect">
            <a:avLst/>
          </a:prstGeom>
          <a:noFill/>
          <a:ln/>
        </p:spPr>
        <p:txBody>
          <a:bodyPr wrap="square" lIns="0" tIns="0" rIns="0" bIns="0" rtlCol="0" anchor="t"/>
          <a:lstStyle/>
          <a:p>
            <a:pPr marL="0" indent="0">
              <a:buNone/>
            </a:pPr>
            <a:r>
              <a:rPr lang="en-US" sz="1700" dirty="0">
                <a:solidFill>
                  <a:schemeClr val="accent4"/>
                </a:solidFill>
              </a:rPr>
              <a:t>The arrangement of content on a page or screen.</a:t>
            </a:r>
            <a:endParaRPr lang="en-US" sz="1700" dirty="0"/>
          </a:p>
        </p:txBody>
      </p:sp>
      <p:sp>
        <p:nvSpPr>
          <p:cNvPr id="23" name="Tile Space"/>
          <p:cNvSpPr/>
          <p:nvPr/>
        </p:nvSpPr>
        <p:spPr>
          <a:xfrm>
            <a:off x="9631375" y="1508760"/>
            <a:ext cx="2011680" cy="3931920"/>
          </a:xfrm>
          <a:prstGeom prst="rect">
            <a:avLst/>
          </a:prstGeom>
          <a:solidFill>
            <a:schemeClr val="bg2"/>
          </a:solidFill>
          <a:ln/>
        </p:spPr>
        <p:txBody>
          <a:bodyPr/>
          <a:lstStyle/>
          <a:p>
            <a:endParaRPr lang="en-US"/>
          </a:p>
        </p:txBody>
      </p:sp>
      <p:sp>
        <p:nvSpPr>
          <p:cNvPr id="24" name="Icon circle Space"/>
          <p:cNvSpPr/>
          <p:nvPr/>
        </p:nvSpPr>
        <p:spPr>
          <a:xfrm>
            <a:off x="9859975" y="1783080"/>
            <a:ext cx="822960" cy="822960"/>
          </a:xfrm>
          <a:prstGeom prst="ellipse">
            <a:avLst/>
          </a:prstGeom>
          <a:solidFill>
            <a:schemeClr val="accent2"/>
          </a:solidFill>
          <a:ln/>
        </p:spPr>
        <p:txBody>
          <a:bodyPr/>
          <a:lstStyle/>
          <a:p>
            <a:endParaRPr lang="en-US"/>
          </a:p>
        </p:txBody>
      </p:sp>
      <p:pic>
        <p:nvPicPr>
          <p:cNvPr id="25" name="Icon Space" descr="Space icon"/>
          <p:cNvPicPr>
            <a:picLocks noChangeAspect="1"/>
          </p:cNvPicPr>
          <p:nvPr/>
        </p:nvPicPr>
        <p:blipFill>
          <a:blip r:embed="rId7"/>
          <a:stretch>
            <a:fillRect/>
          </a:stretch>
        </p:blipFill>
        <p:spPr>
          <a:xfrm>
            <a:off x="10073945" y="1997050"/>
            <a:ext cx="395021" cy="395021"/>
          </a:xfrm>
          <a:prstGeom prst="rect">
            <a:avLst/>
          </a:prstGeom>
        </p:spPr>
      </p:pic>
      <p:sp>
        <p:nvSpPr>
          <p:cNvPr id="26" name="Text 19"/>
          <p:cNvSpPr txBox="1"/>
          <p:nvPr/>
        </p:nvSpPr>
        <p:spPr>
          <a:xfrm>
            <a:off x="9859975" y="2926080"/>
            <a:ext cx="1645920" cy="411480"/>
          </a:xfrm>
          <a:prstGeom prst="rect">
            <a:avLst/>
          </a:prstGeom>
          <a:noFill/>
          <a:ln/>
        </p:spPr>
        <p:txBody>
          <a:bodyPr wrap="square" lIns="0" tIns="0" rIns="0" bIns="0" rtlCol="0" anchor="t"/>
          <a:lstStyle/>
          <a:p>
            <a:pPr marL="0" indent="0">
              <a:buNone/>
            </a:pPr>
            <a:r>
              <a:rPr lang="en-US" sz="2200" b="1" dirty="0">
                <a:solidFill>
                  <a:schemeClr val="tx1"/>
                </a:solidFill>
              </a:rPr>
              <a:t>Space</a:t>
            </a:r>
            <a:endParaRPr lang="en-US" sz="2200" dirty="0"/>
          </a:p>
        </p:txBody>
      </p:sp>
      <p:sp>
        <p:nvSpPr>
          <p:cNvPr id="27" name="Text 20"/>
          <p:cNvSpPr txBox="1"/>
          <p:nvPr/>
        </p:nvSpPr>
        <p:spPr>
          <a:xfrm>
            <a:off x="9859975" y="3520440"/>
            <a:ext cx="1600200" cy="1828800"/>
          </a:xfrm>
          <a:prstGeom prst="rect">
            <a:avLst/>
          </a:prstGeom>
          <a:noFill/>
          <a:ln/>
        </p:spPr>
        <p:txBody>
          <a:bodyPr wrap="square" lIns="0" tIns="0" rIns="0" bIns="0" rtlCol="0" anchor="t"/>
          <a:lstStyle/>
          <a:p>
            <a:pPr marL="0" indent="0">
              <a:buNone/>
            </a:pPr>
            <a:r>
              <a:rPr lang="en-US" sz="1700" dirty="0">
                <a:solidFill>
                  <a:schemeClr val="accent4"/>
                </a:solidFill>
              </a:rPr>
              <a:t>Empty areas that give content room and focus.</a:t>
            </a:r>
            <a:endParaRPr lang="en-US" sz="1700" dirty="0"/>
          </a:p>
        </p:txBody>
      </p:sp>
      <p:sp>
        <p:nvSpPr>
          <p:cNvPr id="28" name="Text 21"/>
          <p:cNvSpPr txBox="1"/>
          <p:nvPr/>
        </p:nvSpPr>
        <p:spPr>
          <a:xfrm>
            <a:off x="548640" y="5669280"/>
            <a:ext cx="11094415" cy="457200"/>
          </a:xfrm>
          <a:prstGeom prst="rect">
            <a:avLst/>
          </a:prstGeom>
          <a:noFill/>
          <a:ln/>
        </p:spPr>
        <p:txBody>
          <a:bodyPr wrap="square" lIns="0" tIns="0" rIns="0" bIns="0" rtlCol="0" anchor="t"/>
          <a:lstStyle/>
          <a:p>
            <a:pPr marL="0" indent="0">
              <a:buNone/>
            </a:pPr>
            <a:r>
              <a:rPr lang="en-US" sz="1800" dirty="0">
                <a:solidFill>
                  <a:schemeClr val="accent4"/>
                </a:solidFill>
              </a:rPr>
              <a:t>Designers arrange these materials using principles such as hierarchy, balance and alignment.</a:t>
            </a:r>
            <a:endParaRPr lang="en-US" sz="1800" dirty="0"/>
          </a:p>
        </p:txBody>
      </p:sp>
      <p:sp>
        <p:nvSpPr>
          <p:cNvPr id="29"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Early roots: images, writing, print</a:t>
            </a:r>
            <a:endParaRPr lang="en-US" sz="3600" dirty="0"/>
          </a:p>
        </p:txBody>
      </p:sp>
      <p:sp>
        <p:nvSpPr>
          <p:cNvPr id="3" name="Timeline line"/>
          <p:cNvSpPr/>
          <p:nvPr/>
        </p:nvSpPr>
        <p:spPr>
          <a:xfrm>
            <a:off x="548640" y="2286000"/>
            <a:ext cx="11094415" cy="0"/>
          </a:xfrm>
          <a:prstGeom prst="line">
            <a:avLst/>
          </a:prstGeom>
          <a:noFill/>
          <a:ln w="38100">
            <a:solidFill>
              <a:schemeClr val="tx1"/>
            </a:solidFill>
            <a:prstDash val="solid"/>
          </a:ln>
        </p:spPr>
        <p:txBody>
          <a:bodyPr/>
          <a:lstStyle/>
          <a:p>
            <a:endParaRPr lang="en-US"/>
          </a:p>
        </p:txBody>
      </p:sp>
      <p:sp>
        <p:nvSpPr>
          <p:cNvPr id="4" name="Timeline node 1"/>
          <p:cNvSpPr/>
          <p:nvPr/>
        </p:nvSpPr>
        <p:spPr>
          <a:xfrm>
            <a:off x="548640" y="2057400"/>
            <a:ext cx="457200" cy="457200"/>
          </a:xfrm>
          <a:prstGeom prst="ellipse">
            <a:avLst/>
          </a:prstGeom>
          <a:solidFill>
            <a:schemeClr val="accent1"/>
          </a:solidFill>
          <a:ln/>
        </p:spPr>
        <p:txBody>
          <a:bodyPr/>
          <a:lstStyle/>
          <a:p>
            <a:endParaRPr lang="en-US"/>
          </a:p>
        </p:txBody>
      </p:sp>
      <p:sp>
        <p:nvSpPr>
          <p:cNvPr id="5" name="Text 3"/>
          <p:cNvSpPr txBox="1"/>
          <p:nvPr/>
        </p:nvSpPr>
        <p:spPr>
          <a:xfrm>
            <a:off x="548640" y="2743200"/>
            <a:ext cx="2081723" cy="365760"/>
          </a:xfrm>
          <a:prstGeom prst="rect">
            <a:avLst/>
          </a:prstGeom>
          <a:noFill/>
          <a:ln/>
        </p:spPr>
        <p:txBody>
          <a:bodyPr wrap="square" lIns="0" tIns="0" rIns="0" bIns="0" rtlCol="0" anchor="t"/>
          <a:lstStyle/>
          <a:p>
            <a:pPr marL="0" indent="0">
              <a:buNone/>
            </a:pPr>
            <a:r>
              <a:rPr lang="en-US" sz="2000" b="1" dirty="0">
                <a:solidFill>
                  <a:schemeClr val="accent1"/>
                </a:solidFill>
              </a:rPr>
              <a:t>c. 30,000 BCE</a:t>
            </a:r>
            <a:endParaRPr lang="en-US" sz="2000" dirty="0"/>
          </a:p>
        </p:txBody>
      </p:sp>
      <p:sp>
        <p:nvSpPr>
          <p:cNvPr id="6" name="Text 4"/>
          <p:cNvSpPr txBox="1"/>
          <p:nvPr/>
        </p:nvSpPr>
        <p:spPr>
          <a:xfrm>
            <a:off x="548640" y="3200400"/>
            <a:ext cx="2081723" cy="365760"/>
          </a:xfrm>
          <a:prstGeom prst="rect">
            <a:avLst/>
          </a:prstGeom>
          <a:noFill/>
          <a:ln/>
        </p:spPr>
        <p:txBody>
          <a:bodyPr wrap="square" lIns="0" tIns="0" rIns="0" bIns="0" rtlCol="0" anchor="t"/>
          <a:lstStyle/>
          <a:p>
            <a:pPr marL="0" indent="0">
              <a:buNone/>
            </a:pPr>
            <a:r>
              <a:rPr lang="en-US" sz="1700" b="1" dirty="0">
                <a:solidFill>
                  <a:schemeClr val="tx1"/>
                </a:solidFill>
              </a:rPr>
              <a:t>Cave paintings</a:t>
            </a:r>
            <a:endParaRPr lang="en-US" sz="1700" dirty="0"/>
          </a:p>
        </p:txBody>
      </p:sp>
      <p:sp>
        <p:nvSpPr>
          <p:cNvPr id="7" name="Text 5"/>
          <p:cNvSpPr txBox="1"/>
          <p:nvPr/>
        </p:nvSpPr>
        <p:spPr>
          <a:xfrm>
            <a:off x="548640" y="3657600"/>
            <a:ext cx="1944563" cy="1371600"/>
          </a:xfrm>
          <a:prstGeom prst="rect">
            <a:avLst/>
          </a:prstGeom>
          <a:noFill/>
          <a:ln/>
        </p:spPr>
        <p:txBody>
          <a:bodyPr wrap="square" lIns="0" tIns="0" rIns="0" bIns="0" rtlCol="0" anchor="t"/>
          <a:lstStyle/>
          <a:p>
            <a:pPr marL="0" indent="0">
              <a:buNone/>
            </a:pPr>
            <a:r>
              <a:rPr lang="en-US" sz="1500" dirty="0">
                <a:solidFill>
                  <a:schemeClr val="accent4"/>
                </a:solidFill>
              </a:rPr>
              <a:t>People record animals and signs on cave walls.</a:t>
            </a:r>
            <a:endParaRPr lang="en-US" sz="1500" dirty="0"/>
          </a:p>
        </p:txBody>
      </p:sp>
      <p:sp>
        <p:nvSpPr>
          <p:cNvPr id="8" name="Timeline node 2"/>
          <p:cNvSpPr/>
          <p:nvPr/>
        </p:nvSpPr>
        <p:spPr>
          <a:xfrm>
            <a:off x="2767523" y="2057400"/>
            <a:ext cx="457200" cy="457200"/>
          </a:xfrm>
          <a:prstGeom prst="ellipse">
            <a:avLst/>
          </a:prstGeom>
          <a:solidFill>
            <a:schemeClr val="accent2"/>
          </a:solidFill>
          <a:ln/>
        </p:spPr>
        <p:txBody>
          <a:bodyPr/>
          <a:lstStyle/>
          <a:p>
            <a:endParaRPr lang="en-US"/>
          </a:p>
        </p:txBody>
      </p:sp>
      <p:sp>
        <p:nvSpPr>
          <p:cNvPr id="9" name="Text 7"/>
          <p:cNvSpPr txBox="1"/>
          <p:nvPr/>
        </p:nvSpPr>
        <p:spPr>
          <a:xfrm>
            <a:off x="2767523" y="2743200"/>
            <a:ext cx="2081723" cy="365760"/>
          </a:xfrm>
          <a:prstGeom prst="rect">
            <a:avLst/>
          </a:prstGeom>
          <a:noFill/>
          <a:ln/>
        </p:spPr>
        <p:txBody>
          <a:bodyPr wrap="square" lIns="0" tIns="0" rIns="0" bIns="0" rtlCol="0" anchor="t"/>
          <a:lstStyle/>
          <a:p>
            <a:pPr marL="0" indent="0">
              <a:buNone/>
            </a:pPr>
            <a:r>
              <a:rPr lang="en-US" sz="2000" b="1" dirty="0">
                <a:solidFill>
                  <a:schemeClr val="accent1"/>
                </a:solidFill>
              </a:rPr>
              <a:t>c. 3400 BCE</a:t>
            </a:r>
            <a:endParaRPr lang="en-US" sz="2000" dirty="0"/>
          </a:p>
        </p:txBody>
      </p:sp>
      <p:sp>
        <p:nvSpPr>
          <p:cNvPr id="10" name="Text 8"/>
          <p:cNvSpPr txBox="1"/>
          <p:nvPr/>
        </p:nvSpPr>
        <p:spPr>
          <a:xfrm>
            <a:off x="2767523" y="3200400"/>
            <a:ext cx="2081723" cy="365760"/>
          </a:xfrm>
          <a:prstGeom prst="rect">
            <a:avLst/>
          </a:prstGeom>
          <a:noFill/>
          <a:ln/>
        </p:spPr>
        <p:txBody>
          <a:bodyPr wrap="square" lIns="0" tIns="0" rIns="0" bIns="0" rtlCol="0" anchor="t"/>
          <a:lstStyle/>
          <a:p>
            <a:pPr marL="0" indent="0">
              <a:buNone/>
            </a:pPr>
            <a:r>
              <a:rPr lang="en-US" sz="1700" b="1" dirty="0">
                <a:solidFill>
                  <a:schemeClr val="tx1"/>
                </a:solidFill>
              </a:rPr>
              <a:t>Writing systems</a:t>
            </a:r>
            <a:endParaRPr lang="en-US" sz="1700" dirty="0"/>
          </a:p>
        </p:txBody>
      </p:sp>
      <p:sp>
        <p:nvSpPr>
          <p:cNvPr id="11" name="Text 9"/>
          <p:cNvSpPr txBox="1"/>
          <p:nvPr/>
        </p:nvSpPr>
        <p:spPr>
          <a:xfrm>
            <a:off x="2767523" y="3657600"/>
            <a:ext cx="1944563" cy="1371600"/>
          </a:xfrm>
          <a:prstGeom prst="rect">
            <a:avLst/>
          </a:prstGeom>
          <a:noFill/>
          <a:ln/>
        </p:spPr>
        <p:txBody>
          <a:bodyPr wrap="square" lIns="0" tIns="0" rIns="0" bIns="0" rtlCol="0" anchor="t"/>
          <a:lstStyle/>
          <a:p>
            <a:pPr marL="0" indent="0">
              <a:buNone/>
            </a:pPr>
            <a:r>
              <a:rPr lang="en-US" sz="1500" dirty="0">
                <a:solidFill>
                  <a:schemeClr val="accent4"/>
                </a:solidFill>
              </a:rPr>
              <a:t>Pictographs and cuneiform in Mesopotamia turn speech into marks.</a:t>
            </a:r>
            <a:endParaRPr lang="en-US" sz="1500" dirty="0"/>
          </a:p>
        </p:txBody>
      </p:sp>
      <p:sp>
        <p:nvSpPr>
          <p:cNvPr id="12" name="Timeline node 3"/>
          <p:cNvSpPr/>
          <p:nvPr/>
        </p:nvSpPr>
        <p:spPr>
          <a:xfrm>
            <a:off x="4986406" y="2057400"/>
            <a:ext cx="457200" cy="457200"/>
          </a:xfrm>
          <a:prstGeom prst="ellipse">
            <a:avLst/>
          </a:prstGeom>
          <a:solidFill>
            <a:schemeClr val="accent3"/>
          </a:solidFill>
          <a:ln/>
        </p:spPr>
        <p:txBody>
          <a:bodyPr/>
          <a:lstStyle/>
          <a:p>
            <a:endParaRPr lang="en-US"/>
          </a:p>
        </p:txBody>
      </p:sp>
      <p:sp>
        <p:nvSpPr>
          <p:cNvPr id="13" name="Text 11"/>
          <p:cNvSpPr txBox="1"/>
          <p:nvPr/>
        </p:nvSpPr>
        <p:spPr>
          <a:xfrm>
            <a:off x="4986406" y="2743200"/>
            <a:ext cx="2081723" cy="365760"/>
          </a:xfrm>
          <a:prstGeom prst="rect">
            <a:avLst/>
          </a:prstGeom>
          <a:noFill/>
          <a:ln/>
        </p:spPr>
        <p:txBody>
          <a:bodyPr wrap="square" lIns="0" tIns="0" rIns="0" bIns="0" rtlCol="0" anchor="t"/>
          <a:lstStyle/>
          <a:p>
            <a:pPr marL="0" indent="0">
              <a:buNone/>
            </a:pPr>
            <a:r>
              <a:rPr lang="en-US" sz="2000" b="1" dirty="0">
                <a:solidFill>
                  <a:schemeClr val="accent1"/>
                </a:solidFill>
              </a:rPr>
              <a:t>c. 105 CE</a:t>
            </a:r>
            <a:endParaRPr lang="en-US" sz="2000" dirty="0"/>
          </a:p>
        </p:txBody>
      </p:sp>
      <p:sp>
        <p:nvSpPr>
          <p:cNvPr id="14" name="Text 12"/>
          <p:cNvSpPr txBox="1"/>
          <p:nvPr/>
        </p:nvSpPr>
        <p:spPr>
          <a:xfrm>
            <a:off x="4986406" y="3200400"/>
            <a:ext cx="2081723" cy="365760"/>
          </a:xfrm>
          <a:prstGeom prst="rect">
            <a:avLst/>
          </a:prstGeom>
          <a:noFill/>
          <a:ln/>
        </p:spPr>
        <p:txBody>
          <a:bodyPr wrap="square" lIns="0" tIns="0" rIns="0" bIns="0" rtlCol="0" anchor="t"/>
          <a:lstStyle/>
          <a:p>
            <a:pPr marL="0" indent="0">
              <a:buNone/>
            </a:pPr>
            <a:r>
              <a:rPr lang="en-US" sz="1700" b="1" dirty="0">
                <a:solidFill>
                  <a:schemeClr val="tx1"/>
                </a:solidFill>
              </a:rPr>
              <a:t>Paper</a:t>
            </a:r>
            <a:endParaRPr lang="en-US" sz="1700" dirty="0"/>
          </a:p>
        </p:txBody>
      </p:sp>
      <p:sp>
        <p:nvSpPr>
          <p:cNvPr id="15" name="Text 13"/>
          <p:cNvSpPr txBox="1"/>
          <p:nvPr/>
        </p:nvSpPr>
        <p:spPr>
          <a:xfrm>
            <a:off x="4986406" y="3657600"/>
            <a:ext cx="1944563" cy="1371600"/>
          </a:xfrm>
          <a:prstGeom prst="rect">
            <a:avLst/>
          </a:prstGeom>
          <a:noFill/>
          <a:ln/>
        </p:spPr>
        <p:txBody>
          <a:bodyPr wrap="square" lIns="0" tIns="0" rIns="0" bIns="0" rtlCol="0" anchor="t"/>
          <a:lstStyle/>
          <a:p>
            <a:pPr marL="0" indent="0">
              <a:buNone/>
            </a:pPr>
            <a:r>
              <a:rPr lang="en-US" sz="1500" dirty="0">
                <a:solidFill>
                  <a:schemeClr val="accent4"/>
                </a:solidFill>
              </a:rPr>
              <a:t>Traditionally credited to Cai Lun in China; images become easier to make.</a:t>
            </a:r>
            <a:endParaRPr lang="en-US" sz="1500" dirty="0"/>
          </a:p>
        </p:txBody>
      </p:sp>
      <p:sp>
        <p:nvSpPr>
          <p:cNvPr id="16" name="Timeline node 4"/>
          <p:cNvSpPr/>
          <p:nvPr/>
        </p:nvSpPr>
        <p:spPr>
          <a:xfrm>
            <a:off x="7205289" y="2057400"/>
            <a:ext cx="457200" cy="457200"/>
          </a:xfrm>
          <a:prstGeom prst="ellipse">
            <a:avLst/>
          </a:prstGeom>
          <a:solidFill>
            <a:schemeClr val="accent1"/>
          </a:solidFill>
          <a:ln/>
        </p:spPr>
        <p:txBody>
          <a:bodyPr/>
          <a:lstStyle/>
          <a:p>
            <a:endParaRPr lang="en-US"/>
          </a:p>
        </p:txBody>
      </p:sp>
      <p:sp>
        <p:nvSpPr>
          <p:cNvPr id="17" name="Text 15"/>
          <p:cNvSpPr txBox="1"/>
          <p:nvPr/>
        </p:nvSpPr>
        <p:spPr>
          <a:xfrm>
            <a:off x="7205289" y="2743200"/>
            <a:ext cx="2081723" cy="365760"/>
          </a:xfrm>
          <a:prstGeom prst="rect">
            <a:avLst/>
          </a:prstGeom>
          <a:noFill/>
          <a:ln/>
        </p:spPr>
        <p:txBody>
          <a:bodyPr wrap="square" lIns="0" tIns="0" rIns="0" bIns="0" rtlCol="0" anchor="t"/>
          <a:lstStyle/>
          <a:p>
            <a:pPr marL="0" indent="0">
              <a:buNone/>
            </a:pPr>
            <a:r>
              <a:rPr lang="en-US" sz="2000" b="1" dirty="0">
                <a:solidFill>
                  <a:schemeClr val="accent1"/>
                </a:solidFill>
              </a:rPr>
              <a:t>868 CE</a:t>
            </a:r>
            <a:endParaRPr lang="en-US" sz="2000" dirty="0"/>
          </a:p>
        </p:txBody>
      </p:sp>
      <p:sp>
        <p:nvSpPr>
          <p:cNvPr id="18" name="Text 16"/>
          <p:cNvSpPr txBox="1"/>
          <p:nvPr/>
        </p:nvSpPr>
        <p:spPr>
          <a:xfrm>
            <a:off x="7205289" y="3200400"/>
            <a:ext cx="2081723" cy="365760"/>
          </a:xfrm>
          <a:prstGeom prst="rect">
            <a:avLst/>
          </a:prstGeom>
          <a:noFill/>
          <a:ln/>
        </p:spPr>
        <p:txBody>
          <a:bodyPr wrap="square" lIns="0" tIns="0" rIns="0" bIns="0" rtlCol="0" anchor="t"/>
          <a:lstStyle/>
          <a:p>
            <a:pPr marL="0" indent="0">
              <a:buNone/>
            </a:pPr>
            <a:r>
              <a:rPr lang="en-US" sz="1700" b="1" dirty="0">
                <a:solidFill>
                  <a:schemeClr val="tx1"/>
                </a:solidFill>
              </a:rPr>
              <a:t>Woodblock printing</a:t>
            </a:r>
            <a:endParaRPr lang="en-US" sz="1700" dirty="0"/>
          </a:p>
        </p:txBody>
      </p:sp>
      <p:sp>
        <p:nvSpPr>
          <p:cNvPr id="19" name="Text 17"/>
          <p:cNvSpPr txBox="1"/>
          <p:nvPr/>
        </p:nvSpPr>
        <p:spPr>
          <a:xfrm>
            <a:off x="7205289" y="3657600"/>
            <a:ext cx="1944563" cy="1371600"/>
          </a:xfrm>
          <a:prstGeom prst="rect">
            <a:avLst/>
          </a:prstGeom>
          <a:noFill/>
          <a:ln/>
        </p:spPr>
        <p:txBody>
          <a:bodyPr wrap="square" lIns="0" tIns="0" rIns="0" bIns="0" rtlCol="0" anchor="t"/>
          <a:lstStyle/>
          <a:p>
            <a:pPr marL="0" indent="0">
              <a:buNone/>
            </a:pPr>
            <a:r>
              <a:rPr lang="en-US" sz="1500" dirty="0">
                <a:solidFill>
                  <a:schemeClr val="accent4"/>
                </a:solidFill>
              </a:rPr>
              <a:t>The Diamond Sutra is the earliest dated printed book.</a:t>
            </a:r>
            <a:endParaRPr lang="en-US" sz="1500" dirty="0"/>
          </a:p>
        </p:txBody>
      </p:sp>
      <p:sp>
        <p:nvSpPr>
          <p:cNvPr id="20" name="Timeline node 5"/>
          <p:cNvSpPr/>
          <p:nvPr/>
        </p:nvSpPr>
        <p:spPr>
          <a:xfrm>
            <a:off x="9424172" y="2057400"/>
            <a:ext cx="457200" cy="457200"/>
          </a:xfrm>
          <a:prstGeom prst="ellipse">
            <a:avLst/>
          </a:prstGeom>
          <a:solidFill>
            <a:schemeClr val="accent2"/>
          </a:solidFill>
          <a:ln/>
        </p:spPr>
        <p:txBody>
          <a:bodyPr/>
          <a:lstStyle/>
          <a:p>
            <a:endParaRPr lang="en-US"/>
          </a:p>
        </p:txBody>
      </p:sp>
      <p:sp>
        <p:nvSpPr>
          <p:cNvPr id="21" name="Text 19"/>
          <p:cNvSpPr txBox="1"/>
          <p:nvPr/>
        </p:nvSpPr>
        <p:spPr>
          <a:xfrm>
            <a:off x="9424172" y="2743200"/>
            <a:ext cx="2081723" cy="365760"/>
          </a:xfrm>
          <a:prstGeom prst="rect">
            <a:avLst/>
          </a:prstGeom>
          <a:noFill/>
          <a:ln/>
        </p:spPr>
        <p:txBody>
          <a:bodyPr wrap="square" lIns="0" tIns="0" rIns="0" bIns="0" rtlCol="0" anchor="t"/>
          <a:lstStyle/>
          <a:p>
            <a:pPr marL="0" indent="0">
              <a:buNone/>
            </a:pPr>
            <a:r>
              <a:rPr lang="en-US" sz="2000" b="1" dirty="0">
                <a:solidFill>
                  <a:schemeClr val="accent1"/>
                </a:solidFill>
              </a:rPr>
              <a:t>c. 1450</a:t>
            </a:r>
            <a:endParaRPr lang="en-US" sz="2000" dirty="0"/>
          </a:p>
        </p:txBody>
      </p:sp>
      <p:sp>
        <p:nvSpPr>
          <p:cNvPr id="22" name="Text 20"/>
          <p:cNvSpPr txBox="1"/>
          <p:nvPr/>
        </p:nvSpPr>
        <p:spPr>
          <a:xfrm>
            <a:off x="9424172" y="3200400"/>
            <a:ext cx="2081723" cy="365760"/>
          </a:xfrm>
          <a:prstGeom prst="rect">
            <a:avLst/>
          </a:prstGeom>
          <a:noFill/>
          <a:ln/>
        </p:spPr>
        <p:txBody>
          <a:bodyPr wrap="square" lIns="0" tIns="0" rIns="0" bIns="0" rtlCol="0" anchor="t"/>
          <a:lstStyle/>
          <a:p>
            <a:pPr marL="0" indent="0">
              <a:buNone/>
            </a:pPr>
            <a:r>
              <a:rPr lang="en-US" sz="1700" b="1" dirty="0">
                <a:solidFill>
                  <a:schemeClr val="tx1"/>
                </a:solidFill>
              </a:rPr>
              <a:t>Movable type</a:t>
            </a:r>
            <a:endParaRPr lang="en-US" sz="1700" dirty="0"/>
          </a:p>
        </p:txBody>
      </p:sp>
      <p:sp>
        <p:nvSpPr>
          <p:cNvPr id="23" name="Text 21"/>
          <p:cNvSpPr txBox="1"/>
          <p:nvPr/>
        </p:nvSpPr>
        <p:spPr>
          <a:xfrm>
            <a:off x="9424172" y="3657600"/>
            <a:ext cx="1944563" cy="1371600"/>
          </a:xfrm>
          <a:prstGeom prst="rect">
            <a:avLst/>
          </a:prstGeom>
          <a:noFill/>
          <a:ln/>
        </p:spPr>
        <p:txBody>
          <a:bodyPr wrap="square" lIns="0" tIns="0" rIns="0" bIns="0" rtlCol="0" anchor="t"/>
          <a:lstStyle/>
          <a:p>
            <a:pPr marL="0" indent="0">
              <a:buNone/>
            </a:pPr>
            <a:r>
              <a:rPr lang="en-US" sz="1500" dirty="0">
                <a:solidFill>
                  <a:schemeClr val="accent4"/>
                </a:solidFill>
              </a:rPr>
              <a:t>Gutenberg's press lets text be set and reproduced at scale.</a:t>
            </a:r>
            <a:endParaRPr lang="en-US" sz="1500" dirty="0"/>
          </a:p>
        </p:txBody>
      </p:sp>
      <p:sp>
        <p:nvSpPr>
          <p:cNvPr id="24" name="Takeaway panel"/>
          <p:cNvSpPr/>
          <p:nvPr/>
        </p:nvSpPr>
        <p:spPr>
          <a:xfrm>
            <a:off x="548640" y="5257800"/>
            <a:ext cx="11094415" cy="777240"/>
          </a:xfrm>
          <a:prstGeom prst="rect">
            <a:avLst/>
          </a:prstGeom>
          <a:solidFill>
            <a:schemeClr val="bg2"/>
          </a:solidFill>
          <a:ln/>
        </p:spPr>
        <p:txBody>
          <a:bodyPr/>
          <a:lstStyle/>
          <a:p>
            <a:endParaRPr lang="en-US"/>
          </a:p>
        </p:txBody>
      </p:sp>
      <p:sp>
        <p:nvSpPr>
          <p:cNvPr id="25" name="Text 23"/>
          <p:cNvSpPr txBox="1"/>
          <p:nvPr/>
        </p:nvSpPr>
        <p:spPr>
          <a:xfrm>
            <a:off x="914400" y="5257800"/>
            <a:ext cx="10362895" cy="777240"/>
          </a:xfrm>
          <a:prstGeom prst="rect">
            <a:avLst/>
          </a:prstGeom>
          <a:noFill/>
          <a:ln/>
        </p:spPr>
        <p:txBody>
          <a:bodyPr wrap="square" lIns="0" tIns="0" rIns="0" bIns="0" rtlCol="0" anchor="ctr"/>
          <a:lstStyle/>
          <a:p>
            <a:pPr marL="0" indent="0">
              <a:buNone/>
            </a:pPr>
            <a:r>
              <a:rPr lang="en-US" sz="1700" dirty="0">
                <a:solidFill>
                  <a:schemeClr val="tx1"/>
                </a:solidFill>
              </a:rPr>
              <a:t>Takeaway: each new technology made visual messages easier to copy, share and standardise.</a:t>
            </a:r>
            <a:endParaRPr lang="en-US" sz="1700" dirty="0"/>
          </a:p>
        </p:txBody>
      </p:sp>
      <p:sp>
        <p:nvSpPr>
          <p:cNvPr id="26"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From the industrial age to modernism</a:t>
            </a:r>
            <a:endParaRPr lang="en-US" sz="3600" dirty="0"/>
          </a:p>
        </p:txBody>
      </p:sp>
      <p:sp>
        <p:nvSpPr>
          <p:cNvPr id="3" name="Card Lithography"/>
          <p:cNvSpPr/>
          <p:nvPr/>
        </p:nvSpPr>
        <p:spPr>
          <a:xfrm>
            <a:off x="548640" y="1508760"/>
            <a:ext cx="3566160" cy="2103120"/>
          </a:xfrm>
          <a:prstGeom prst="rect">
            <a:avLst/>
          </a:prstGeom>
          <a:solidFill>
            <a:schemeClr val="bg2"/>
          </a:solidFill>
          <a:ln/>
        </p:spPr>
        <p:txBody>
          <a:bodyPr/>
          <a:lstStyle/>
          <a:p>
            <a:endParaRPr lang="en-US"/>
          </a:p>
        </p:txBody>
      </p:sp>
      <p:sp>
        <p:nvSpPr>
          <p:cNvPr id="4" name="Text 2"/>
          <p:cNvSpPr txBox="1"/>
          <p:nvPr/>
        </p:nvSpPr>
        <p:spPr>
          <a:xfrm>
            <a:off x="822960" y="1737360"/>
            <a:ext cx="3017520" cy="502920"/>
          </a:xfrm>
          <a:prstGeom prst="rect">
            <a:avLst/>
          </a:prstGeom>
          <a:noFill/>
          <a:ln/>
        </p:spPr>
        <p:txBody>
          <a:bodyPr wrap="square" lIns="0" tIns="0" rIns="0" bIns="0" rtlCol="0" anchor="t"/>
          <a:lstStyle/>
          <a:p>
            <a:pPr marL="0" indent="0">
              <a:buNone/>
            </a:pPr>
            <a:r>
              <a:rPr lang="en-US" sz="2800" b="1" dirty="0">
                <a:solidFill>
                  <a:schemeClr val="accent1"/>
                </a:solidFill>
              </a:rPr>
              <a:t>1796</a:t>
            </a:r>
            <a:endParaRPr lang="en-US" sz="2800" dirty="0"/>
          </a:p>
        </p:txBody>
      </p:sp>
      <p:sp>
        <p:nvSpPr>
          <p:cNvPr id="5" name="Text 3"/>
          <p:cNvSpPr txBox="1"/>
          <p:nvPr/>
        </p:nvSpPr>
        <p:spPr>
          <a:xfrm>
            <a:off x="822960" y="2331720"/>
            <a:ext cx="3017520" cy="365760"/>
          </a:xfrm>
          <a:prstGeom prst="rect">
            <a:avLst/>
          </a:prstGeom>
          <a:noFill/>
          <a:ln/>
        </p:spPr>
        <p:txBody>
          <a:bodyPr wrap="square" lIns="0" tIns="0" rIns="0" bIns="0" rtlCol="0" anchor="t"/>
          <a:lstStyle/>
          <a:p>
            <a:pPr marL="0" indent="0">
              <a:buNone/>
            </a:pPr>
            <a:r>
              <a:rPr lang="en-US" sz="1900" b="1" dirty="0">
                <a:solidFill>
                  <a:schemeClr val="tx1"/>
                </a:solidFill>
              </a:rPr>
              <a:t>Lithography</a:t>
            </a:r>
            <a:endParaRPr lang="en-US" sz="1900" dirty="0"/>
          </a:p>
        </p:txBody>
      </p:sp>
      <p:sp>
        <p:nvSpPr>
          <p:cNvPr id="6" name="Text 4"/>
          <p:cNvSpPr txBox="1"/>
          <p:nvPr/>
        </p:nvSpPr>
        <p:spPr>
          <a:xfrm>
            <a:off x="822960" y="2743200"/>
            <a:ext cx="3017520" cy="777240"/>
          </a:xfrm>
          <a:prstGeom prst="rect">
            <a:avLst/>
          </a:prstGeom>
          <a:noFill/>
          <a:ln/>
        </p:spPr>
        <p:txBody>
          <a:bodyPr wrap="square" lIns="0" tIns="0" rIns="0" bIns="0" rtlCol="0" anchor="t"/>
          <a:lstStyle/>
          <a:p>
            <a:pPr marL="0" indent="0">
              <a:buNone/>
            </a:pPr>
            <a:r>
              <a:rPr lang="en-US" sz="1500" dirty="0">
                <a:solidFill>
                  <a:schemeClr val="accent4"/>
                </a:solidFill>
              </a:rPr>
              <a:t>Alois Senefelder's process makes colorful, affordable posters possible.</a:t>
            </a:r>
            <a:endParaRPr lang="en-US" sz="1500" dirty="0"/>
          </a:p>
        </p:txBody>
      </p:sp>
      <p:sp>
        <p:nvSpPr>
          <p:cNvPr id="7" name="Card Advertising boom"/>
          <p:cNvSpPr/>
          <p:nvPr/>
        </p:nvSpPr>
        <p:spPr>
          <a:xfrm>
            <a:off x="4312768" y="1508760"/>
            <a:ext cx="3566160" cy="2103120"/>
          </a:xfrm>
          <a:prstGeom prst="rect">
            <a:avLst/>
          </a:prstGeom>
          <a:solidFill>
            <a:schemeClr val="bg2"/>
          </a:solidFill>
          <a:ln/>
        </p:spPr>
        <p:txBody>
          <a:bodyPr/>
          <a:lstStyle/>
          <a:p>
            <a:endParaRPr lang="en-US"/>
          </a:p>
        </p:txBody>
      </p:sp>
      <p:sp>
        <p:nvSpPr>
          <p:cNvPr id="8" name="Text 6"/>
          <p:cNvSpPr txBox="1"/>
          <p:nvPr/>
        </p:nvSpPr>
        <p:spPr>
          <a:xfrm>
            <a:off x="4587088" y="1737360"/>
            <a:ext cx="3017520" cy="502920"/>
          </a:xfrm>
          <a:prstGeom prst="rect">
            <a:avLst/>
          </a:prstGeom>
          <a:noFill/>
          <a:ln/>
        </p:spPr>
        <p:txBody>
          <a:bodyPr wrap="square" lIns="0" tIns="0" rIns="0" bIns="0" rtlCol="0" anchor="t"/>
          <a:lstStyle/>
          <a:p>
            <a:pPr marL="0" indent="0">
              <a:buNone/>
            </a:pPr>
            <a:r>
              <a:rPr lang="en-US" sz="2800" b="1" dirty="0">
                <a:solidFill>
                  <a:schemeClr val="accent2"/>
                </a:solidFill>
              </a:rPr>
              <a:t>Late 1800s</a:t>
            </a:r>
            <a:endParaRPr lang="en-US" sz="2800" dirty="0"/>
          </a:p>
        </p:txBody>
      </p:sp>
      <p:sp>
        <p:nvSpPr>
          <p:cNvPr id="9" name="Text 7"/>
          <p:cNvSpPr txBox="1"/>
          <p:nvPr/>
        </p:nvSpPr>
        <p:spPr>
          <a:xfrm>
            <a:off x="4587088" y="2331720"/>
            <a:ext cx="3017520" cy="365760"/>
          </a:xfrm>
          <a:prstGeom prst="rect">
            <a:avLst/>
          </a:prstGeom>
          <a:noFill/>
          <a:ln/>
        </p:spPr>
        <p:txBody>
          <a:bodyPr wrap="square" lIns="0" tIns="0" rIns="0" bIns="0" rtlCol="0" anchor="t"/>
          <a:lstStyle/>
          <a:p>
            <a:pPr marL="0" indent="0">
              <a:buNone/>
            </a:pPr>
            <a:r>
              <a:rPr lang="en-US" sz="1900" b="1" dirty="0">
                <a:solidFill>
                  <a:schemeClr val="tx1"/>
                </a:solidFill>
              </a:rPr>
              <a:t>Advertising boom</a:t>
            </a:r>
            <a:endParaRPr lang="en-US" sz="1900" dirty="0"/>
          </a:p>
        </p:txBody>
      </p:sp>
      <p:sp>
        <p:nvSpPr>
          <p:cNvPr id="10" name="Text 8"/>
          <p:cNvSpPr txBox="1"/>
          <p:nvPr/>
        </p:nvSpPr>
        <p:spPr>
          <a:xfrm>
            <a:off x="4587088" y="2743200"/>
            <a:ext cx="3017520" cy="777240"/>
          </a:xfrm>
          <a:prstGeom prst="rect">
            <a:avLst/>
          </a:prstGeom>
          <a:noFill/>
          <a:ln/>
        </p:spPr>
        <p:txBody>
          <a:bodyPr wrap="square" lIns="0" tIns="0" rIns="0" bIns="0" rtlCol="0" anchor="t"/>
          <a:lstStyle/>
          <a:p>
            <a:pPr marL="0" indent="0">
              <a:buNone/>
            </a:pPr>
            <a:r>
              <a:rPr lang="en-US" sz="1500" dirty="0">
                <a:solidFill>
                  <a:schemeClr val="accent4"/>
                </a:solidFill>
              </a:rPr>
              <a:t>Industrial printing spreads posters, packaging and newspapers.</a:t>
            </a:r>
            <a:endParaRPr lang="en-US" sz="1500" dirty="0"/>
          </a:p>
        </p:txBody>
      </p:sp>
      <p:sp>
        <p:nvSpPr>
          <p:cNvPr id="11" name="Card Arts and Crafts"/>
          <p:cNvSpPr/>
          <p:nvPr/>
        </p:nvSpPr>
        <p:spPr>
          <a:xfrm>
            <a:off x="8076895" y="1508760"/>
            <a:ext cx="3566160" cy="2103120"/>
          </a:xfrm>
          <a:prstGeom prst="rect">
            <a:avLst/>
          </a:prstGeom>
          <a:solidFill>
            <a:schemeClr val="bg2"/>
          </a:solidFill>
          <a:ln/>
        </p:spPr>
        <p:txBody>
          <a:bodyPr/>
          <a:lstStyle/>
          <a:p>
            <a:endParaRPr lang="en-US"/>
          </a:p>
        </p:txBody>
      </p:sp>
      <p:sp>
        <p:nvSpPr>
          <p:cNvPr id="12" name="Text 10"/>
          <p:cNvSpPr txBox="1"/>
          <p:nvPr/>
        </p:nvSpPr>
        <p:spPr>
          <a:xfrm>
            <a:off x="8351215" y="1737360"/>
            <a:ext cx="3017520" cy="502920"/>
          </a:xfrm>
          <a:prstGeom prst="rect">
            <a:avLst/>
          </a:prstGeom>
          <a:noFill/>
          <a:ln/>
        </p:spPr>
        <p:txBody>
          <a:bodyPr wrap="square" lIns="0" tIns="0" rIns="0" bIns="0" rtlCol="0" anchor="t"/>
          <a:lstStyle/>
          <a:p>
            <a:pPr marL="0" indent="0">
              <a:buNone/>
            </a:pPr>
            <a:r>
              <a:rPr lang="en-US" sz="2800" b="1" dirty="0">
                <a:solidFill>
                  <a:schemeClr val="accent1"/>
                </a:solidFill>
              </a:rPr>
              <a:t>1860s onward</a:t>
            </a:r>
            <a:endParaRPr lang="en-US" sz="2800" dirty="0"/>
          </a:p>
        </p:txBody>
      </p:sp>
      <p:sp>
        <p:nvSpPr>
          <p:cNvPr id="13" name="Text 11"/>
          <p:cNvSpPr txBox="1"/>
          <p:nvPr/>
        </p:nvSpPr>
        <p:spPr>
          <a:xfrm>
            <a:off x="8351215" y="2331720"/>
            <a:ext cx="3017520" cy="365760"/>
          </a:xfrm>
          <a:prstGeom prst="rect">
            <a:avLst/>
          </a:prstGeom>
          <a:noFill/>
          <a:ln/>
        </p:spPr>
        <p:txBody>
          <a:bodyPr wrap="square" lIns="0" tIns="0" rIns="0" bIns="0" rtlCol="0" anchor="t"/>
          <a:lstStyle/>
          <a:p>
            <a:pPr marL="0" indent="0">
              <a:buNone/>
            </a:pPr>
            <a:r>
              <a:rPr lang="en-US" sz="1900" b="1" dirty="0">
                <a:solidFill>
                  <a:schemeClr val="tx1"/>
                </a:solidFill>
              </a:rPr>
              <a:t>Arts and Crafts</a:t>
            </a:r>
            <a:endParaRPr lang="en-US" sz="1900" dirty="0"/>
          </a:p>
        </p:txBody>
      </p:sp>
      <p:sp>
        <p:nvSpPr>
          <p:cNvPr id="14" name="Text 12"/>
          <p:cNvSpPr txBox="1"/>
          <p:nvPr/>
        </p:nvSpPr>
        <p:spPr>
          <a:xfrm>
            <a:off x="8351215" y="2743200"/>
            <a:ext cx="3017520" cy="777240"/>
          </a:xfrm>
          <a:prstGeom prst="rect">
            <a:avLst/>
          </a:prstGeom>
          <a:noFill/>
          <a:ln/>
        </p:spPr>
        <p:txBody>
          <a:bodyPr wrap="square" lIns="0" tIns="0" rIns="0" bIns="0" rtlCol="0" anchor="t"/>
          <a:lstStyle/>
          <a:p>
            <a:pPr marL="0" indent="0">
              <a:buNone/>
            </a:pPr>
            <a:r>
              <a:rPr lang="en-US" sz="1500" dirty="0">
                <a:solidFill>
                  <a:schemeClr val="accent4"/>
                </a:solidFill>
              </a:rPr>
              <a:t>William Morris and others champion craftsmanship over mass production.</a:t>
            </a:r>
            <a:endParaRPr lang="en-US" sz="1500" dirty="0"/>
          </a:p>
        </p:txBody>
      </p:sp>
      <p:sp>
        <p:nvSpPr>
          <p:cNvPr id="15" name="Card Art Nouveau"/>
          <p:cNvSpPr/>
          <p:nvPr/>
        </p:nvSpPr>
        <p:spPr>
          <a:xfrm>
            <a:off x="548640" y="3794760"/>
            <a:ext cx="3566160" cy="2103120"/>
          </a:xfrm>
          <a:prstGeom prst="rect">
            <a:avLst/>
          </a:prstGeom>
          <a:solidFill>
            <a:schemeClr val="bg2"/>
          </a:solidFill>
          <a:ln/>
        </p:spPr>
        <p:txBody>
          <a:bodyPr/>
          <a:lstStyle/>
          <a:p>
            <a:endParaRPr lang="en-US"/>
          </a:p>
        </p:txBody>
      </p:sp>
      <p:sp>
        <p:nvSpPr>
          <p:cNvPr id="16" name="Text 14"/>
          <p:cNvSpPr txBox="1"/>
          <p:nvPr/>
        </p:nvSpPr>
        <p:spPr>
          <a:xfrm>
            <a:off x="822960" y="4023360"/>
            <a:ext cx="3017520" cy="502920"/>
          </a:xfrm>
          <a:prstGeom prst="rect">
            <a:avLst/>
          </a:prstGeom>
          <a:noFill/>
          <a:ln/>
        </p:spPr>
        <p:txBody>
          <a:bodyPr wrap="square" lIns="0" tIns="0" rIns="0" bIns="0" rtlCol="0" anchor="t"/>
          <a:lstStyle/>
          <a:p>
            <a:pPr marL="0" indent="0">
              <a:buNone/>
            </a:pPr>
            <a:r>
              <a:rPr lang="en-US" sz="2800" b="1" dirty="0">
                <a:solidFill>
                  <a:schemeClr val="accent2"/>
                </a:solidFill>
              </a:rPr>
              <a:t>1890s</a:t>
            </a:r>
            <a:endParaRPr lang="en-US" sz="2800" dirty="0"/>
          </a:p>
        </p:txBody>
      </p:sp>
      <p:sp>
        <p:nvSpPr>
          <p:cNvPr id="17" name="Text 15"/>
          <p:cNvSpPr txBox="1"/>
          <p:nvPr/>
        </p:nvSpPr>
        <p:spPr>
          <a:xfrm>
            <a:off x="822960" y="4617720"/>
            <a:ext cx="3017520" cy="365760"/>
          </a:xfrm>
          <a:prstGeom prst="rect">
            <a:avLst/>
          </a:prstGeom>
          <a:noFill/>
          <a:ln/>
        </p:spPr>
        <p:txBody>
          <a:bodyPr wrap="square" lIns="0" tIns="0" rIns="0" bIns="0" rtlCol="0" anchor="t"/>
          <a:lstStyle/>
          <a:p>
            <a:pPr marL="0" indent="0">
              <a:buNone/>
            </a:pPr>
            <a:r>
              <a:rPr lang="en-US" sz="1900" b="1" dirty="0">
                <a:solidFill>
                  <a:schemeClr val="tx1"/>
                </a:solidFill>
              </a:rPr>
              <a:t>Art Nouveau</a:t>
            </a:r>
            <a:endParaRPr lang="en-US" sz="1900" dirty="0"/>
          </a:p>
        </p:txBody>
      </p:sp>
      <p:sp>
        <p:nvSpPr>
          <p:cNvPr id="18" name="Text 16"/>
          <p:cNvSpPr txBox="1"/>
          <p:nvPr/>
        </p:nvSpPr>
        <p:spPr>
          <a:xfrm>
            <a:off x="822960" y="5029200"/>
            <a:ext cx="3017520" cy="777240"/>
          </a:xfrm>
          <a:prstGeom prst="rect">
            <a:avLst/>
          </a:prstGeom>
          <a:noFill/>
          <a:ln/>
        </p:spPr>
        <p:txBody>
          <a:bodyPr wrap="square" lIns="0" tIns="0" rIns="0" bIns="0" rtlCol="0" anchor="t"/>
          <a:lstStyle/>
          <a:p>
            <a:pPr marL="0" indent="0">
              <a:buNone/>
            </a:pPr>
            <a:r>
              <a:rPr lang="en-US" sz="1500" dirty="0">
                <a:solidFill>
                  <a:schemeClr val="accent4"/>
                </a:solidFill>
              </a:rPr>
              <a:t>Flowing lines and organic forms decorate posters and magazines.</a:t>
            </a:r>
            <a:endParaRPr lang="en-US" sz="1500" dirty="0"/>
          </a:p>
        </p:txBody>
      </p:sp>
      <p:sp>
        <p:nvSpPr>
          <p:cNvPr id="19" name="Card Bauhaus"/>
          <p:cNvSpPr/>
          <p:nvPr/>
        </p:nvSpPr>
        <p:spPr>
          <a:xfrm>
            <a:off x="4312768" y="3794760"/>
            <a:ext cx="3566160" cy="2103120"/>
          </a:xfrm>
          <a:prstGeom prst="rect">
            <a:avLst/>
          </a:prstGeom>
          <a:solidFill>
            <a:schemeClr val="bg2"/>
          </a:solidFill>
          <a:ln/>
        </p:spPr>
        <p:txBody>
          <a:bodyPr/>
          <a:lstStyle/>
          <a:p>
            <a:endParaRPr lang="en-US"/>
          </a:p>
        </p:txBody>
      </p:sp>
      <p:sp>
        <p:nvSpPr>
          <p:cNvPr id="20" name="Text 18"/>
          <p:cNvSpPr txBox="1"/>
          <p:nvPr/>
        </p:nvSpPr>
        <p:spPr>
          <a:xfrm>
            <a:off x="4587088" y="4023360"/>
            <a:ext cx="3017520" cy="502920"/>
          </a:xfrm>
          <a:prstGeom prst="rect">
            <a:avLst/>
          </a:prstGeom>
          <a:noFill/>
          <a:ln/>
        </p:spPr>
        <p:txBody>
          <a:bodyPr wrap="square" lIns="0" tIns="0" rIns="0" bIns="0" rtlCol="0" anchor="t"/>
          <a:lstStyle/>
          <a:p>
            <a:pPr marL="0" indent="0">
              <a:buNone/>
            </a:pPr>
            <a:r>
              <a:rPr lang="en-US" sz="2800" b="1" dirty="0">
                <a:solidFill>
                  <a:schemeClr val="accent1"/>
                </a:solidFill>
              </a:rPr>
              <a:t>1919</a:t>
            </a:r>
            <a:endParaRPr lang="en-US" sz="2800" dirty="0"/>
          </a:p>
        </p:txBody>
      </p:sp>
      <p:sp>
        <p:nvSpPr>
          <p:cNvPr id="21" name="Text 19"/>
          <p:cNvSpPr txBox="1"/>
          <p:nvPr/>
        </p:nvSpPr>
        <p:spPr>
          <a:xfrm>
            <a:off x="4587088" y="4617720"/>
            <a:ext cx="3017520" cy="365760"/>
          </a:xfrm>
          <a:prstGeom prst="rect">
            <a:avLst/>
          </a:prstGeom>
          <a:noFill/>
          <a:ln/>
        </p:spPr>
        <p:txBody>
          <a:bodyPr wrap="square" lIns="0" tIns="0" rIns="0" bIns="0" rtlCol="0" anchor="t"/>
          <a:lstStyle/>
          <a:p>
            <a:pPr marL="0" indent="0">
              <a:buNone/>
            </a:pPr>
            <a:r>
              <a:rPr lang="en-US" sz="1900" b="1" dirty="0">
                <a:solidFill>
                  <a:schemeClr val="tx1"/>
                </a:solidFill>
              </a:rPr>
              <a:t>Bauhaus</a:t>
            </a:r>
            <a:endParaRPr lang="en-US" sz="1900" dirty="0"/>
          </a:p>
        </p:txBody>
      </p:sp>
      <p:sp>
        <p:nvSpPr>
          <p:cNvPr id="22" name="Text 20"/>
          <p:cNvSpPr txBox="1"/>
          <p:nvPr/>
        </p:nvSpPr>
        <p:spPr>
          <a:xfrm>
            <a:off x="4587088" y="5029200"/>
            <a:ext cx="3017520" cy="777240"/>
          </a:xfrm>
          <a:prstGeom prst="rect">
            <a:avLst/>
          </a:prstGeom>
          <a:noFill/>
          <a:ln/>
        </p:spPr>
        <p:txBody>
          <a:bodyPr wrap="square" lIns="0" tIns="0" rIns="0" bIns="0" rtlCol="0" anchor="t"/>
          <a:lstStyle/>
          <a:p>
            <a:pPr marL="0" indent="0">
              <a:buNone/>
            </a:pPr>
            <a:r>
              <a:rPr lang="en-US" sz="1500" dirty="0">
                <a:solidFill>
                  <a:schemeClr val="accent4"/>
                </a:solidFill>
              </a:rPr>
              <a:t>Walter Gropius founds a school linking art, craft and industry.</a:t>
            </a:r>
            <a:endParaRPr lang="en-US" sz="1500" dirty="0"/>
          </a:p>
        </p:txBody>
      </p:sp>
      <p:sp>
        <p:nvSpPr>
          <p:cNvPr id="23" name="Card A name for the field"/>
          <p:cNvSpPr/>
          <p:nvPr/>
        </p:nvSpPr>
        <p:spPr>
          <a:xfrm>
            <a:off x="8076895" y="3794760"/>
            <a:ext cx="3566160" cy="2103120"/>
          </a:xfrm>
          <a:prstGeom prst="rect">
            <a:avLst/>
          </a:prstGeom>
          <a:solidFill>
            <a:schemeClr val="bg2"/>
          </a:solidFill>
          <a:ln/>
        </p:spPr>
        <p:txBody>
          <a:bodyPr/>
          <a:lstStyle/>
          <a:p>
            <a:endParaRPr lang="en-US"/>
          </a:p>
        </p:txBody>
      </p:sp>
      <p:sp>
        <p:nvSpPr>
          <p:cNvPr id="24" name="Text 22"/>
          <p:cNvSpPr txBox="1"/>
          <p:nvPr/>
        </p:nvSpPr>
        <p:spPr>
          <a:xfrm>
            <a:off x="8351215" y="4023360"/>
            <a:ext cx="3017520" cy="502920"/>
          </a:xfrm>
          <a:prstGeom prst="rect">
            <a:avLst/>
          </a:prstGeom>
          <a:noFill/>
          <a:ln/>
        </p:spPr>
        <p:txBody>
          <a:bodyPr wrap="square" lIns="0" tIns="0" rIns="0" bIns="0" rtlCol="0" anchor="t"/>
          <a:lstStyle/>
          <a:p>
            <a:pPr marL="0" indent="0">
              <a:buNone/>
            </a:pPr>
            <a:r>
              <a:rPr lang="en-US" sz="2800" b="1" dirty="0">
                <a:solidFill>
                  <a:schemeClr val="accent2"/>
                </a:solidFill>
              </a:rPr>
              <a:t>1922</a:t>
            </a:r>
            <a:endParaRPr lang="en-US" sz="2800" dirty="0"/>
          </a:p>
        </p:txBody>
      </p:sp>
      <p:sp>
        <p:nvSpPr>
          <p:cNvPr id="25" name="Text 23"/>
          <p:cNvSpPr txBox="1"/>
          <p:nvPr/>
        </p:nvSpPr>
        <p:spPr>
          <a:xfrm>
            <a:off x="8351215" y="4617720"/>
            <a:ext cx="3017520" cy="365760"/>
          </a:xfrm>
          <a:prstGeom prst="rect">
            <a:avLst/>
          </a:prstGeom>
          <a:noFill/>
          <a:ln/>
        </p:spPr>
        <p:txBody>
          <a:bodyPr wrap="square" lIns="0" tIns="0" rIns="0" bIns="0" rtlCol="0" anchor="t"/>
          <a:lstStyle/>
          <a:p>
            <a:pPr marL="0" indent="0">
              <a:buNone/>
            </a:pPr>
            <a:r>
              <a:rPr lang="en-US" sz="1900" b="1" dirty="0">
                <a:solidFill>
                  <a:schemeClr val="tx1"/>
                </a:solidFill>
              </a:rPr>
              <a:t>A name for the field</a:t>
            </a:r>
            <a:endParaRPr lang="en-US" sz="1900" dirty="0"/>
          </a:p>
        </p:txBody>
      </p:sp>
      <p:sp>
        <p:nvSpPr>
          <p:cNvPr id="26" name="Text 24"/>
          <p:cNvSpPr txBox="1"/>
          <p:nvPr/>
        </p:nvSpPr>
        <p:spPr>
          <a:xfrm>
            <a:off x="8351215" y="5029200"/>
            <a:ext cx="3017520" cy="777240"/>
          </a:xfrm>
          <a:prstGeom prst="rect">
            <a:avLst/>
          </a:prstGeom>
          <a:noFill/>
          <a:ln/>
        </p:spPr>
        <p:txBody>
          <a:bodyPr wrap="square" lIns="0" tIns="0" rIns="0" bIns="0" rtlCol="0" anchor="t"/>
          <a:lstStyle/>
          <a:p>
            <a:pPr marL="0" indent="0">
              <a:buNone/>
            </a:pPr>
            <a:r>
              <a:rPr lang="en-US" sz="1500" dirty="0">
                <a:solidFill>
                  <a:schemeClr val="accent4"/>
                </a:solidFill>
              </a:rPr>
              <a:t>W. A. Dwiggins is credited with first using the term 'graphic design'.</a:t>
            </a:r>
            <a:endParaRPr lang="en-US" sz="1500" dirty="0"/>
          </a:p>
        </p:txBody>
      </p:sp>
      <p:sp>
        <p:nvSpPr>
          <p:cNvPr id="27"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Modernism and the digital age</a:t>
            </a:r>
            <a:endParaRPr lang="en-US" sz="3600" dirty="0"/>
          </a:p>
        </p:txBody>
      </p:sp>
      <p:sp>
        <p:nvSpPr>
          <p:cNvPr id="3" name="Modernist era header"/>
          <p:cNvSpPr/>
          <p:nvPr/>
        </p:nvSpPr>
        <p:spPr>
          <a:xfrm>
            <a:off x="548640" y="1508760"/>
            <a:ext cx="5394960" cy="548640"/>
          </a:xfrm>
          <a:prstGeom prst="rect">
            <a:avLst/>
          </a:prstGeom>
          <a:solidFill>
            <a:schemeClr val="accent1"/>
          </a:solidFill>
          <a:ln/>
        </p:spPr>
        <p:txBody>
          <a:bodyPr/>
          <a:lstStyle/>
          <a:p>
            <a:endParaRPr lang="en-US"/>
          </a:p>
        </p:txBody>
      </p:sp>
      <p:sp>
        <p:nvSpPr>
          <p:cNvPr id="4" name="Text 2"/>
          <p:cNvSpPr txBox="1"/>
          <p:nvPr/>
        </p:nvSpPr>
        <p:spPr>
          <a:xfrm>
            <a:off x="731520" y="1508760"/>
            <a:ext cx="5029200" cy="548640"/>
          </a:xfrm>
          <a:prstGeom prst="rect">
            <a:avLst/>
          </a:prstGeom>
          <a:noFill/>
          <a:ln/>
        </p:spPr>
        <p:txBody>
          <a:bodyPr wrap="square" lIns="0" tIns="0" rIns="0" bIns="0" rtlCol="0" anchor="ctr"/>
          <a:lstStyle/>
          <a:p>
            <a:pPr marL="0" indent="0">
              <a:buNone/>
            </a:pPr>
            <a:r>
              <a:rPr lang="en-US" sz="2000" b="1" dirty="0">
                <a:solidFill>
                  <a:schemeClr val="bg1"/>
                </a:solidFill>
              </a:rPr>
              <a:t>Modernist era</a:t>
            </a:r>
            <a:endParaRPr lang="en-US" sz="2000" dirty="0"/>
          </a:p>
        </p:txBody>
      </p:sp>
      <p:sp>
        <p:nvSpPr>
          <p:cNvPr id="5" name="Modernist era row 1"/>
          <p:cNvSpPr/>
          <p:nvPr/>
        </p:nvSpPr>
        <p:spPr>
          <a:xfrm>
            <a:off x="548640" y="2194560"/>
            <a:ext cx="5394960" cy="713232"/>
          </a:xfrm>
          <a:prstGeom prst="rect">
            <a:avLst/>
          </a:prstGeom>
          <a:solidFill>
            <a:schemeClr val="bg2"/>
          </a:solidFill>
          <a:ln/>
        </p:spPr>
        <p:txBody>
          <a:bodyPr/>
          <a:lstStyle/>
          <a:p>
            <a:endParaRPr lang="en-US"/>
          </a:p>
        </p:txBody>
      </p:sp>
      <p:sp>
        <p:nvSpPr>
          <p:cNvPr id="6" name="Text 4"/>
          <p:cNvSpPr txBox="1"/>
          <p:nvPr/>
        </p:nvSpPr>
        <p:spPr>
          <a:xfrm>
            <a:off x="731520" y="2194560"/>
            <a:ext cx="1371600" cy="713232"/>
          </a:xfrm>
          <a:prstGeom prst="rect">
            <a:avLst/>
          </a:prstGeom>
          <a:noFill/>
          <a:ln/>
        </p:spPr>
        <p:txBody>
          <a:bodyPr wrap="square" lIns="0" tIns="0" rIns="0" bIns="0" rtlCol="0" anchor="ctr"/>
          <a:lstStyle/>
          <a:p>
            <a:pPr marL="0" indent="0">
              <a:buNone/>
            </a:pPr>
            <a:r>
              <a:rPr lang="en-US" sz="1600" b="1" dirty="0">
                <a:solidFill>
                  <a:schemeClr val="accent1"/>
                </a:solidFill>
              </a:rPr>
              <a:t>1950s</a:t>
            </a:r>
            <a:endParaRPr lang="en-US" sz="1600" dirty="0"/>
          </a:p>
        </p:txBody>
      </p:sp>
      <p:sp>
        <p:nvSpPr>
          <p:cNvPr id="7" name="Text 5"/>
          <p:cNvSpPr txBox="1"/>
          <p:nvPr/>
        </p:nvSpPr>
        <p:spPr>
          <a:xfrm>
            <a:off x="2148840" y="2194560"/>
            <a:ext cx="3611880" cy="713232"/>
          </a:xfrm>
          <a:prstGeom prst="rect">
            <a:avLst/>
          </a:prstGeom>
          <a:noFill/>
          <a:ln/>
        </p:spPr>
        <p:txBody>
          <a:bodyPr wrap="square" lIns="0" tIns="0" rIns="0" bIns="0" rtlCol="0" anchor="ctr"/>
          <a:lstStyle/>
          <a:p>
            <a:pPr marL="0" indent="0">
              <a:buNone/>
            </a:pPr>
            <a:r>
              <a:rPr lang="en-US" sz="1500" dirty="0">
                <a:solidFill>
                  <a:schemeClr val="tx1"/>
                </a:solidFill>
              </a:rPr>
              <a:t>Swiss (International) Style: grids, sans-serif type, clarity</a:t>
            </a:r>
            <a:endParaRPr lang="en-US" sz="1500" dirty="0"/>
          </a:p>
        </p:txBody>
      </p:sp>
      <p:sp>
        <p:nvSpPr>
          <p:cNvPr id="8" name="Modernist era row 2"/>
          <p:cNvSpPr/>
          <p:nvPr/>
        </p:nvSpPr>
        <p:spPr>
          <a:xfrm>
            <a:off x="548640" y="2999232"/>
            <a:ext cx="5394960" cy="713232"/>
          </a:xfrm>
          <a:prstGeom prst="rect">
            <a:avLst/>
          </a:prstGeom>
          <a:solidFill>
            <a:schemeClr val="bg2"/>
          </a:solidFill>
          <a:ln/>
        </p:spPr>
        <p:txBody>
          <a:bodyPr/>
          <a:lstStyle/>
          <a:p>
            <a:endParaRPr lang="en-US"/>
          </a:p>
        </p:txBody>
      </p:sp>
      <p:sp>
        <p:nvSpPr>
          <p:cNvPr id="9" name="Text 7"/>
          <p:cNvSpPr txBox="1"/>
          <p:nvPr/>
        </p:nvSpPr>
        <p:spPr>
          <a:xfrm>
            <a:off x="731520" y="2999232"/>
            <a:ext cx="1371600" cy="713232"/>
          </a:xfrm>
          <a:prstGeom prst="rect">
            <a:avLst/>
          </a:prstGeom>
          <a:noFill/>
          <a:ln/>
        </p:spPr>
        <p:txBody>
          <a:bodyPr wrap="square" lIns="0" tIns="0" rIns="0" bIns="0" rtlCol="0" anchor="ctr"/>
          <a:lstStyle/>
          <a:p>
            <a:pPr marL="0" indent="0">
              <a:buNone/>
            </a:pPr>
            <a:r>
              <a:rPr lang="en-US" sz="1600" b="1" dirty="0">
                <a:solidFill>
                  <a:schemeClr val="accent1"/>
                </a:solidFill>
              </a:rPr>
              <a:t>1957</a:t>
            </a:r>
            <a:endParaRPr lang="en-US" sz="1600" dirty="0"/>
          </a:p>
        </p:txBody>
      </p:sp>
      <p:sp>
        <p:nvSpPr>
          <p:cNvPr id="10" name="Text 8"/>
          <p:cNvSpPr txBox="1"/>
          <p:nvPr/>
        </p:nvSpPr>
        <p:spPr>
          <a:xfrm>
            <a:off x="2148840" y="2999232"/>
            <a:ext cx="3611880" cy="713232"/>
          </a:xfrm>
          <a:prstGeom prst="rect">
            <a:avLst/>
          </a:prstGeom>
          <a:noFill/>
          <a:ln/>
        </p:spPr>
        <p:txBody>
          <a:bodyPr wrap="square" lIns="0" tIns="0" rIns="0" bIns="0" rtlCol="0" anchor="ctr"/>
          <a:lstStyle/>
          <a:p>
            <a:pPr marL="0" indent="0">
              <a:buNone/>
            </a:pPr>
            <a:r>
              <a:rPr lang="en-US" sz="1500" dirty="0">
                <a:solidFill>
                  <a:schemeClr val="tx1"/>
                </a:solidFill>
              </a:rPr>
              <a:t>The Helvetica typeface is released</a:t>
            </a:r>
            <a:endParaRPr lang="en-US" sz="1500" dirty="0"/>
          </a:p>
        </p:txBody>
      </p:sp>
      <p:sp>
        <p:nvSpPr>
          <p:cNvPr id="11" name="Modernist era row 3"/>
          <p:cNvSpPr/>
          <p:nvPr/>
        </p:nvSpPr>
        <p:spPr>
          <a:xfrm>
            <a:off x="548640" y="3803904"/>
            <a:ext cx="5394960" cy="713232"/>
          </a:xfrm>
          <a:prstGeom prst="rect">
            <a:avLst/>
          </a:prstGeom>
          <a:solidFill>
            <a:schemeClr val="bg2"/>
          </a:solidFill>
          <a:ln/>
        </p:spPr>
        <p:txBody>
          <a:bodyPr/>
          <a:lstStyle/>
          <a:p>
            <a:endParaRPr lang="en-US"/>
          </a:p>
        </p:txBody>
      </p:sp>
      <p:sp>
        <p:nvSpPr>
          <p:cNvPr id="12" name="Text 10"/>
          <p:cNvSpPr txBox="1"/>
          <p:nvPr/>
        </p:nvSpPr>
        <p:spPr>
          <a:xfrm>
            <a:off x="731520" y="3803904"/>
            <a:ext cx="1371600" cy="713232"/>
          </a:xfrm>
          <a:prstGeom prst="rect">
            <a:avLst/>
          </a:prstGeom>
          <a:noFill/>
          <a:ln/>
        </p:spPr>
        <p:txBody>
          <a:bodyPr wrap="square" lIns="0" tIns="0" rIns="0" bIns="0" rtlCol="0" anchor="ctr"/>
          <a:lstStyle/>
          <a:p>
            <a:pPr marL="0" indent="0">
              <a:buNone/>
            </a:pPr>
            <a:r>
              <a:rPr lang="en-US" sz="1600" b="1" dirty="0">
                <a:solidFill>
                  <a:schemeClr val="accent1"/>
                </a:solidFill>
              </a:rPr>
              <a:t>1960s-70s</a:t>
            </a:r>
            <a:endParaRPr lang="en-US" sz="1600" dirty="0"/>
          </a:p>
        </p:txBody>
      </p:sp>
      <p:sp>
        <p:nvSpPr>
          <p:cNvPr id="13" name="Text 11"/>
          <p:cNvSpPr txBox="1"/>
          <p:nvPr/>
        </p:nvSpPr>
        <p:spPr>
          <a:xfrm>
            <a:off x="2148840" y="3803904"/>
            <a:ext cx="3611880" cy="713232"/>
          </a:xfrm>
          <a:prstGeom prst="rect">
            <a:avLst/>
          </a:prstGeom>
          <a:noFill/>
          <a:ln/>
        </p:spPr>
        <p:txBody>
          <a:bodyPr wrap="square" lIns="0" tIns="0" rIns="0" bIns="0" rtlCol="0" anchor="ctr"/>
          <a:lstStyle/>
          <a:p>
            <a:pPr marL="0" indent="0">
              <a:buNone/>
            </a:pPr>
            <a:r>
              <a:rPr lang="en-US" sz="1500" dirty="0">
                <a:solidFill>
                  <a:schemeClr val="tx1"/>
                </a:solidFill>
              </a:rPr>
              <a:t>Pop and counterculture posters challenge the rules</a:t>
            </a:r>
            <a:endParaRPr lang="en-US" sz="1500" dirty="0"/>
          </a:p>
        </p:txBody>
      </p:sp>
      <p:sp>
        <p:nvSpPr>
          <p:cNvPr id="14" name="Modernist era row 4"/>
          <p:cNvSpPr/>
          <p:nvPr/>
        </p:nvSpPr>
        <p:spPr>
          <a:xfrm>
            <a:off x="548640" y="4608576"/>
            <a:ext cx="5394960" cy="713232"/>
          </a:xfrm>
          <a:prstGeom prst="rect">
            <a:avLst/>
          </a:prstGeom>
          <a:solidFill>
            <a:schemeClr val="bg2"/>
          </a:solidFill>
          <a:ln/>
        </p:spPr>
        <p:txBody>
          <a:bodyPr/>
          <a:lstStyle/>
          <a:p>
            <a:endParaRPr lang="en-US"/>
          </a:p>
        </p:txBody>
      </p:sp>
      <p:sp>
        <p:nvSpPr>
          <p:cNvPr id="15" name="Text 13"/>
          <p:cNvSpPr txBox="1"/>
          <p:nvPr/>
        </p:nvSpPr>
        <p:spPr>
          <a:xfrm>
            <a:off x="731520" y="4608576"/>
            <a:ext cx="1371600" cy="713232"/>
          </a:xfrm>
          <a:prstGeom prst="rect">
            <a:avLst/>
          </a:prstGeom>
          <a:noFill/>
          <a:ln/>
        </p:spPr>
        <p:txBody>
          <a:bodyPr wrap="square" lIns="0" tIns="0" rIns="0" bIns="0" rtlCol="0" anchor="ctr"/>
          <a:lstStyle/>
          <a:p>
            <a:pPr marL="0" indent="0">
              <a:buNone/>
            </a:pPr>
            <a:r>
              <a:rPr lang="en-US" sz="1600" b="1" dirty="0">
                <a:solidFill>
                  <a:schemeClr val="accent1"/>
                </a:solidFill>
              </a:rPr>
              <a:t>1970s-90s</a:t>
            </a:r>
            <a:endParaRPr lang="en-US" sz="1600" dirty="0"/>
          </a:p>
        </p:txBody>
      </p:sp>
      <p:sp>
        <p:nvSpPr>
          <p:cNvPr id="16" name="Text 14"/>
          <p:cNvSpPr txBox="1"/>
          <p:nvPr/>
        </p:nvSpPr>
        <p:spPr>
          <a:xfrm>
            <a:off x="2148840" y="4608576"/>
            <a:ext cx="3611880" cy="713232"/>
          </a:xfrm>
          <a:prstGeom prst="rect">
            <a:avLst/>
          </a:prstGeom>
          <a:noFill/>
          <a:ln/>
        </p:spPr>
        <p:txBody>
          <a:bodyPr wrap="square" lIns="0" tIns="0" rIns="0" bIns="0" rtlCol="0" anchor="ctr"/>
          <a:lstStyle/>
          <a:p>
            <a:pPr marL="0" indent="0">
              <a:buNone/>
            </a:pPr>
            <a:r>
              <a:rPr lang="en-US" sz="1500" dirty="0">
                <a:solidFill>
                  <a:schemeClr val="tx1"/>
                </a:solidFill>
              </a:rPr>
              <a:t>Postmodern designers layer, mix and break conventions</a:t>
            </a:r>
            <a:endParaRPr lang="en-US" sz="1500" dirty="0"/>
          </a:p>
        </p:txBody>
      </p:sp>
      <p:sp>
        <p:nvSpPr>
          <p:cNvPr id="17" name="Digital era header"/>
          <p:cNvSpPr/>
          <p:nvPr/>
        </p:nvSpPr>
        <p:spPr>
          <a:xfrm>
            <a:off x="6248095" y="1508760"/>
            <a:ext cx="5394960" cy="548640"/>
          </a:xfrm>
          <a:prstGeom prst="rect">
            <a:avLst/>
          </a:prstGeom>
          <a:solidFill>
            <a:schemeClr val="accent2"/>
          </a:solidFill>
          <a:ln/>
        </p:spPr>
        <p:txBody>
          <a:bodyPr/>
          <a:lstStyle/>
          <a:p>
            <a:endParaRPr lang="en-US"/>
          </a:p>
        </p:txBody>
      </p:sp>
      <p:sp>
        <p:nvSpPr>
          <p:cNvPr id="18" name="Text 16"/>
          <p:cNvSpPr txBox="1"/>
          <p:nvPr/>
        </p:nvSpPr>
        <p:spPr>
          <a:xfrm>
            <a:off x="6430975" y="1508760"/>
            <a:ext cx="5029200" cy="548640"/>
          </a:xfrm>
          <a:prstGeom prst="rect">
            <a:avLst/>
          </a:prstGeom>
          <a:noFill/>
          <a:ln/>
        </p:spPr>
        <p:txBody>
          <a:bodyPr wrap="square" lIns="0" tIns="0" rIns="0" bIns="0" rtlCol="0" anchor="ctr"/>
          <a:lstStyle/>
          <a:p>
            <a:pPr marL="0" indent="0">
              <a:buNone/>
            </a:pPr>
            <a:r>
              <a:rPr lang="en-US" sz="2000" b="1" dirty="0">
                <a:solidFill>
                  <a:schemeClr val="bg1"/>
                </a:solidFill>
              </a:rPr>
              <a:t>Digital era</a:t>
            </a:r>
            <a:endParaRPr lang="en-US" sz="2000" dirty="0"/>
          </a:p>
        </p:txBody>
      </p:sp>
      <p:sp>
        <p:nvSpPr>
          <p:cNvPr id="19" name="Digital era row 1"/>
          <p:cNvSpPr/>
          <p:nvPr/>
        </p:nvSpPr>
        <p:spPr>
          <a:xfrm>
            <a:off x="6248095" y="2194560"/>
            <a:ext cx="5394960" cy="713232"/>
          </a:xfrm>
          <a:prstGeom prst="rect">
            <a:avLst/>
          </a:prstGeom>
          <a:solidFill>
            <a:schemeClr val="bg2"/>
          </a:solidFill>
          <a:ln/>
        </p:spPr>
        <p:txBody>
          <a:bodyPr/>
          <a:lstStyle/>
          <a:p>
            <a:endParaRPr lang="en-US"/>
          </a:p>
        </p:txBody>
      </p:sp>
      <p:sp>
        <p:nvSpPr>
          <p:cNvPr id="20" name="Text 18"/>
          <p:cNvSpPr txBox="1"/>
          <p:nvPr/>
        </p:nvSpPr>
        <p:spPr>
          <a:xfrm>
            <a:off x="6430975" y="2194560"/>
            <a:ext cx="1371600" cy="713232"/>
          </a:xfrm>
          <a:prstGeom prst="rect">
            <a:avLst/>
          </a:prstGeom>
          <a:noFill/>
          <a:ln/>
        </p:spPr>
        <p:txBody>
          <a:bodyPr wrap="square" lIns="0" tIns="0" rIns="0" bIns="0" rtlCol="0" anchor="ctr"/>
          <a:lstStyle/>
          <a:p>
            <a:pPr marL="0" indent="0">
              <a:buNone/>
            </a:pPr>
            <a:r>
              <a:rPr lang="en-US" sz="1600" b="1" dirty="0">
                <a:solidFill>
                  <a:schemeClr val="accent2"/>
                </a:solidFill>
              </a:rPr>
              <a:t>1984</a:t>
            </a:r>
            <a:endParaRPr lang="en-US" sz="1600" dirty="0"/>
          </a:p>
        </p:txBody>
      </p:sp>
      <p:sp>
        <p:nvSpPr>
          <p:cNvPr id="21" name="Text 19"/>
          <p:cNvSpPr txBox="1"/>
          <p:nvPr/>
        </p:nvSpPr>
        <p:spPr>
          <a:xfrm>
            <a:off x="7848295" y="2194560"/>
            <a:ext cx="3611880" cy="713232"/>
          </a:xfrm>
          <a:prstGeom prst="rect">
            <a:avLst/>
          </a:prstGeom>
          <a:noFill/>
          <a:ln/>
        </p:spPr>
        <p:txBody>
          <a:bodyPr wrap="square" lIns="0" tIns="0" rIns="0" bIns="0" rtlCol="0" anchor="ctr"/>
          <a:lstStyle/>
          <a:p>
            <a:pPr marL="0" indent="0">
              <a:buNone/>
            </a:pPr>
            <a:r>
              <a:rPr lang="en-US" sz="1500" dirty="0">
                <a:solidFill>
                  <a:schemeClr val="tx1"/>
                </a:solidFill>
              </a:rPr>
              <a:t>The Macintosh brings graphical computing to designers</a:t>
            </a:r>
            <a:endParaRPr lang="en-US" sz="1500" dirty="0"/>
          </a:p>
        </p:txBody>
      </p:sp>
      <p:sp>
        <p:nvSpPr>
          <p:cNvPr id="22" name="Digital era row 2"/>
          <p:cNvSpPr/>
          <p:nvPr/>
        </p:nvSpPr>
        <p:spPr>
          <a:xfrm>
            <a:off x="6248095" y="2999232"/>
            <a:ext cx="5394960" cy="713232"/>
          </a:xfrm>
          <a:prstGeom prst="rect">
            <a:avLst/>
          </a:prstGeom>
          <a:solidFill>
            <a:schemeClr val="bg2"/>
          </a:solidFill>
          <a:ln/>
        </p:spPr>
        <p:txBody>
          <a:bodyPr/>
          <a:lstStyle/>
          <a:p>
            <a:endParaRPr lang="en-US"/>
          </a:p>
        </p:txBody>
      </p:sp>
      <p:sp>
        <p:nvSpPr>
          <p:cNvPr id="23" name="Text 21"/>
          <p:cNvSpPr txBox="1"/>
          <p:nvPr/>
        </p:nvSpPr>
        <p:spPr>
          <a:xfrm>
            <a:off x="6430975" y="2999232"/>
            <a:ext cx="1371600" cy="713232"/>
          </a:xfrm>
          <a:prstGeom prst="rect">
            <a:avLst/>
          </a:prstGeom>
          <a:noFill/>
          <a:ln/>
        </p:spPr>
        <p:txBody>
          <a:bodyPr wrap="square" lIns="0" tIns="0" rIns="0" bIns="0" rtlCol="0" anchor="ctr"/>
          <a:lstStyle/>
          <a:p>
            <a:pPr marL="0" indent="0">
              <a:buNone/>
            </a:pPr>
            <a:r>
              <a:rPr lang="en-US" sz="1600" b="1" dirty="0">
                <a:solidFill>
                  <a:schemeClr val="accent2"/>
                </a:solidFill>
              </a:rPr>
              <a:t>1985-1990</a:t>
            </a:r>
            <a:endParaRPr lang="en-US" sz="1600" dirty="0"/>
          </a:p>
        </p:txBody>
      </p:sp>
      <p:sp>
        <p:nvSpPr>
          <p:cNvPr id="24" name="Text 22"/>
          <p:cNvSpPr txBox="1"/>
          <p:nvPr/>
        </p:nvSpPr>
        <p:spPr>
          <a:xfrm>
            <a:off x="7848295" y="2999232"/>
            <a:ext cx="3611880" cy="713232"/>
          </a:xfrm>
          <a:prstGeom prst="rect">
            <a:avLst/>
          </a:prstGeom>
          <a:noFill/>
          <a:ln/>
        </p:spPr>
        <p:txBody>
          <a:bodyPr wrap="square" lIns="0" tIns="0" rIns="0" bIns="0" rtlCol="0" anchor="ctr"/>
          <a:lstStyle/>
          <a:p>
            <a:pPr marL="0" indent="0">
              <a:buNone/>
            </a:pPr>
            <a:r>
              <a:rPr lang="en-US" sz="1500" dirty="0">
                <a:solidFill>
                  <a:schemeClr val="tx1"/>
                </a:solidFill>
              </a:rPr>
              <a:t>PageMaker, Illustrator and Photoshop arrive</a:t>
            </a:r>
            <a:endParaRPr lang="en-US" sz="1500" dirty="0"/>
          </a:p>
        </p:txBody>
      </p:sp>
      <p:sp>
        <p:nvSpPr>
          <p:cNvPr id="25" name="Digital era row 3"/>
          <p:cNvSpPr/>
          <p:nvPr/>
        </p:nvSpPr>
        <p:spPr>
          <a:xfrm>
            <a:off x="6248095" y="3803904"/>
            <a:ext cx="5394960" cy="713232"/>
          </a:xfrm>
          <a:prstGeom prst="rect">
            <a:avLst/>
          </a:prstGeom>
          <a:solidFill>
            <a:schemeClr val="bg2"/>
          </a:solidFill>
          <a:ln/>
        </p:spPr>
        <p:txBody>
          <a:bodyPr/>
          <a:lstStyle/>
          <a:p>
            <a:endParaRPr lang="en-US"/>
          </a:p>
        </p:txBody>
      </p:sp>
      <p:sp>
        <p:nvSpPr>
          <p:cNvPr id="26" name="Text 24"/>
          <p:cNvSpPr txBox="1"/>
          <p:nvPr/>
        </p:nvSpPr>
        <p:spPr>
          <a:xfrm>
            <a:off x="6430975" y="3803904"/>
            <a:ext cx="1371600" cy="713232"/>
          </a:xfrm>
          <a:prstGeom prst="rect">
            <a:avLst/>
          </a:prstGeom>
          <a:noFill/>
          <a:ln/>
        </p:spPr>
        <p:txBody>
          <a:bodyPr wrap="square" lIns="0" tIns="0" rIns="0" bIns="0" rtlCol="0" anchor="ctr"/>
          <a:lstStyle/>
          <a:p>
            <a:pPr marL="0" indent="0">
              <a:buNone/>
            </a:pPr>
            <a:r>
              <a:rPr lang="en-US" sz="1600" b="1" dirty="0">
                <a:solidFill>
                  <a:schemeClr val="accent2"/>
                </a:solidFill>
              </a:rPr>
              <a:t>1990s</a:t>
            </a:r>
            <a:endParaRPr lang="en-US" sz="1600" dirty="0"/>
          </a:p>
        </p:txBody>
      </p:sp>
      <p:sp>
        <p:nvSpPr>
          <p:cNvPr id="27" name="Text 25"/>
          <p:cNvSpPr txBox="1"/>
          <p:nvPr/>
        </p:nvSpPr>
        <p:spPr>
          <a:xfrm>
            <a:off x="7848295" y="3803904"/>
            <a:ext cx="3611880" cy="713232"/>
          </a:xfrm>
          <a:prstGeom prst="rect">
            <a:avLst/>
          </a:prstGeom>
          <a:noFill/>
          <a:ln/>
        </p:spPr>
        <p:txBody>
          <a:bodyPr wrap="square" lIns="0" tIns="0" rIns="0" bIns="0" rtlCol="0" anchor="ctr"/>
          <a:lstStyle/>
          <a:p>
            <a:pPr marL="0" indent="0">
              <a:buNone/>
            </a:pPr>
            <a:r>
              <a:rPr lang="en-US" sz="1500" dirty="0">
                <a:solidFill>
                  <a:schemeClr val="tx1"/>
                </a:solidFill>
              </a:rPr>
              <a:t>The web creates screen-based graphic design</a:t>
            </a:r>
            <a:endParaRPr lang="en-US" sz="1500" dirty="0"/>
          </a:p>
        </p:txBody>
      </p:sp>
      <p:sp>
        <p:nvSpPr>
          <p:cNvPr id="28" name="Digital era row 4"/>
          <p:cNvSpPr/>
          <p:nvPr/>
        </p:nvSpPr>
        <p:spPr>
          <a:xfrm>
            <a:off x="6248095" y="4608576"/>
            <a:ext cx="5394960" cy="713232"/>
          </a:xfrm>
          <a:prstGeom prst="rect">
            <a:avLst/>
          </a:prstGeom>
          <a:solidFill>
            <a:schemeClr val="bg2"/>
          </a:solidFill>
          <a:ln/>
        </p:spPr>
        <p:txBody>
          <a:bodyPr/>
          <a:lstStyle/>
          <a:p>
            <a:endParaRPr lang="en-US"/>
          </a:p>
        </p:txBody>
      </p:sp>
      <p:sp>
        <p:nvSpPr>
          <p:cNvPr id="29" name="Text 27"/>
          <p:cNvSpPr txBox="1"/>
          <p:nvPr/>
        </p:nvSpPr>
        <p:spPr>
          <a:xfrm>
            <a:off x="6430975" y="4608576"/>
            <a:ext cx="1371600" cy="713232"/>
          </a:xfrm>
          <a:prstGeom prst="rect">
            <a:avLst/>
          </a:prstGeom>
          <a:noFill/>
          <a:ln/>
        </p:spPr>
        <p:txBody>
          <a:bodyPr wrap="square" lIns="0" tIns="0" rIns="0" bIns="0" rtlCol="0" anchor="ctr"/>
          <a:lstStyle/>
          <a:p>
            <a:pPr marL="0" indent="0">
              <a:buNone/>
            </a:pPr>
            <a:r>
              <a:rPr lang="en-US" sz="1600" b="1" dirty="0">
                <a:solidFill>
                  <a:schemeClr val="accent2"/>
                </a:solidFill>
              </a:rPr>
              <a:t>2007 onward</a:t>
            </a:r>
            <a:endParaRPr lang="en-US" sz="1600" dirty="0"/>
          </a:p>
        </p:txBody>
      </p:sp>
      <p:sp>
        <p:nvSpPr>
          <p:cNvPr id="30" name="Text 28"/>
          <p:cNvSpPr txBox="1"/>
          <p:nvPr/>
        </p:nvSpPr>
        <p:spPr>
          <a:xfrm>
            <a:off x="7848295" y="4608576"/>
            <a:ext cx="3611880" cy="713232"/>
          </a:xfrm>
          <a:prstGeom prst="rect">
            <a:avLst/>
          </a:prstGeom>
          <a:noFill/>
          <a:ln/>
        </p:spPr>
        <p:txBody>
          <a:bodyPr wrap="square" lIns="0" tIns="0" rIns="0" bIns="0" rtlCol="0" anchor="ctr"/>
          <a:lstStyle/>
          <a:p>
            <a:pPr marL="0" indent="0">
              <a:buNone/>
            </a:pPr>
            <a:r>
              <a:rPr lang="en-US" sz="1500" dirty="0">
                <a:solidFill>
                  <a:schemeClr val="tx1"/>
                </a:solidFill>
              </a:rPr>
              <a:t>Smartphones and apps make interface design central</a:t>
            </a:r>
            <a:endParaRPr lang="en-US" sz="1500" dirty="0"/>
          </a:p>
        </p:txBody>
      </p:sp>
      <p:sp>
        <p:nvSpPr>
          <p:cNvPr id="31" name="Digital era row 5"/>
          <p:cNvSpPr/>
          <p:nvPr/>
        </p:nvSpPr>
        <p:spPr>
          <a:xfrm>
            <a:off x="6248095" y="5413248"/>
            <a:ext cx="5394960" cy="713232"/>
          </a:xfrm>
          <a:prstGeom prst="rect">
            <a:avLst/>
          </a:prstGeom>
          <a:solidFill>
            <a:schemeClr val="bg2"/>
          </a:solidFill>
          <a:ln/>
        </p:spPr>
        <p:txBody>
          <a:bodyPr/>
          <a:lstStyle/>
          <a:p>
            <a:endParaRPr lang="en-US"/>
          </a:p>
        </p:txBody>
      </p:sp>
      <p:sp>
        <p:nvSpPr>
          <p:cNvPr id="32" name="Text 30"/>
          <p:cNvSpPr txBox="1"/>
          <p:nvPr/>
        </p:nvSpPr>
        <p:spPr>
          <a:xfrm>
            <a:off x="6430975" y="5413248"/>
            <a:ext cx="1371600" cy="713232"/>
          </a:xfrm>
          <a:prstGeom prst="rect">
            <a:avLst/>
          </a:prstGeom>
          <a:noFill/>
          <a:ln/>
        </p:spPr>
        <p:txBody>
          <a:bodyPr wrap="square" lIns="0" tIns="0" rIns="0" bIns="0" rtlCol="0" anchor="ctr"/>
          <a:lstStyle/>
          <a:p>
            <a:pPr marL="0" indent="0">
              <a:buNone/>
            </a:pPr>
            <a:r>
              <a:rPr lang="en-US" sz="1600" b="1" dirty="0">
                <a:solidFill>
                  <a:schemeClr val="accent2"/>
                </a:solidFill>
              </a:rPr>
              <a:t>Today</a:t>
            </a:r>
            <a:endParaRPr lang="en-US" sz="1600" dirty="0"/>
          </a:p>
        </p:txBody>
      </p:sp>
      <p:sp>
        <p:nvSpPr>
          <p:cNvPr id="33" name="Text 31"/>
          <p:cNvSpPr txBox="1"/>
          <p:nvPr/>
        </p:nvSpPr>
        <p:spPr>
          <a:xfrm>
            <a:off x="7848295" y="5413248"/>
            <a:ext cx="3611880" cy="713232"/>
          </a:xfrm>
          <a:prstGeom prst="rect">
            <a:avLst/>
          </a:prstGeom>
          <a:noFill/>
          <a:ln/>
        </p:spPr>
        <p:txBody>
          <a:bodyPr wrap="square" lIns="0" tIns="0" rIns="0" bIns="0" rtlCol="0" anchor="ctr"/>
          <a:lstStyle/>
          <a:p>
            <a:pPr marL="0" indent="0">
              <a:buNone/>
            </a:pPr>
            <a:r>
              <a:rPr lang="en-US" sz="1500" dirty="0">
                <a:solidFill>
                  <a:schemeClr val="tx1"/>
                </a:solidFill>
              </a:rPr>
              <a:t>Design systems, motion and generative tools</a:t>
            </a:r>
            <a:endParaRPr lang="en-US" sz="1500" dirty="0"/>
          </a:p>
        </p:txBody>
      </p:sp>
      <p:sp>
        <p:nvSpPr>
          <p:cNvPr id="34"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Key design movements at a glance</a:t>
            </a:r>
            <a:endParaRPr lang="en-US" sz="3600" dirty="0"/>
          </a:p>
        </p:txBody>
      </p:sp>
      <p:graphicFrame>
        <p:nvGraphicFramePr>
          <p:cNvPr id="10" name="Movements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2860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687775">
                  <a:extLst>
                    <a:ext uri="{9D8B030D-6E8A-4147-A177-3AD203B41FA5}">
                      <a16:colId xmlns:a16="http://schemas.microsoft.com/office/drawing/2014/main" val="20003"/>
                    </a:ext>
                  </a:extLst>
                </a:gridCol>
              </a:tblGrid>
              <a:tr h="502920">
                <a:tc>
                  <a:txBody>
                    <a:bodyPr/>
                    <a:lstStyle/>
                    <a:p>
                      <a:pPr marL="0" indent="0">
                        <a:buNone/>
                      </a:pPr>
                      <a:r>
                        <a:rPr lang="en-US" sz="1600" b="1" dirty="0">
                          <a:solidFill>
                            <a:schemeClr val="bg1"/>
                          </a:solidFill>
                        </a:rPr>
                        <a:t>Movement</a:t>
                      </a:r>
                      <a:endParaRPr lang="en-US" sz="16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Period</a:t>
                      </a:r>
                      <a:endParaRPr lang="en-US" sz="16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Known for</a:t>
                      </a:r>
                      <a:endParaRPr lang="en-US" sz="16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Typical look</a:t>
                      </a:r>
                      <a:endParaRPr lang="en-US" sz="16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40080">
                <a:tc>
                  <a:txBody>
                    <a:bodyPr/>
                    <a:lstStyle/>
                    <a:p>
                      <a:pPr marL="0" indent="0">
                        <a:buNone/>
                      </a:pPr>
                      <a:r>
                        <a:rPr lang="en-US" sz="1500" b="1" dirty="0">
                          <a:solidFill>
                            <a:schemeClr val="tx1"/>
                          </a:solidFill>
                        </a:rPr>
                        <a:t>Arts and Crafts</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c. 1860s-1900s</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Craftsmanship against mass production</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Hand-drawn ornament, natural motifs</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40080">
                <a:tc>
                  <a:txBody>
                    <a:bodyPr/>
                    <a:lstStyle/>
                    <a:p>
                      <a:pPr marL="0" indent="0">
                        <a:buNone/>
                      </a:pPr>
                      <a:r>
                        <a:rPr lang="en-US" sz="1500" b="1" dirty="0">
                          <a:solidFill>
                            <a:schemeClr val="tx1"/>
                          </a:solidFill>
                        </a:rPr>
                        <a:t>Art Nouveau</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c. 1890-1910</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A unified decorative style</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Flowing curves, organic forms</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40080">
                <a:tc>
                  <a:txBody>
                    <a:bodyPr/>
                    <a:lstStyle/>
                    <a:p>
                      <a:pPr marL="0" indent="0">
                        <a:buNone/>
                      </a:pPr>
                      <a:r>
                        <a:rPr lang="en-US" sz="1500" b="1" dirty="0">
                          <a:solidFill>
                            <a:schemeClr val="tx1"/>
                          </a:solidFill>
                        </a:rPr>
                        <a:t>Bauhaus</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1919-1933</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Form follows function</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Geometric shapes, primary colors, sans-serif type</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40080">
                <a:tc>
                  <a:txBody>
                    <a:bodyPr/>
                    <a:lstStyle/>
                    <a:p>
                      <a:pPr marL="0" indent="0">
                        <a:buNone/>
                      </a:pPr>
                      <a:r>
                        <a:rPr lang="en-US" sz="1500" b="1" dirty="0">
                          <a:solidFill>
                            <a:schemeClr val="tx1"/>
                          </a:solidFill>
                        </a:rPr>
                        <a:t>Swiss Style</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1950s-1960s</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Objective clarity</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Grids, asymmetric layouts, neutral sans-serif type</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40080">
                <a:tc>
                  <a:txBody>
                    <a:bodyPr/>
                    <a:lstStyle/>
                    <a:p>
                      <a:pPr marL="0" indent="0">
                        <a:buNone/>
                      </a:pPr>
                      <a:r>
                        <a:rPr lang="en-US" sz="1500" b="1" dirty="0">
                          <a:solidFill>
                            <a:schemeClr val="tx1"/>
                          </a:solidFill>
                        </a:rPr>
                        <a:t>Postmodernism</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1970s-1990s</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Questioning the rules</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Layering, playful type, mixed styles</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4" name="Discussion panel"/>
          <p:cNvSpPr/>
          <p:nvPr/>
        </p:nvSpPr>
        <p:spPr>
          <a:xfrm>
            <a:off x="548640" y="5486400"/>
            <a:ext cx="11094415" cy="640080"/>
          </a:xfrm>
          <a:prstGeom prst="rect">
            <a:avLst/>
          </a:prstGeom>
          <a:solidFill>
            <a:schemeClr val="bg2"/>
          </a:solidFill>
          <a:ln/>
        </p:spPr>
        <p:txBody>
          <a:bodyPr/>
          <a:lstStyle/>
          <a:p>
            <a:endParaRPr lang="en-US"/>
          </a:p>
        </p:txBody>
      </p:sp>
      <p:sp>
        <p:nvSpPr>
          <p:cNvPr id="5" name="Discussion marker"/>
          <p:cNvSpPr/>
          <p:nvPr/>
        </p:nvSpPr>
        <p:spPr>
          <a:xfrm>
            <a:off x="777240" y="5600700"/>
            <a:ext cx="411480" cy="411480"/>
          </a:xfrm>
          <a:prstGeom prst="ellipse">
            <a:avLst/>
          </a:prstGeom>
          <a:solidFill>
            <a:schemeClr val="accent3"/>
          </a:solidFill>
          <a:ln/>
        </p:spPr>
        <p:txBody>
          <a:bodyPr/>
          <a:lstStyle/>
          <a:p>
            <a:endParaRPr lang="en-US"/>
          </a:p>
        </p:txBody>
      </p:sp>
      <p:sp>
        <p:nvSpPr>
          <p:cNvPr id="6" name="Text 3"/>
          <p:cNvSpPr txBox="1"/>
          <p:nvPr/>
        </p:nvSpPr>
        <p:spPr>
          <a:xfrm>
            <a:off x="1417320" y="5486400"/>
            <a:ext cx="9905695" cy="640080"/>
          </a:xfrm>
          <a:prstGeom prst="rect">
            <a:avLst/>
          </a:prstGeom>
          <a:noFill/>
          <a:ln/>
        </p:spPr>
        <p:txBody>
          <a:bodyPr wrap="square" lIns="0" tIns="0" rIns="0" bIns="0" rtlCol="0" anchor="ctr"/>
          <a:lstStyle/>
          <a:p>
            <a:pPr marL="0" indent="0">
              <a:buNone/>
            </a:pPr>
            <a:r>
              <a:rPr lang="en-US" sz="1700" dirty="0">
                <a:solidFill>
                  <a:schemeClr val="tx1"/>
                </a:solidFill>
              </a:rPr>
              <a:t>Discuss: which movement does today's brand or app design resemble most?</a:t>
            </a:r>
            <a:endParaRPr lang="en-US" sz="1700" dirty="0"/>
          </a:p>
        </p:txBody>
      </p:sp>
      <p:sp>
        <p:nvSpPr>
          <p:cNvPr id="25"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What graphic designers do</a:t>
            </a:r>
            <a:endParaRPr lang="en-US" sz="3600" dirty="0"/>
          </a:p>
        </p:txBody>
      </p:sp>
      <p:sp>
        <p:nvSpPr>
          <p:cNvPr id="3" name="Step 1"/>
          <p:cNvSpPr/>
          <p:nvPr/>
        </p:nvSpPr>
        <p:spPr>
          <a:xfrm>
            <a:off x="548640" y="1600200"/>
            <a:ext cx="2331720" cy="868680"/>
          </a:xfrm>
          <a:prstGeom prst="chevron">
            <a:avLst/>
          </a:prstGeom>
          <a:solidFill>
            <a:schemeClr val="accent1"/>
          </a:solidFill>
          <a:ln/>
        </p:spPr>
        <p:txBody>
          <a:bodyPr wrap="square" lIns="0" tIns="0" rIns="0" bIns="0" rtlCol="0" anchor="ctr"/>
          <a:lstStyle/>
          <a:p>
            <a:pPr marL="0" indent="0" algn="ctr">
              <a:buNone/>
            </a:pPr>
            <a:r>
              <a:rPr lang="en-US" sz="1800" b="1" dirty="0">
                <a:solidFill>
                  <a:schemeClr val="bg1"/>
                </a:solidFill>
              </a:rPr>
              <a:t>1  Brief</a:t>
            </a:r>
            <a:endParaRPr lang="en-US" sz="1800" dirty="0"/>
          </a:p>
        </p:txBody>
      </p:sp>
      <p:sp>
        <p:nvSpPr>
          <p:cNvPr id="4" name="Icon circle Brief"/>
          <p:cNvSpPr/>
          <p:nvPr/>
        </p:nvSpPr>
        <p:spPr>
          <a:xfrm>
            <a:off x="868680" y="2880360"/>
            <a:ext cx="731520" cy="731520"/>
          </a:xfrm>
          <a:prstGeom prst="ellipse">
            <a:avLst/>
          </a:prstGeom>
          <a:solidFill>
            <a:schemeClr val="accent1"/>
          </a:solidFill>
          <a:ln/>
        </p:spPr>
        <p:txBody>
          <a:bodyPr/>
          <a:lstStyle/>
          <a:p>
            <a:endParaRPr lang="en-US"/>
          </a:p>
        </p:txBody>
      </p:sp>
      <p:pic>
        <p:nvPicPr>
          <p:cNvPr id="5" name="Icon Brief" descr="Brief icon"/>
          <p:cNvPicPr>
            <a:picLocks noChangeAspect="1"/>
          </p:cNvPicPr>
          <p:nvPr/>
        </p:nvPicPr>
        <p:blipFill>
          <a:blip r:embed="rId3"/>
          <a:stretch>
            <a:fillRect/>
          </a:stretch>
        </p:blipFill>
        <p:spPr>
          <a:xfrm>
            <a:off x="1058875" y="3070555"/>
            <a:ext cx="351130" cy="351130"/>
          </a:xfrm>
          <a:prstGeom prst="rect">
            <a:avLst/>
          </a:prstGeom>
        </p:spPr>
      </p:pic>
      <p:sp>
        <p:nvSpPr>
          <p:cNvPr id="6" name="Text 3"/>
          <p:cNvSpPr txBox="1"/>
          <p:nvPr/>
        </p:nvSpPr>
        <p:spPr>
          <a:xfrm>
            <a:off x="868680" y="3840480"/>
            <a:ext cx="1874520" cy="1463040"/>
          </a:xfrm>
          <a:prstGeom prst="rect">
            <a:avLst/>
          </a:prstGeom>
          <a:noFill/>
          <a:ln/>
        </p:spPr>
        <p:txBody>
          <a:bodyPr wrap="square" lIns="0" tIns="0" rIns="0" bIns="0" rtlCol="0" anchor="t"/>
          <a:lstStyle/>
          <a:p>
            <a:pPr marL="0" indent="0">
              <a:buNone/>
            </a:pPr>
            <a:r>
              <a:rPr lang="en-US" sz="1600" dirty="0">
                <a:solidFill>
                  <a:schemeClr val="tx1"/>
                </a:solidFill>
              </a:rPr>
              <a:t>Clarify the goal, audience, limits and deadline with the client.</a:t>
            </a:r>
            <a:endParaRPr lang="en-US" sz="1600" dirty="0"/>
          </a:p>
        </p:txBody>
      </p:sp>
      <p:sp>
        <p:nvSpPr>
          <p:cNvPr id="7" name="Step 2"/>
          <p:cNvSpPr/>
          <p:nvPr/>
        </p:nvSpPr>
        <p:spPr>
          <a:xfrm>
            <a:off x="2739314" y="1600200"/>
            <a:ext cx="2331720" cy="868680"/>
          </a:xfrm>
          <a:prstGeom prst="chevron">
            <a:avLst/>
          </a:prstGeom>
          <a:solidFill>
            <a:schemeClr val="accent2"/>
          </a:solidFill>
          <a:ln/>
        </p:spPr>
        <p:txBody>
          <a:bodyPr wrap="square" lIns="0" tIns="0" rIns="0" bIns="0" rtlCol="0" anchor="ctr"/>
          <a:lstStyle/>
          <a:p>
            <a:pPr marL="0" indent="0" algn="ctr">
              <a:buNone/>
            </a:pPr>
            <a:r>
              <a:rPr lang="en-US" sz="1800" b="1" dirty="0">
                <a:solidFill>
                  <a:schemeClr val="bg1"/>
                </a:solidFill>
              </a:rPr>
              <a:t>2  Research</a:t>
            </a:r>
            <a:endParaRPr lang="en-US" sz="1800" dirty="0"/>
          </a:p>
        </p:txBody>
      </p:sp>
      <p:sp>
        <p:nvSpPr>
          <p:cNvPr id="8" name="Icon circle Research"/>
          <p:cNvSpPr/>
          <p:nvPr/>
        </p:nvSpPr>
        <p:spPr>
          <a:xfrm>
            <a:off x="3059354" y="2880360"/>
            <a:ext cx="731520" cy="731520"/>
          </a:xfrm>
          <a:prstGeom prst="ellipse">
            <a:avLst/>
          </a:prstGeom>
          <a:solidFill>
            <a:schemeClr val="accent2"/>
          </a:solidFill>
          <a:ln/>
        </p:spPr>
        <p:txBody>
          <a:bodyPr/>
          <a:lstStyle/>
          <a:p>
            <a:endParaRPr lang="en-US"/>
          </a:p>
        </p:txBody>
      </p:sp>
      <p:pic>
        <p:nvPicPr>
          <p:cNvPr id="9" name="Icon Research" descr="Research icon"/>
          <p:cNvPicPr>
            <a:picLocks noChangeAspect="1"/>
          </p:cNvPicPr>
          <p:nvPr/>
        </p:nvPicPr>
        <p:blipFill>
          <a:blip r:embed="rId4"/>
          <a:stretch>
            <a:fillRect/>
          </a:stretch>
        </p:blipFill>
        <p:spPr>
          <a:xfrm>
            <a:off x="3249549" y="3070555"/>
            <a:ext cx="351130" cy="351130"/>
          </a:xfrm>
          <a:prstGeom prst="rect">
            <a:avLst/>
          </a:prstGeom>
        </p:spPr>
      </p:pic>
      <p:sp>
        <p:nvSpPr>
          <p:cNvPr id="10" name="Text 6"/>
          <p:cNvSpPr txBox="1"/>
          <p:nvPr/>
        </p:nvSpPr>
        <p:spPr>
          <a:xfrm>
            <a:off x="3059354" y="3840480"/>
            <a:ext cx="1874520" cy="1463040"/>
          </a:xfrm>
          <a:prstGeom prst="rect">
            <a:avLst/>
          </a:prstGeom>
          <a:noFill/>
          <a:ln/>
        </p:spPr>
        <p:txBody>
          <a:bodyPr wrap="square" lIns="0" tIns="0" rIns="0" bIns="0" rtlCol="0" anchor="t"/>
          <a:lstStyle/>
          <a:p>
            <a:pPr marL="0" indent="0">
              <a:buNone/>
            </a:pPr>
            <a:r>
              <a:rPr lang="en-US" sz="1600" dirty="0">
                <a:solidFill>
                  <a:schemeClr val="tx1"/>
                </a:solidFill>
              </a:rPr>
              <a:t>Study the audience, competitors and visual references.</a:t>
            </a:r>
            <a:endParaRPr lang="en-US" sz="1600" dirty="0"/>
          </a:p>
        </p:txBody>
      </p:sp>
      <p:sp>
        <p:nvSpPr>
          <p:cNvPr id="11" name="Step 3"/>
          <p:cNvSpPr/>
          <p:nvPr/>
        </p:nvSpPr>
        <p:spPr>
          <a:xfrm>
            <a:off x="4929988" y="1600200"/>
            <a:ext cx="2331720" cy="868680"/>
          </a:xfrm>
          <a:prstGeom prst="chevron">
            <a:avLst/>
          </a:prstGeom>
          <a:solidFill>
            <a:schemeClr val="accent3"/>
          </a:solidFill>
          <a:ln/>
        </p:spPr>
        <p:txBody>
          <a:bodyPr wrap="square" lIns="0" tIns="0" rIns="0" bIns="0" rtlCol="0" anchor="ctr"/>
          <a:lstStyle/>
          <a:p>
            <a:pPr marL="0" indent="0" algn="ctr">
              <a:buNone/>
            </a:pPr>
            <a:r>
              <a:rPr lang="en-US" sz="1800" b="1" dirty="0">
                <a:solidFill>
                  <a:schemeClr val="tx1"/>
                </a:solidFill>
              </a:rPr>
              <a:t>3  Concept</a:t>
            </a:r>
            <a:endParaRPr lang="en-US" sz="1800" dirty="0"/>
          </a:p>
        </p:txBody>
      </p:sp>
      <p:sp>
        <p:nvSpPr>
          <p:cNvPr id="12" name="Icon circle Concept"/>
          <p:cNvSpPr/>
          <p:nvPr/>
        </p:nvSpPr>
        <p:spPr>
          <a:xfrm>
            <a:off x="5250028" y="2880360"/>
            <a:ext cx="731520" cy="731520"/>
          </a:xfrm>
          <a:prstGeom prst="ellipse">
            <a:avLst/>
          </a:prstGeom>
          <a:solidFill>
            <a:schemeClr val="accent3"/>
          </a:solidFill>
          <a:ln/>
        </p:spPr>
        <p:txBody>
          <a:bodyPr/>
          <a:lstStyle/>
          <a:p>
            <a:endParaRPr lang="en-US"/>
          </a:p>
        </p:txBody>
      </p:sp>
      <p:pic>
        <p:nvPicPr>
          <p:cNvPr id="13" name="Icon Concept" descr="Concept icon"/>
          <p:cNvPicPr>
            <a:picLocks noChangeAspect="1"/>
          </p:cNvPicPr>
          <p:nvPr/>
        </p:nvPicPr>
        <p:blipFill>
          <a:blip r:embed="rId5"/>
          <a:stretch>
            <a:fillRect/>
          </a:stretch>
        </p:blipFill>
        <p:spPr>
          <a:xfrm>
            <a:off x="5440223" y="3070555"/>
            <a:ext cx="351130" cy="351130"/>
          </a:xfrm>
          <a:prstGeom prst="rect">
            <a:avLst/>
          </a:prstGeom>
        </p:spPr>
      </p:pic>
      <p:sp>
        <p:nvSpPr>
          <p:cNvPr id="14" name="Text 9"/>
          <p:cNvSpPr txBox="1"/>
          <p:nvPr/>
        </p:nvSpPr>
        <p:spPr>
          <a:xfrm>
            <a:off x="5250028" y="3840480"/>
            <a:ext cx="1874520" cy="1463040"/>
          </a:xfrm>
          <a:prstGeom prst="rect">
            <a:avLst/>
          </a:prstGeom>
          <a:noFill/>
          <a:ln/>
        </p:spPr>
        <p:txBody>
          <a:bodyPr wrap="square" lIns="0" tIns="0" rIns="0" bIns="0" rtlCol="0" anchor="t"/>
          <a:lstStyle/>
          <a:p>
            <a:pPr marL="0" indent="0">
              <a:buNone/>
            </a:pPr>
            <a:r>
              <a:rPr lang="en-US" sz="1600" dirty="0">
                <a:solidFill>
                  <a:schemeClr val="tx1"/>
                </a:solidFill>
              </a:rPr>
              <a:t>Sketch many ideas and choose the strongest direction.</a:t>
            </a:r>
            <a:endParaRPr lang="en-US" sz="1600" dirty="0"/>
          </a:p>
        </p:txBody>
      </p:sp>
      <p:sp>
        <p:nvSpPr>
          <p:cNvPr id="15" name="Step 4"/>
          <p:cNvSpPr/>
          <p:nvPr/>
        </p:nvSpPr>
        <p:spPr>
          <a:xfrm>
            <a:off x="7120661" y="1600200"/>
            <a:ext cx="2331720" cy="868680"/>
          </a:xfrm>
          <a:prstGeom prst="chevron">
            <a:avLst/>
          </a:prstGeom>
          <a:solidFill>
            <a:schemeClr val="accent1"/>
          </a:solidFill>
          <a:ln/>
        </p:spPr>
        <p:txBody>
          <a:bodyPr wrap="square" lIns="0" tIns="0" rIns="0" bIns="0" rtlCol="0" anchor="ctr"/>
          <a:lstStyle/>
          <a:p>
            <a:pPr marL="0" indent="0" algn="ctr">
              <a:buNone/>
            </a:pPr>
            <a:r>
              <a:rPr lang="en-US" sz="1800" b="1" dirty="0">
                <a:solidFill>
                  <a:schemeClr val="bg1"/>
                </a:solidFill>
              </a:rPr>
              <a:t>4  Design</a:t>
            </a:r>
            <a:endParaRPr lang="en-US" sz="1800" dirty="0"/>
          </a:p>
        </p:txBody>
      </p:sp>
      <p:sp>
        <p:nvSpPr>
          <p:cNvPr id="16" name="Icon circle Design"/>
          <p:cNvSpPr/>
          <p:nvPr/>
        </p:nvSpPr>
        <p:spPr>
          <a:xfrm>
            <a:off x="7440701" y="2880360"/>
            <a:ext cx="731520" cy="731520"/>
          </a:xfrm>
          <a:prstGeom prst="ellipse">
            <a:avLst/>
          </a:prstGeom>
          <a:solidFill>
            <a:schemeClr val="accent1"/>
          </a:solidFill>
          <a:ln/>
        </p:spPr>
        <p:txBody>
          <a:bodyPr/>
          <a:lstStyle/>
          <a:p>
            <a:endParaRPr lang="en-US"/>
          </a:p>
        </p:txBody>
      </p:sp>
      <p:pic>
        <p:nvPicPr>
          <p:cNvPr id="17" name="Icon Design" descr="Design icon"/>
          <p:cNvPicPr>
            <a:picLocks noChangeAspect="1"/>
          </p:cNvPicPr>
          <p:nvPr/>
        </p:nvPicPr>
        <p:blipFill>
          <a:blip r:embed="rId6"/>
          <a:stretch>
            <a:fillRect/>
          </a:stretch>
        </p:blipFill>
        <p:spPr>
          <a:xfrm>
            <a:off x="7630897" y="3070555"/>
            <a:ext cx="351130" cy="351130"/>
          </a:xfrm>
          <a:prstGeom prst="rect">
            <a:avLst/>
          </a:prstGeom>
        </p:spPr>
      </p:pic>
      <p:sp>
        <p:nvSpPr>
          <p:cNvPr id="18" name="Text 12"/>
          <p:cNvSpPr txBox="1"/>
          <p:nvPr/>
        </p:nvSpPr>
        <p:spPr>
          <a:xfrm>
            <a:off x="7440701" y="3840480"/>
            <a:ext cx="1874520" cy="1463040"/>
          </a:xfrm>
          <a:prstGeom prst="rect">
            <a:avLst/>
          </a:prstGeom>
          <a:noFill/>
          <a:ln/>
        </p:spPr>
        <p:txBody>
          <a:bodyPr wrap="square" lIns="0" tIns="0" rIns="0" bIns="0" rtlCol="0" anchor="t"/>
          <a:lstStyle/>
          <a:p>
            <a:pPr marL="0" indent="0">
              <a:buNone/>
            </a:pPr>
            <a:r>
              <a:rPr lang="en-US" sz="1600" dirty="0">
                <a:solidFill>
                  <a:schemeClr val="tx1"/>
                </a:solidFill>
              </a:rPr>
              <a:t>Develop layout, type, color and imagery; refine with feedback.</a:t>
            </a:r>
            <a:endParaRPr lang="en-US" sz="1600" dirty="0"/>
          </a:p>
        </p:txBody>
      </p:sp>
      <p:sp>
        <p:nvSpPr>
          <p:cNvPr id="19" name="Step 5"/>
          <p:cNvSpPr/>
          <p:nvPr/>
        </p:nvSpPr>
        <p:spPr>
          <a:xfrm>
            <a:off x="9311335" y="1600200"/>
            <a:ext cx="2331720" cy="868680"/>
          </a:xfrm>
          <a:prstGeom prst="chevron">
            <a:avLst/>
          </a:prstGeom>
          <a:solidFill>
            <a:schemeClr val="accent2"/>
          </a:solidFill>
          <a:ln/>
        </p:spPr>
        <p:txBody>
          <a:bodyPr wrap="square" lIns="0" tIns="0" rIns="0" bIns="0" rtlCol="0" anchor="ctr"/>
          <a:lstStyle/>
          <a:p>
            <a:pPr marL="0" indent="0" algn="ctr">
              <a:buNone/>
            </a:pPr>
            <a:r>
              <a:rPr lang="en-US" sz="1800" b="1" dirty="0">
                <a:solidFill>
                  <a:schemeClr val="bg1"/>
                </a:solidFill>
              </a:rPr>
              <a:t>5  Deliver</a:t>
            </a:r>
            <a:endParaRPr lang="en-US" sz="1800" dirty="0"/>
          </a:p>
        </p:txBody>
      </p:sp>
      <p:sp>
        <p:nvSpPr>
          <p:cNvPr id="20" name="Icon circle Deliver"/>
          <p:cNvSpPr/>
          <p:nvPr/>
        </p:nvSpPr>
        <p:spPr>
          <a:xfrm>
            <a:off x="9631375" y="2880360"/>
            <a:ext cx="731520" cy="731520"/>
          </a:xfrm>
          <a:prstGeom prst="ellipse">
            <a:avLst/>
          </a:prstGeom>
          <a:solidFill>
            <a:schemeClr val="accent2"/>
          </a:solidFill>
          <a:ln/>
        </p:spPr>
        <p:txBody>
          <a:bodyPr/>
          <a:lstStyle/>
          <a:p>
            <a:endParaRPr lang="en-US"/>
          </a:p>
        </p:txBody>
      </p:sp>
      <p:pic>
        <p:nvPicPr>
          <p:cNvPr id="21" name="Icon Deliver" descr="Deliver icon"/>
          <p:cNvPicPr>
            <a:picLocks noChangeAspect="1"/>
          </p:cNvPicPr>
          <p:nvPr/>
        </p:nvPicPr>
        <p:blipFill>
          <a:blip r:embed="rId7"/>
          <a:stretch>
            <a:fillRect/>
          </a:stretch>
        </p:blipFill>
        <p:spPr>
          <a:xfrm>
            <a:off x="9821570" y="3070555"/>
            <a:ext cx="351130" cy="351130"/>
          </a:xfrm>
          <a:prstGeom prst="rect">
            <a:avLst/>
          </a:prstGeom>
        </p:spPr>
      </p:pic>
      <p:sp>
        <p:nvSpPr>
          <p:cNvPr id="22" name="Text 15"/>
          <p:cNvSpPr txBox="1"/>
          <p:nvPr/>
        </p:nvSpPr>
        <p:spPr>
          <a:xfrm>
            <a:off x="9631375" y="3840480"/>
            <a:ext cx="1874520" cy="1463040"/>
          </a:xfrm>
          <a:prstGeom prst="rect">
            <a:avLst/>
          </a:prstGeom>
          <a:noFill/>
          <a:ln/>
        </p:spPr>
        <p:txBody>
          <a:bodyPr wrap="square" lIns="0" tIns="0" rIns="0" bIns="0" rtlCol="0" anchor="t"/>
          <a:lstStyle/>
          <a:p>
            <a:pPr marL="0" indent="0">
              <a:buNone/>
            </a:pPr>
            <a:r>
              <a:rPr lang="en-US" sz="1600" dirty="0">
                <a:solidFill>
                  <a:schemeClr val="tx1"/>
                </a:solidFill>
              </a:rPr>
              <a:t>Prepare final files for print or screen and hand them over.</a:t>
            </a:r>
            <a:endParaRPr lang="en-US" sz="1600" dirty="0"/>
          </a:p>
        </p:txBody>
      </p:sp>
      <p:sp>
        <p:nvSpPr>
          <p:cNvPr id="23" name="Loop note panel"/>
          <p:cNvSpPr/>
          <p:nvPr/>
        </p:nvSpPr>
        <p:spPr>
          <a:xfrm>
            <a:off x="548640" y="5394960"/>
            <a:ext cx="11094415" cy="731520"/>
          </a:xfrm>
          <a:prstGeom prst="rect">
            <a:avLst/>
          </a:prstGeom>
          <a:solidFill>
            <a:schemeClr val="bg2"/>
          </a:solidFill>
          <a:ln/>
        </p:spPr>
        <p:txBody>
          <a:bodyPr/>
          <a:lstStyle/>
          <a:p>
            <a:endParaRPr lang="en-US"/>
          </a:p>
        </p:txBody>
      </p:sp>
      <p:sp>
        <p:nvSpPr>
          <p:cNvPr id="24" name="Text 17"/>
          <p:cNvSpPr txBox="1"/>
          <p:nvPr/>
        </p:nvSpPr>
        <p:spPr>
          <a:xfrm>
            <a:off x="914400" y="5394960"/>
            <a:ext cx="10362895" cy="731520"/>
          </a:xfrm>
          <a:prstGeom prst="rect">
            <a:avLst/>
          </a:prstGeom>
          <a:noFill/>
          <a:ln/>
        </p:spPr>
        <p:txBody>
          <a:bodyPr wrap="square" lIns="0" tIns="0" rIns="0" bIns="0" rtlCol="0" anchor="ctr"/>
          <a:lstStyle/>
          <a:p>
            <a:pPr marL="0" indent="0">
              <a:buNone/>
            </a:pPr>
            <a:r>
              <a:rPr lang="en-US" sz="1700" dirty="0">
                <a:solidFill>
                  <a:schemeClr val="tx1"/>
                </a:solidFill>
              </a:rPr>
              <a:t>In real projects the process loops: feedback often sends designers back to an earlier step.</a:t>
            </a:r>
            <a:endParaRPr lang="en-US" sz="1700" dirty="0"/>
          </a:p>
        </p:txBody>
      </p:sp>
      <p:sp>
        <p:nvSpPr>
          <p:cNvPr id="25"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Roles and specialisations</a:t>
            </a:r>
            <a:endParaRPr lang="en-US" sz="3600" dirty="0"/>
          </a:p>
        </p:txBody>
      </p:sp>
      <p:sp>
        <p:nvSpPr>
          <p:cNvPr id="3" name="Icon circle Brand and identity"/>
          <p:cNvSpPr/>
          <p:nvPr/>
        </p:nvSpPr>
        <p:spPr>
          <a:xfrm>
            <a:off x="548640" y="1691640"/>
            <a:ext cx="868680" cy="868680"/>
          </a:xfrm>
          <a:prstGeom prst="ellipse">
            <a:avLst/>
          </a:prstGeom>
          <a:solidFill>
            <a:schemeClr val="accent1"/>
          </a:solidFill>
          <a:ln/>
        </p:spPr>
        <p:txBody>
          <a:bodyPr/>
          <a:lstStyle/>
          <a:p>
            <a:endParaRPr lang="en-US"/>
          </a:p>
        </p:txBody>
      </p:sp>
      <p:pic>
        <p:nvPicPr>
          <p:cNvPr id="4" name="Icon Brand and identity" descr="Brand and identity icon"/>
          <p:cNvPicPr>
            <a:picLocks noChangeAspect="1"/>
          </p:cNvPicPr>
          <p:nvPr/>
        </p:nvPicPr>
        <p:blipFill>
          <a:blip r:embed="rId3"/>
          <a:stretch>
            <a:fillRect/>
          </a:stretch>
        </p:blipFill>
        <p:spPr>
          <a:xfrm>
            <a:off x="774497" y="1917497"/>
            <a:ext cx="416966" cy="416966"/>
          </a:xfrm>
          <a:prstGeom prst="rect">
            <a:avLst/>
          </a:prstGeom>
        </p:spPr>
      </p:pic>
      <p:sp>
        <p:nvSpPr>
          <p:cNvPr id="5" name="Text 2"/>
          <p:cNvSpPr txBox="1"/>
          <p:nvPr/>
        </p:nvSpPr>
        <p:spPr>
          <a:xfrm>
            <a:off x="1600200" y="1673352"/>
            <a:ext cx="2468880" cy="640080"/>
          </a:xfrm>
          <a:prstGeom prst="rect">
            <a:avLst/>
          </a:prstGeom>
          <a:noFill/>
          <a:ln/>
        </p:spPr>
        <p:txBody>
          <a:bodyPr wrap="square" lIns="0" tIns="0" rIns="0" bIns="0" rtlCol="0" anchor="t"/>
          <a:lstStyle/>
          <a:p>
            <a:pPr marL="0" indent="0">
              <a:buNone/>
            </a:pPr>
            <a:r>
              <a:rPr lang="en-US" sz="2000" b="1" dirty="0">
                <a:solidFill>
                  <a:schemeClr val="tx1"/>
                </a:solidFill>
              </a:rPr>
              <a:t>Brand and identity</a:t>
            </a:r>
            <a:endParaRPr lang="en-US" sz="2000" dirty="0"/>
          </a:p>
        </p:txBody>
      </p:sp>
      <p:sp>
        <p:nvSpPr>
          <p:cNvPr id="6" name="Text 3"/>
          <p:cNvSpPr txBox="1"/>
          <p:nvPr/>
        </p:nvSpPr>
        <p:spPr>
          <a:xfrm>
            <a:off x="1600200" y="2350008"/>
            <a:ext cx="2468880" cy="1188720"/>
          </a:xfrm>
          <a:prstGeom prst="rect">
            <a:avLst/>
          </a:prstGeom>
          <a:noFill/>
          <a:ln/>
        </p:spPr>
        <p:txBody>
          <a:bodyPr wrap="square" lIns="0" tIns="0" rIns="0" bIns="0" rtlCol="0" anchor="t"/>
          <a:lstStyle/>
          <a:p>
            <a:pPr marL="0" indent="0">
              <a:buNone/>
            </a:pPr>
            <a:r>
              <a:rPr lang="en-US" sz="1700" dirty="0">
                <a:solidFill>
                  <a:schemeClr val="accent4"/>
                </a:solidFill>
              </a:rPr>
              <a:t>Logos, color and type systems, brand guidelines.</a:t>
            </a:r>
            <a:endParaRPr lang="en-US" sz="1700" dirty="0"/>
          </a:p>
        </p:txBody>
      </p:sp>
      <p:sp>
        <p:nvSpPr>
          <p:cNvPr id="7" name="Icon circle Editorial and publication"/>
          <p:cNvSpPr/>
          <p:nvPr/>
        </p:nvSpPr>
        <p:spPr>
          <a:xfrm>
            <a:off x="4279392" y="1691640"/>
            <a:ext cx="868680" cy="868680"/>
          </a:xfrm>
          <a:prstGeom prst="ellipse">
            <a:avLst/>
          </a:prstGeom>
          <a:solidFill>
            <a:schemeClr val="accent2"/>
          </a:solidFill>
          <a:ln/>
        </p:spPr>
        <p:txBody>
          <a:bodyPr/>
          <a:lstStyle/>
          <a:p>
            <a:endParaRPr lang="en-US"/>
          </a:p>
        </p:txBody>
      </p:sp>
      <p:pic>
        <p:nvPicPr>
          <p:cNvPr id="8" name="Icon Editorial and publication" descr="Editorial and publication icon"/>
          <p:cNvPicPr>
            <a:picLocks noChangeAspect="1"/>
          </p:cNvPicPr>
          <p:nvPr/>
        </p:nvPicPr>
        <p:blipFill>
          <a:blip r:embed="rId4"/>
          <a:stretch>
            <a:fillRect/>
          </a:stretch>
        </p:blipFill>
        <p:spPr>
          <a:xfrm>
            <a:off x="4505249" y="1917497"/>
            <a:ext cx="416966" cy="416966"/>
          </a:xfrm>
          <a:prstGeom prst="rect">
            <a:avLst/>
          </a:prstGeom>
        </p:spPr>
      </p:pic>
      <p:sp>
        <p:nvSpPr>
          <p:cNvPr id="9" name="Text 5"/>
          <p:cNvSpPr txBox="1"/>
          <p:nvPr/>
        </p:nvSpPr>
        <p:spPr>
          <a:xfrm>
            <a:off x="5330952" y="1673352"/>
            <a:ext cx="2468880" cy="640080"/>
          </a:xfrm>
          <a:prstGeom prst="rect">
            <a:avLst/>
          </a:prstGeom>
          <a:noFill/>
          <a:ln/>
        </p:spPr>
        <p:txBody>
          <a:bodyPr wrap="square" lIns="0" tIns="0" rIns="0" bIns="0" rtlCol="0" anchor="t"/>
          <a:lstStyle/>
          <a:p>
            <a:pPr marL="0" indent="0">
              <a:buNone/>
            </a:pPr>
            <a:r>
              <a:rPr lang="en-US" sz="2000" b="1" dirty="0">
                <a:solidFill>
                  <a:schemeClr val="tx1"/>
                </a:solidFill>
              </a:rPr>
              <a:t>Editorial and publication</a:t>
            </a:r>
            <a:endParaRPr lang="en-US" sz="2000" dirty="0"/>
          </a:p>
        </p:txBody>
      </p:sp>
      <p:sp>
        <p:nvSpPr>
          <p:cNvPr id="10" name="Text 6"/>
          <p:cNvSpPr txBox="1"/>
          <p:nvPr/>
        </p:nvSpPr>
        <p:spPr>
          <a:xfrm>
            <a:off x="5330952" y="2350008"/>
            <a:ext cx="2468880" cy="1188720"/>
          </a:xfrm>
          <a:prstGeom prst="rect">
            <a:avLst/>
          </a:prstGeom>
          <a:noFill/>
          <a:ln/>
        </p:spPr>
        <p:txBody>
          <a:bodyPr wrap="square" lIns="0" tIns="0" rIns="0" bIns="0" rtlCol="0" anchor="t"/>
          <a:lstStyle/>
          <a:p>
            <a:pPr marL="0" indent="0">
              <a:buNone/>
            </a:pPr>
            <a:r>
              <a:rPr lang="en-US" sz="1700" dirty="0">
                <a:solidFill>
                  <a:schemeClr val="accent4"/>
                </a:solidFill>
              </a:rPr>
              <a:t>Books, magazines, reports and layouts.</a:t>
            </a:r>
            <a:endParaRPr lang="en-US" sz="1700" dirty="0"/>
          </a:p>
        </p:txBody>
      </p:sp>
      <p:sp>
        <p:nvSpPr>
          <p:cNvPr id="11" name="Icon circle Packaging"/>
          <p:cNvSpPr/>
          <p:nvPr/>
        </p:nvSpPr>
        <p:spPr>
          <a:xfrm>
            <a:off x="8010144" y="1691640"/>
            <a:ext cx="868680" cy="868680"/>
          </a:xfrm>
          <a:prstGeom prst="ellipse">
            <a:avLst/>
          </a:prstGeom>
          <a:solidFill>
            <a:schemeClr val="accent3"/>
          </a:solidFill>
          <a:ln/>
        </p:spPr>
        <p:txBody>
          <a:bodyPr/>
          <a:lstStyle/>
          <a:p>
            <a:endParaRPr lang="en-US"/>
          </a:p>
        </p:txBody>
      </p:sp>
      <p:pic>
        <p:nvPicPr>
          <p:cNvPr id="12" name="Icon Packaging" descr="Packaging icon"/>
          <p:cNvPicPr>
            <a:picLocks noChangeAspect="1"/>
          </p:cNvPicPr>
          <p:nvPr/>
        </p:nvPicPr>
        <p:blipFill>
          <a:blip r:embed="rId5"/>
          <a:stretch>
            <a:fillRect/>
          </a:stretch>
        </p:blipFill>
        <p:spPr>
          <a:xfrm>
            <a:off x="8236001" y="1917497"/>
            <a:ext cx="416966" cy="416966"/>
          </a:xfrm>
          <a:prstGeom prst="rect">
            <a:avLst/>
          </a:prstGeom>
        </p:spPr>
      </p:pic>
      <p:sp>
        <p:nvSpPr>
          <p:cNvPr id="13" name="Text 8"/>
          <p:cNvSpPr txBox="1"/>
          <p:nvPr/>
        </p:nvSpPr>
        <p:spPr>
          <a:xfrm>
            <a:off x="9061704" y="1673352"/>
            <a:ext cx="2468880" cy="640080"/>
          </a:xfrm>
          <a:prstGeom prst="rect">
            <a:avLst/>
          </a:prstGeom>
          <a:noFill/>
          <a:ln/>
        </p:spPr>
        <p:txBody>
          <a:bodyPr wrap="square" lIns="0" tIns="0" rIns="0" bIns="0" rtlCol="0" anchor="t"/>
          <a:lstStyle/>
          <a:p>
            <a:pPr marL="0" indent="0">
              <a:buNone/>
            </a:pPr>
            <a:r>
              <a:rPr lang="en-US" sz="2000" b="1" dirty="0">
                <a:solidFill>
                  <a:schemeClr val="tx1"/>
                </a:solidFill>
              </a:rPr>
              <a:t>Packaging</a:t>
            </a:r>
            <a:endParaRPr lang="en-US" sz="2000" dirty="0"/>
          </a:p>
        </p:txBody>
      </p:sp>
      <p:sp>
        <p:nvSpPr>
          <p:cNvPr id="14" name="Text 9"/>
          <p:cNvSpPr txBox="1"/>
          <p:nvPr/>
        </p:nvSpPr>
        <p:spPr>
          <a:xfrm>
            <a:off x="9061704" y="2350008"/>
            <a:ext cx="2468880" cy="1188720"/>
          </a:xfrm>
          <a:prstGeom prst="rect">
            <a:avLst/>
          </a:prstGeom>
          <a:noFill/>
          <a:ln/>
        </p:spPr>
        <p:txBody>
          <a:bodyPr wrap="square" lIns="0" tIns="0" rIns="0" bIns="0" rtlCol="0" anchor="t"/>
          <a:lstStyle/>
          <a:p>
            <a:pPr marL="0" indent="0">
              <a:buNone/>
            </a:pPr>
            <a:r>
              <a:rPr lang="en-US" sz="1700" dirty="0">
                <a:solidFill>
                  <a:schemeClr val="accent4"/>
                </a:solidFill>
              </a:rPr>
              <a:t>Boxes, labels and containers that sell and protect.</a:t>
            </a:r>
            <a:endParaRPr lang="en-US" sz="1700" dirty="0"/>
          </a:p>
        </p:txBody>
      </p:sp>
      <p:sp>
        <p:nvSpPr>
          <p:cNvPr id="15" name="Icon circle Digital and UI/UX"/>
          <p:cNvSpPr/>
          <p:nvPr/>
        </p:nvSpPr>
        <p:spPr>
          <a:xfrm>
            <a:off x="548640" y="3931920"/>
            <a:ext cx="868680" cy="868680"/>
          </a:xfrm>
          <a:prstGeom prst="ellipse">
            <a:avLst/>
          </a:prstGeom>
          <a:solidFill>
            <a:schemeClr val="accent1"/>
          </a:solidFill>
          <a:ln/>
        </p:spPr>
        <p:txBody>
          <a:bodyPr/>
          <a:lstStyle/>
          <a:p>
            <a:endParaRPr lang="en-US"/>
          </a:p>
        </p:txBody>
      </p:sp>
      <p:pic>
        <p:nvPicPr>
          <p:cNvPr id="16" name="Icon Digital and UI/UX" descr="Digital and UI/UX icon"/>
          <p:cNvPicPr>
            <a:picLocks noChangeAspect="1"/>
          </p:cNvPicPr>
          <p:nvPr/>
        </p:nvPicPr>
        <p:blipFill>
          <a:blip r:embed="rId6"/>
          <a:stretch>
            <a:fillRect/>
          </a:stretch>
        </p:blipFill>
        <p:spPr>
          <a:xfrm>
            <a:off x="774497" y="4157777"/>
            <a:ext cx="416966" cy="416966"/>
          </a:xfrm>
          <a:prstGeom prst="rect">
            <a:avLst/>
          </a:prstGeom>
        </p:spPr>
      </p:pic>
      <p:sp>
        <p:nvSpPr>
          <p:cNvPr id="17" name="Text 11"/>
          <p:cNvSpPr txBox="1"/>
          <p:nvPr/>
        </p:nvSpPr>
        <p:spPr>
          <a:xfrm>
            <a:off x="1600200" y="3913632"/>
            <a:ext cx="2468880" cy="640080"/>
          </a:xfrm>
          <a:prstGeom prst="rect">
            <a:avLst/>
          </a:prstGeom>
          <a:noFill/>
          <a:ln/>
        </p:spPr>
        <p:txBody>
          <a:bodyPr wrap="square" lIns="0" tIns="0" rIns="0" bIns="0" rtlCol="0" anchor="t"/>
          <a:lstStyle/>
          <a:p>
            <a:pPr marL="0" indent="0">
              <a:buNone/>
            </a:pPr>
            <a:r>
              <a:rPr lang="en-US" sz="2000" b="1" dirty="0">
                <a:solidFill>
                  <a:schemeClr val="tx1"/>
                </a:solidFill>
              </a:rPr>
              <a:t>Digital and UI/UX</a:t>
            </a:r>
            <a:endParaRPr lang="en-US" sz="2000" dirty="0"/>
          </a:p>
        </p:txBody>
      </p:sp>
      <p:sp>
        <p:nvSpPr>
          <p:cNvPr id="18" name="Text 12"/>
          <p:cNvSpPr txBox="1"/>
          <p:nvPr/>
        </p:nvSpPr>
        <p:spPr>
          <a:xfrm>
            <a:off x="1600200" y="4590288"/>
            <a:ext cx="2468880" cy="1188720"/>
          </a:xfrm>
          <a:prstGeom prst="rect">
            <a:avLst/>
          </a:prstGeom>
          <a:noFill/>
          <a:ln/>
        </p:spPr>
        <p:txBody>
          <a:bodyPr wrap="square" lIns="0" tIns="0" rIns="0" bIns="0" rtlCol="0" anchor="t"/>
          <a:lstStyle/>
          <a:p>
            <a:pPr marL="0" indent="0">
              <a:buNone/>
            </a:pPr>
            <a:r>
              <a:rPr lang="en-US" sz="1700" dirty="0">
                <a:solidFill>
                  <a:schemeClr val="accent4"/>
                </a:solidFill>
              </a:rPr>
              <a:t>Websites, apps and interfaces people use.</a:t>
            </a:r>
            <a:endParaRPr lang="en-US" sz="1700" dirty="0"/>
          </a:p>
        </p:txBody>
      </p:sp>
      <p:sp>
        <p:nvSpPr>
          <p:cNvPr id="19" name="Icon circle Motion and animation"/>
          <p:cNvSpPr/>
          <p:nvPr/>
        </p:nvSpPr>
        <p:spPr>
          <a:xfrm>
            <a:off x="4279392" y="3931920"/>
            <a:ext cx="868680" cy="868680"/>
          </a:xfrm>
          <a:prstGeom prst="ellipse">
            <a:avLst/>
          </a:prstGeom>
          <a:solidFill>
            <a:schemeClr val="accent2"/>
          </a:solidFill>
          <a:ln/>
        </p:spPr>
        <p:txBody>
          <a:bodyPr/>
          <a:lstStyle/>
          <a:p>
            <a:endParaRPr lang="en-US"/>
          </a:p>
        </p:txBody>
      </p:sp>
      <p:pic>
        <p:nvPicPr>
          <p:cNvPr id="20" name="Icon Motion and animation" descr="Motion and animation icon"/>
          <p:cNvPicPr>
            <a:picLocks noChangeAspect="1"/>
          </p:cNvPicPr>
          <p:nvPr/>
        </p:nvPicPr>
        <p:blipFill>
          <a:blip r:embed="rId7"/>
          <a:stretch>
            <a:fillRect/>
          </a:stretch>
        </p:blipFill>
        <p:spPr>
          <a:xfrm>
            <a:off x="4505249" y="4157777"/>
            <a:ext cx="416966" cy="416966"/>
          </a:xfrm>
          <a:prstGeom prst="rect">
            <a:avLst/>
          </a:prstGeom>
        </p:spPr>
      </p:pic>
      <p:sp>
        <p:nvSpPr>
          <p:cNvPr id="21" name="Text 14"/>
          <p:cNvSpPr txBox="1"/>
          <p:nvPr/>
        </p:nvSpPr>
        <p:spPr>
          <a:xfrm>
            <a:off x="5330952" y="3913632"/>
            <a:ext cx="2468880" cy="640080"/>
          </a:xfrm>
          <a:prstGeom prst="rect">
            <a:avLst/>
          </a:prstGeom>
          <a:noFill/>
          <a:ln/>
        </p:spPr>
        <p:txBody>
          <a:bodyPr wrap="square" lIns="0" tIns="0" rIns="0" bIns="0" rtlCol="0" anchor="t"/>
          <a:lstStyle/>
          <a:p>
            <a:pPr marL="0" indent="0">
              <a:buNone/>
            </a:pPr>
            <a:r>
              <a:rPr lang="en-US" sz="2000" b="1" dirty="0">
                <a:solidFill>
                  <a:schemeClr val="tx1"/>
                </a:solidFill>
              </a:rPr>
              <a:t>Motion and animation</a:t>
            </a:r>
            <a:endParaRPr lang="en-US" sz="2000" dirty="0"/>
          </a:p>
        </p:txBody>
      </p:sp>
      <p:sp>
        <p:nvSpPr>
          <p:cNvPr id="22" name="Text 15"/>
          <p:cNvSpPr txBox="1"/>
          <p:nvPr/>
        </p:nvSpPr>
        <p:spPr>
          <a:xfrm>
            <a:off x="5330952" y="4590288"/>
            <a:ext cx="2468880" cy="1188720"/>
          </a:xfrm>
          <a:prstGeom prst="rect">
            <a:avLst/>
          </a:prstGeom>
          <a:noFill/>
          <a:ln/>
        </p:spPr>
        <p:txBody>
          <a:bodyPr wrap="square" lIns="0" tIns="0" rIns="0" bIns="0" rtlCol="0" anchor="t"/>
          <a:lstStyle/>
          <a:p>
            <a:pPr marL="0" indent="0">
              <a:buNone/>
            </a:pPr>
            <a:r>
              <a:rPr lang="en-US" sz="1700" dirty="0">
                <a:solidFill>
                  <a:schemeClr val="accent4"/>
                </a:solidFill>
              </a:rPr>
              <a:t>Titles, explainers and animated graphics.</a:t>
            </a:r>
            <a:endParaRPr lang="en-US" sz="1700" dirty="0"/>
          </a:p>
        </p:txBody>
      </p:sp>
      <p:sp>
        <p:nvSpPr>
          <p:cNvPr id="23" name="Icon circle Art and creative direction"/>
          <p:cNvSpPr/>
          <p:nvPr/>
        </p:nvSpPr>
        <p:spPr>
          <a:xfrm>
            <a:off x="8010144" y="3931920"/>
            <a:ext cx="868680" cy="868680"/>
          </a:xfrm>
          <a:prstGeom prst="ellipse">
            <a:avLst/>
          </a:prstGeom>
          <a:solidFill>
            <a:schemeClr val="accent3"/>
          </a:solidFill>
          <a:ln/>
        </p:spPr>
        <p:txBody>
          <a:bodyPr/>
          <a:lstStyle/>
          <a:p>
            <a:endParaRPr lang="en-US"/>
          </a:p>
        </p:txBody>
      </p:sp>
      <p:pic>
        <p:nvPicPr>
          <p:cNvPr id="24" name="Icon Art and creative direction" descr="Art and creative direction icon"/>
          <p:cNvPicPr>
            <a:picLocks noChangeAspect="1"/>
          </p:cNvPicPr>
          <p:nvPr/>
        </p:nvPicPr>
        <p:blipFill>
          <a:blip r:embed="rId8"/>
          <a:stretch>
            <a:fillRect/>
          </a:stretch>
        </p:blipFill>
        <p:spPr>
          <a:xfrm>
            <a:off x="8236001" y="4157777"/>
            <a:ext cx="416966" cy="416966"/>
          </a:xfrm>
          <a:prstGeom prst="rect">
            <a:avLst/>
          </a:prstGeom>
        </p:spPr>
      </p:pic>
      <p:sp>
        <p:nvSpPr>
          <p:cNvPr id="25" name="Text 17"/>
          <p:cNvSpPr txBox="1"/>
          <p:nvPr/>
        </p:nvSpPr>
        <p:spPr>
          <a:xfrm>
            <a:off x="9061704" y="3913632"/>
            <a:ext cx="2468880" cy="640080"/>
          </a:xfrm>
          <a:prstGeom prst="rect">
            <a:avLst/>
          </a:prstGeom>
          <a:noFill/>
          <a:ln/>
        </p:spPr>
        <p:txBody>
          <a:bodyPr wrap="square" lIns="0" tIns="0" rIns="0" bIns="0" rtlCol="0" anchor="t"/>
          <a:lstStyle/>
          <a:p>
            <a:pPr marL="0" indent="0">
              <a:buNone/>
            </a:pPr>
            <a:r>
              <a:rPr lang="en-US" sz="2000" b="1" dirty="0">
                <a:solidFill>
                  <a:schemeClr val="tx1"/>
                </a:solidFill>
              </a:rPr>
              <a:t>Art and creative direction</a:t>
            </a:r>
            <a:endParaRPr lang="en-US" sz="2000" dirty="0"/>
          </a:p>
        </p:txBody>
      </p:sp>
      <p:sp>
        <p:nvSpPr>
          <p:cNvPr id="26" name="Text 18"/>
          <p:cNvSpPr txBox="1"/>
          <p:nvPr/>
        </p:nvSpPr>
        <p:spPr>
          <a:xfrm>
            <a:off x="9061704" y="4590288"/>
            <a:ext cx="2468880" cy="1188720"/>
          </a:xfrm>
          <a:prstGeom prst="rect">
            <a:avLst/>
          </a:prstGeom>
          <a:noFill/>
          <a:ln/>
        </p:spPr>
        <p:txBody>
          <a:bodyPr wrap="square" lIns="0" tIns="0" rIns="0" bIns="0" rtlCol="0" anchor="t"/>
          <a:lstStyle/>
          <a:p>
            <a:pPr marL="0" indent="0">
              <a:buNone/>
            </a:pPr>
            <a:r>
              <a:rPr lang="en-US" sz="1700" dirty="0">
                <a:solidFill>
                  <a:schemeClr val="accent4"/>
                </a:solidFill>
              </a:rPr>
              <a:t>Leading the visual idea across a campaign.</a:t>
            </a:r>
            <a:endParaRPr lang="en-US" sz="1700" dirty="0"/>
          </a:p>
        </p:txBody>
      </p:sp>
      <p:sp>
        <p:nvSpPr>
          <p:cNvPr id="27"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Skills and collaborators</a:t>
            </a:r>
            <a:endParaRPr lang="en-US" sz="3600" dirty="0"/>
          </a:p>
        </p:txBody>
      </p:sp>
      <p:sp>
        <p:nvSpPr>
          <p:cNvPr id="3" name="Skill card Visual"/>
          <p:cNvSpPr/>
          <p:nvPr/>
        </p:nvSpPr>
        <p:spPr>
          <a:xfrm>
            <a:off x="548640" y="1508760"/>
            <a:ext cx="3383280" cy="2103120"/>
          </a:xfrm>
          <a:prstGeom prst="rect">
            <a:avLst/>
          </a:prstGeom>
          <a:solidFill>
            <a:schemeClr val="bg2"/>
          </a:solidFill>
          <a:ln/>
        </p:spPr>
        <p:txBody>
          <a:bodyPr/>
          <a:lstStyle/>
          <a:p>
            <a:endParaRPr lang="en-US"/>
          </a:p>
        </p:txBody>
      </p:sp>
      <p:sp>
        <p:nvSpPr>
          <p:cNvPr id="4" name="Icon circle Visual"/>
          <p:cNvSpPr/>
          <p:nvPr/>
        </p:nvSpPr>
        <p:spPr>
          <a:xfrm>
            <a:off x="822960" y="1783080"/>
            <a:ext cx="640080" cy="640080"/>
          </a:xfrm>
          <a:prstGeom prst="ellipse">
            <a:avLst/>
          </a:prstGeom>
          <a:solidFill>
            <a:schemeClr val="accent1"/>
          </a:solidFill>
          <a:ln/>
        </p:spPr>
        <p:txBody>
          <a:bodyPr/>
          <a:lstStyle/>
          <a:p>
            <a:endParaRPr lang="en-US"/>
          </a:p>
        </p:txBody>
      </p:sp>
      <p:pic>
        <p:nvPicPr>
          <p:cNvPr id="5" name="Icon Visual" descr="Visual icon"/>
          <p:cNvPicPr>
            <a:picLocks noChangeAspect="1"/>
          </p:cNvPicPr>
          <p:nvPr/>
        </p:nvPicPr>
        <p:blipFill>
          <a:blip r:embed="rId3"/>
          <a:stretch>
            <a:fillRect/>
          </a:stretch>
        </p:blipFill>
        <p:spPr>
          <a:xfrm>
            <a:off x="989381" y="1949501"/>
            <a:ext cx="307238" cy="307238"/>
          </a:xfrm>
          <a:prstGeom prst="rect">
            <a:avLst/>
          </a:prstGeom>
        </p:spPr>
      </p:pic>
      <p:sp>
        <p:nvSpPr>
          <p:cNvPr id="6" name="Text 3"/>
          <p:cNvSpPr txBox="1"/>
          <p:nvPr/>
        </p:nvSpPr>
        <p:spPr>
          <a:xfrm>
            <a:off x="1645920" y="1874520"/>
            <a:ext cx="2103120" cy="457200"/>
          </a:xfrm>
          <a:prstGeom prst="rect">
            <a:avLst/>
          </a:prstGeom>
          <a:noFill/>
          <a:ln/>
        </p:spPr>
        <p:txBody>
          <a:bodyPr wrap="square" lIns="0" tIns="0" rIns="0" bIns="0" rtlCol="0" anchor="ctr"/>
          <a:lstStyle/>
          <a:p>
            <a:pPr marL="0" indent="0">
              <a:buNone/>
            </a:pPr>
            <a:r>
              <a:rPr lang="en-US" sz="2200" b="1" dirty="0">
                <a:solidFill>
                  <a:schemeClr val="tx1"/>
                </a:solidFill>
              </a:rPr>
              <a:t>Visual</a:t>
            </a:r>
            <a:endParaRPr lang="en-US" sz="2200" dirty="0"/>
          </a:p>
        </p:txBody>
      </p:sp>
      <p:sp>
        <p:nvSpPr>
          <p:cNvPr id="7" name="Text 4"/>
          <p:cNvSpPr txBox="1"/>
          <p:nvPr/>
        </p:nvSpPr>
        <p:spPr>
          <a:xfrm>
            <a:off x="822960" y="2651760"/>
            <a:ext cx="2834640" cy="868680"/>
          </a:xfrm>
          <a:prstGeom prst="rect">
            <a:avLst/>
          </a:prstGeom>
          <a:noFill/>
          <a:ln/>
        </p:spPr>
        <p:txBody>
          <a:bodyPr wrap="square" lIns="0" tIns="0" rIns="0" bIns="0" rtlCol="0" anchor="t"/>
          <a:lstStyle/>
          <a:p>
            <a:pPr marL="0" indent="0">
              <a:buNone/>
            </a:pPr>
            <a:r>
              <a:rPr lang="en-US" sz="1600" dirty="0">
                <a:solidFill>
                  <a:schemeClr val="accent4"/>
                </a:solidFill>
              </a:rPr>
              <a:t>Type, color, layout and composition.</a:t>
            </a:r>
            <a:endParaRPr lang="en-US" sz="1600" dirty="0"/>
          </a:p>
        </p:txBody>
      </p:sp>
      <p:sp>
        <p:nvSpPr>
          <p:cNvPr id="8" name="Skill card Technical"/>
          <p:cNvSpPr/>
          <p:nvPr/>
        </p:nvSpPr>
        <p:spPr>
          <a:xfrm>
            <a:off x="4114800" y="1508760"/>
            <a:ext cx="3383280" cy="2103120"/>
          </a:xfrm>
          <a:prstGeom prst="rect">
            <a:avLst/>
          </a:prstGeom>
          <a:solidFill>
            <a:schemeClr val="bg2"/>
          </a:solidFill>
          <a:ln/>
        </p:spPr>
        <p:txBody>
          <a:bodyPr/>
          <a:lstStyle/>
          <a:p>
            <a:endParaRPr lang="en-US"/>
          </a:p>
        </p:txBody>
      </p:sp>
      <p:sp>
        <p:nvSpPr>
          <p:cNvPr id="9" name="Icon circle Technical"/>
          <p:cNvSpPr/>
          <p:nvPr/>
        </p:nvSpPr>
        <p:spPr>
          <a:xfrm>
            <a:off x="4389120" y="1783080"/>
            <a:ext cx="640080" cy="640080"/>
          </a:xfrm>
          <a:prstGeom prst="ellipse">
            <a:avLst/>
          </a:prstGeom>
          <a:solidFill>
            <a:schemeClr val="accent2"/>
          </a:solidFill>
          <a:ln/>
        </p:spPr>
        <p:txBody>
          <a:bodyPr/>
          <a:lstStyle/>
          <a:p>
            <a:endParaRPr lang="en-US"/>
          </a:p>
        </p:txBody>
      </p:sp>
      <p:pic>
        <p:nvPicPr>
          <p:cNvPr id="10" name="Icon Technical" descr="Technical icon"/>
          <p:cNvPicPr>
            <a:picLocks noChangeAspect="1"/>
          </p:cNvPicPr>
          <p:nvPr/>
        </p:nvPicPr>
        <p:blipFill>
          <a:blip r:embed="rId4"/>
          <a:stretch>
            <a:fillRect/>
          </a:stretch>
        </p:blipFill>
        <p:spPr>
          <a:xfrm>
            <a:off x="4555541" y="1949501"/>
            <a:ext cx="307238" cy="307238"/>
          </a:xfrm>
          <a:prstGeom prst="rect">
            <a:avLst/>
          </a:prstGeom>
        </p:spPr>
      </p:pic>
      <p:sp>
        <p:nvSpPr>
          <p:cNvPr id="11" name="Text 7"/>
          <p:cNvSpPr txBox="1"/>
          <p:nvPr/>
        </p:nvSpPr>
        <p:spPr>
          <a:xfrm>
            <a:off x="5212080" y="1874520"/>
            <a:ext cx="2103120" cy="457200"/>
          </a:xfrm>
          <a:prstGeom prst="rect">
            <a:avLst/>
          </a:prstGeom>
          <a:noFill/>
          <a:ln/>
        </p:spPr>
        <p:txBody>
          <a:bodyPr wrap="square" lIns="0" tIns="0" rIns="0" bIns="0" rtlCol="0" anchor="ctr"/>
          <a:lstStyle/>
          <a:p>
            <a:pPr marL="0" indent="0">
              <a:buNone/>
            </a:pPr>
            <a:r>
              <a:rPr lang="en-US" sz="2200" b="1" dirty="0">
                <a:solidFill>
                  <a:schemeClr val="tx1"/>
                </a:solidFill>
              </a:rPr>
              <a:t>Technical</a:t>
            </a:r>
            <a:endParaRPr lang="en-US" sz="2200" dirty="0"/>
          </a:p>
        </p:txBody>
      </p:sp>
      <p:sp>
        <p:nvSpPr>
          <p:cNvPr id="12" name="Text 8"/>
          <p:cNvSpPr txBox="1"/>
          <p:nvPr/>
        </p:nvSpPr>
        <p:spPr>
          <a:xfrm>
            <a:off x="4389120" y="2651760"/>
            <a:ext cx="2834640" cy="868680"/>
          </a:xfrm>
          <a:prstGeom prst="rect">
            <a:avLst/>
          </a:prstGeom>
          <a:noFill/>
          <a:ln/>
        </p:spPr>
        <p:txBody>
          <a:bodyPr wrap="square" lIns="0" tIns="0" rIns="0" bIns="0" rtlCol="0" anchor="t"/>
          <a:lstStyle/>
          <a:p>
            <a:pPr marL="0" indent="0">
              <a:buNone/>
            </a:pPr>
            <a:r>
              <a:rPr lang="en-US" sz="1600" dirty="0">
                <a:solidFill>
                  <a:schemeClr val="accent4"/>
                </a:solidFill>
              </a:rPr>
              <a:t>Software, file formats, print and web production.</a:t>
            </a:r>
            <a:endParaRPr lang="en-US" sz="1600" dirty="0"/>
          </a:p>
        </p:txBody>
      </p:sp>
      <p:sp>
        <p:nvSpPr>
          <p:cNvPr id="13" name="Skill card Thinking"/>
          <p:cNvSpPr/>
          <p:nvPr/>
        </p:nvSpPr>
        <p:spPr>
          <a:xfrm>
            <a:off x="548640" y="3794760"/>
            <a:ext cx="3383280" cy="2103120"/>
          </a:xfrm>
          <a:prstGeom prst="rect">
            <a:avLst/>
          </a:prstGeom>
          <a:solidFill>
            <a:schemeClr val="bg2"/>
          </a:solidFill>
          <a:ln/>
        </p:spPr>
        <p:txBody>
          <a:bodyPr/>
          <a:lstStyle/>
          <a:p>
            <a:endParaRPr lang="en-US"/>
          </a:p>
        </p:txBody>
      </p:sp>
      <p:sp>
        <p:nvSpPr>
          <p:cNvPr id="14" name="Icon circle Thinking"/>
          <p:cNvSpPr/>
          <p:nvPr/>
        </p:nvSpPr>
        <p:spPr>
          <a:xfrm>
            <a:off x="822960" y="4069080"/>
            <a:ext cx="640080" cy="640080"/>
          </a:xfrm>
          <a:prstGeom prst="ellipse">
            <a:avLst/>
          </a:prstGeom>
          <a:solidFill>
            <a:schemeClr val="accent3"/>
          </a:solidFill>
          <a:ln/>
        </p:spPr>
        <p:txBody>
          <a:bodyPr/>
          <a:lstStyle/>
          <a:p>
            <a:endParaRPr lang="en-US"/>
          </a:p>
        </p:txBody>
      </p:sp>
      <p:pic>
        <p:nvPicPr>
          <p:cNvPr id="15" name="Icon Thinking" descr="Thinking icon"/>
          <p:cNvPicPr>
            <a:picLocks noChangeAspect="1"/>
          </p:cNvPicPr>
          <p:nvPr/>
        </p:nvPicPr>
        <p:blipFill>
          <a:blip r:embed="rId5"/>
          <a:stretch>
            <a:fillRect/>
          </a:stretch>
        </p:blipFill>
        <p:spPr>
          <a:xfrm>
            <a:off x="989381" y="4235501"/>
            <a:ext cx="307238" cy="307238"/>
          </a:xfrm>
          <a:prstGeom prst="rect">
            <a:avLst/>
          </a:prstGeom>
        </p:spPr>
      </p:pic>
      <p:sp>
        <p:nvSpPr>
          <p:cNvPr id="16" name="Text 11"/>
          <p:cNvSpPr txBox="1"/>
          <p:nvPr/>
        </p:nvSpPr>
        <p:spPr>
          <a:xfrm>
            <a:off x="1645920" y="4160520"/>
            <a:ext cx="2103120" cy="457200"/>
          </a:xfrm>
          <a:prstGeom prst="rect">
            <a:avLst/>
          </a:prstGeom>
          <a:noFill/>
          <a:ln/>
        </p:spPr>
        <p:txBody>
          <a:bodyPr wrap="square" lIns="0" tIns="0" rIns="0" bIns="0" rtlCol="0" anchor="ctr"/>
          <a:lstStyle/>
          <a:p>
            <a:pPr marL="0" indent="0">
              <a:buNone/>
            </a:pPr>
            <a:r>
              <a:rPr lang="en-US" sz="2200" b="1" dirty="0">
                <a:solidFill>
                  <a:schemeClr val="tx1"/>
                </a:solidFill>
              </a:rPr>
              <a:t>Thinking</a:t>
            </a:r>
            <a:endParaRPr lang="en-US" sz="2200" dirty="0"/>
          </a:p>
        </p:txBody>
      </p:sp>
      <p:sp>
        <p:nvSpPr>
          <p:cNvPr id="17" name="Text 12"/>
          <p:cNvSpPr txBox="1"/>
          <p:nvPr/>
        </p:nvSpPr>
        <p:spPr>
          <a:xfrm>
            <a:off x="822960" y="4937760"/>
            <a:ext cx="2834640" cy="868680"/>
          </a:xfrm>
          <a:prstGeom prst="rect">
            <a:avLst/>
          </a:prstGeom>
          <a:noFill/>
          <a:ln/>
        </p:spPr>
        <p:txBody>
          <a:bodyPr wrap="square" lIns="0" tIns="0" rIns="0" bIns="0" rtlCol="0" anchor="t"/>
          <a:lstStyle/>
          <a:p>
            <a:pPr marL="0" indent="0">
              <a:buNone/>
            </a:pPr>
            <a:r>
              <a:rPr lang="en-US" sz="1600" dirty="0">
                <a:solidFill>
                  <a:schemeClr val="accent4"/>
                </a:solidFill>
              </a:rPr>
              <a:t>Research, problem solving and concept development.</a:t>
            </a:r>
            <a:endParaRPr lang="en-US" sz="1600" dirty="0"/>
          </a:p>
        </p:txBody>
      </p:sp>
      <p:sp>
        <p:nvSpPr>
          <p:cNvPr id="18" name="Skill card People"/>
          <p:cNvSpPr/>
          <p:nvPr/>
        </p:nvSpPr>
        <p:spPr>
          <a:xfrm>
            <a:off x="4114800" y="3794760"/>
            <a:ext cx="3383280" cy="2103120"/>
          </a:xfrm>
          <a:prstGeom prst="rect">
            <a:avLst/>
          </a:prstGeom>
          <a:solidFill>
            <a:schemeClr val="bg2"/>
          </a:solidFill>
          <a:ln/>
        </p:spPr>
        <p:txBody>
          <a:bodyPr/>
          <a:lstStyle/>
          <a:p>
            <a:endParaRPr lang="en-US"/>
          </a:p>
        </p:txBody>
      </p:sp>
      <p:sp>
        <p:nvSpPr>
          <p:cNvPr id="19" name="Icon circle People"/>
          <p:cNvSpPr/>
          <p:nvPr/>
        </p:nvSpPr>
        <p:spPr>
          <a:xfrm>
            <a:off x="4389120" y="4069080"/>
            <a:ext cx="640080" cy="640080"/>
          </a:xfrm>
          <a:prstGeom prst="ellipse">
            <a:avLst/>
          </a:prstGeom>
          <a:solidFill>
            <a:schemeClr val="accent1"/>
          </a:solidFill>
          <a:ln/>
        </p:spPr>
        <p:txBody>
          <a:bodyPr/>
          <a:lstStyle/>
          <a:p>
            <a:endParaRPr lang="en-US"/>
          </a:p>
        </p:txBody>
      </p:sp>
      <p:pic>
        <p:nvPicPr>
          <p:cNvPr id="20" name="Icon People" descr="People icon"/>
          <p:cNvPicPr>
            <a:picLocks noChangeAspect="1"/>
          </p:cNvPicPr>
          <p:nvPr/>
        </p:nvPicPr>
        <p:blipFill>
          <a:blip r:embed="rId6"/>
          <a:stretch>
            <a:fillRect/>
          </a:stretch>
        </p:blipFill>
        <p:spPr>
          <a:xfrm>
            <a:off x="4555541" y="4235501"/>
            <a:ext cx="307238" cy="307238"/>
          </a:xfrm>
          <a:prstGeom prst="rect">
            <a:avLst/>
          </a:prstGeom>
        </p:spPr>
      </p:pic>
      <p:sp>
        <p:nvSpPr>
          <p:cNvPr id="21" name="Text 15"/>
          <p:cNvSpPr txBox="1"/>
          <p:nvPr/>
        </p:nvSpPr>
        <p:spPr>
          <a:xfrm>
            <a:off x="5212080" y="4160520"/>
            <a:ext cx="2103120" cy="457200"/>
          </a:xfrm>
          <a:prstGeom prst="rect">
            <a:avLst/>
          </a:prstGeom>
          <a:noFill/>
          <a:ln/>
        </p:spPr>
        <p:txBody>
          <a:bodyPr wrap="square" lIns="0" tIns="0" rIns="0" bIns="0" rtlCol="0" anchor="ctr"/>
          <a:lstStyle/>
          <a:p>
            <a:pPr marL="0" indent="0">
              <a:buNone/>
            </a:pPr>
            <a:r>
              <a:rPr lang="en-US" sz="2200" b="1" dirty="0">
                <a:solidFill>
                  <a:schemeClr val="tx1"/>
                </a:solidFill>
              </a:rPr>
              <a:t>People</a:t>
            </a:r>
            <a:endParaRPr lang="en-US" sz="2200" dirty="0"/>
          </a:p>
        </p:txBody>
      </p:sp>
      <p:sp>
        <p:nvSpPr>
          <p:cNvPr id="22" name="Text 16"/>
          <p:cNvSpPr txBox="1"/>
          <p:nvPr/>
        </p:nvSpPr>
        <p:spPr>
          <a:xfrm>
            <a:off x="4389120" y="4937760"/>
            <a:ext cx="2834640" cy="868680"/>
          </a:xfrm>
          <a:prstGeom prst="rect">
            <a:avLst/>
          </a:prstGeom>
          <a:noFill/>
          <a:ln/>
        </p:spPr>
        <p:txBody>
          <a:bodyPr wrap="square" lIns="0" tIns="0" rIns="0" bIns="0" rtlCol="0" anchor="t"/>
          <a:lstStyle/>
          <a:p>
            <a:pPr marL="0" indent="0">
              <a:buNone/>
            </a:pPr>
            <a:r>
              <a:rPr lang="en-US" sz="1600" dirty="0">
                <a:solidFill>
                  <a:schemeClr val="accent4"/>
                </a:solidFill>
              </a:rPr>
              <a:t>Communication, teamwork and taking feedback.</a:t>
            </a:r>
            <a:endParaRPr lang="en-US" sz="1600" dirty="0"/>
          </a:p>
        </p:txBody>
      </p:sp>
      <p:sp>
        <p:nvSpPr>
          <p:cNvPr id="23" name="Collaborators panel"/>
          <p:cNvSpPr/>
          <p:nvPr/>
        </p:nvSpPr>
        <p:spPr>
          <a:xfrm>
            <a:off x="7772400" y="1508760"/>
            <a:ext cx="3870655" cy="4389120"/>
          </a:xfrm>
          <a:prstGeom prst="rect">
            <a:avLst/>
          </a:prstGeom>
          <a:solidFill>
            <a:schemeClr val="tx1"/>
          </a:solidFill>
          <a:ln/>
        </p:spPr>
        <p:txBody>
          <a:bodyPr/>
          <a:lstStyle/>
          <a:p>
            <a:endParaRPr lang="en-US"/>
          </a:p>
        </p:txBody>
      </p:sp>
      <p:sp>
        <p:nvSpPr>
          <p:cNvPr id="24" name="Text 18"/>
          <p:cNvSpPr txBox="1"/>
          <p:nvPr/>
        </p:nvSpPr>
        <p:spPr>
          <a:xfrm>
            <a:off x="8138160" y="1828800"/>
            <a:ext cx="3200400" cy="457200"/>
          </a:xfrm>
          <a:prstGeom prst="rect">
            <a:avLst/>
          </a:prstGeom>
          <a:noFill/>
          <a:ln/>
        </p:spPr>
        <p:txBody>
          <a:bodyPr wrap="square" lIns="0" tIns="0" rIns="0" bIns="0" rtlCol="0" anchor="t"/>
          <a:lstStyle/>
          <a:p>
            <a:pPr marL="0" indent="0">
              <a:buNone/>
            </a:pPr>
            <a:r>
              <a:rPr lang="en-US" sz="2200" b="1" dirty="0">
                <a:solidFill>
                  <a:schemeClr val="bg1"/>
                </a:solidFill>
              </a:rPr>
              <a:t>Designers work with</a:t>
            </a:r>
            <a:endParaRPr lang="en-US" sz="2200" dirty="0"/>
          </a:p>
        </p:txBody>
      </p:sp>
      <p:sp>
        <p:nvSpPr>
          <p:cNvPr id="25" name="Collaborators list"/>
          <p:cNvSpPr txBox="1"/>
          <p:nvPr/>
        </p:nvSpPr>
        <p:spPr>
          <a:xfrm>
            <a:off x="8138160" y="2514600"/>
            <a:ext cx="3200400" cy="3108960"/>
          </a:xfrm>
          <a:prstGeom prst="rect">
            <a:avLst/>
          </a:prstGeom>
          <a:noFill/>
          <a:ln/>
        </p:spPr>
        <p:txBody>
          <a:bodyPr wrap="square" lIns="0" tIns="0" rIns="0" bIns="0" rtlCol="0" anchor="t"/>
          <a:lstStyle/>
          <a:p>
            <a:pPr marL="342900" indent="-342900">
              <a:spcAft>
                <a:spcPts val="1600"/>
              </a:spcAft>
              <a:buSzPct val="100000"/>
              <a:buChar char="•"/>
            </a:pPr>
            <a:r>
              <a:rPr lang="en-US" sz="2000" dirty="0">
                <a:solidFill>
                  <a:schemeClr val="bg1"/>
                </a:solidFill>
              </a:rPr>
              <a:t>Clients and stakeholders</a:t>
            </a:r>
            <a:endParaRPr lang="en-US" sz="2000" dirty="0"/>
          </a:p>
          <a:p>
            <a:pPr marL="342900" indent="-342900">
              <a:spcAft>
                <a:spcPts val="1600"/>
              </a:spcAft>
              <a:buSzPct val="100000"/>
              <a:buChar char="•"/>
            </a:pPr>
            <a:r>
              <a:rPr lang="en-US" sz="2000" dirty="0">
                <a:solidFill>
                  <a:schemeClr val="bg1"/>
                </a:solidFill>
              </a:rPr>
              <a:t>Copywriters and editors</a:t>
            </a:r>
            <a:endParaRPr lang="en-US" sz="2000" dirty="0"/>
          </a:p>
          <a:p>
            <a:pPr marL="342900" indent="-342900">
              <a:spcAft>
                <a:spcPts val="1600"/>
              </a:spcAft>
              <a:buSzPct val="100000"/>
              <a:buChar char="•"/>
            </a:pPr>
            <a:r>
              <a:rPr lang="en-US" sz="2000" dirty="0">
                <a:solidFill>
                  <a:schemeClr val="bg1"/>
                </a:solidFill>
              </a:rPr>
              <a:t>Photographers and illustrators</a:t>
            </a:r>
            <a:endParaRPr lang="en-US" sz="2000" dirty="0"/>
          </a:p>
          <a:p>
            <a:pPr marL="342900" indent="-342900">
              <a:spcAft>
                <a:spcPts val="1600"/>
              </a:spcAft>
              <a:buSzPct val="100000"/>
              <a:buChar char="•"/>
            </a:pPr>
            <a:r>
              <a:rPr lang="en-US" sz="2000" dirty="0">
                <a:solidFill>
                  <a:schemeClr val="bg1"/>
                </a:solidFill>
              </a:rPr>
              <a:t>Developers and engineers</a:t>
            </a:r>
            <a:endParaRPr lang="en-US" sz="2000" dirty="0"/>
          </a:p>
          <a:p>
            <a:pPr marL="342900" indent="-342900">
              <a:spcAft>
                <a:spcPts val="1600"/>
              </a:spcAft>
              <a:buSzPct val="100000"/>
              <a:buChar char="•"/>
            </a:pPr>
            <a:r>
              <a:rPr lang="en-US" sz="2000" dirty="0">
                <a:solidFill>
                  <a:schemeClr val="bg1"/>
                </a:solidFill>
              </a:rPr>
              <a:t>Printers and manufacturers</a:t>
            </a:r>
            <a:endParaRPr lang="en-US" sz="2000" dirty="0"/>
          </a:p>
        </p:txBody>
      </p:sp>
      <p:sp>
        <p:nvSpPr>
          <p:cNvPr id="26"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How a visual message travels</a:t>
            </a:r>
            <a:endParaRPr lang="en-US" sz="3600" dirty="0"/>
          </a:p>
        </p:txBody>
      </p:sp>
      <p:sp>
        <p:nvSpPr>
          <p:cNvPr id="3" name="Flow box Sender"/>
          <p:cNvSpPr/>
          <p:nvPr/>
        </p:nvSpPr>
        <p:spPr>
          <a:xfrm>
            <a:off x="548640" y="1645920"/>
            <a:ext cx="2194560" cy="1737360"/>
          </a:xfrm>
          <a:prstGeom prst="rect">
            <a:avLst/>
          </a:prstGeom>
          <a:solidFill>
            <a:schemeClr val="accent1"/>
          </a:solidFill>
          <a:ln/>
        </p:spPr>
        <p:txBody>
          <a:bodyPr/>
          <a:lstStyle/>
          <a:p>
            <a:endParaRPr lang="en-US"/>
          </a:p>
        </p:txBody>
      </p:sp>
      <p:sp>
        <p:nvSpPr>
          <p:cNvPr id="4" name="Text 2"/>
          <p:cNvSpPr txBox="1"/>
          <p:nvPr/>
        </p:nvSpPr>
        <p:spPr>
          <a:xfrm>
            <a:off x="731520" y="1828800"/>
            <a:ext cx="1828800" cy="457200"/>
          </a:xfrm>
          <a:prstGeom prst="rect">
            <a:avLst/>
          </a:prstGeom>
          <a:noFill/>
          <a:ln/>
        </p:spPr>
        <p:txBody>
          <a:bodyPr wrap="square" lIns="0" tIns="0" rIns="0" bIns="0" rtlCol="0" anchor="t"/>
          <a:lstStyle/>
          <a:p>
            <a:pPr marL="0" indent="0">
              <a:buNone/>
            </a:pPr>
            <a:r>
              <a:rPr lang="en-US" sz="2200" b="1" dirty="0">
                <a:solidFill>
                  <a:schemeClr val="bg1"/>
                </a:solidFill>
              </a:rPr>
              <a:t>Sender</a:t>
            </a:r>
            <a:endParaRPr lang="en-US" sz="2200" dirty="0"/>
          </a:p>
        </p:txBody>
      </p:sp>
      <p:sp>
        <p:nvSpPr>
          <p:cNvPr id="5" name="Text 3"/>
          <p:cNvSpPr txBox="1"/>
          <p:nvPr/>
        </p:nvSpPr>
        <p:spPr>
          <a:xfrm>
            <a:off x="731520" y="2377440"/>
            <a:ext cx="1828800" cy="914400"/>
          </a:xfrm>
          <a:prstGeom prst="rect">
            <a:avLst/>
          </a:prstGeom>
          <a:noFill/>
          <a:ln/>
        </p:spPr>
        <p:txBody>
          <a:bodyPr wrap="square" lIns="0" tIns="0" rIns="0" bIns="0" rtlCol="0" anchor="t"/>
          <a:lstStyle/>
          <a:p>
            <a:pPr marL="0" indent="0">
              <a:buNone/>
            </a:pPr>
            <a:r>
              <a:rPr lang="en-US" sz="1500" dirty="0">
                <a:solidFill>
                  <a:schemeClr val="bg1"/>
                </a:solidFill>
              </a:rPr>
              <a:t>The designer and client, with an idea</a:t>
            </a:r>
            <a:endParaRPr lang="en-US" sz="1500" dirty="0"/>
          </a:p>
        </p:txBody>
      </p:sp>
      <p:sp>
        <p:nvSpPr>
          <p:cNvPr id="6" name="Flow arrow 1"/>
          <p:cNvSpPr/>
          <p:nvPr/>
        </p:nvSpPr>
        <p:spPr>
          <a:xfrm>
            <a:off x="2816352" y="2514600"/>
            <a:ext cx="625754" cy="0"/>
          </a:xfrm>
          <a:prstGeom prst="line">
            <a:avLst/>
          </a:prstGeom>
          <a:noFill/>
          <a:ln w="31750">
            <a:solidFill>
              <a:schemeClr val="tx1"/>
            </a:solidFill>
            <a:prstDash val="solid"/>
            <a:tailEnd type="triangle"/>
          </a:ln>
        </p:spPr>
        <p:txBody>
          <a:bodyPr/>
          <a:lstStyle/>
          <a:p>
            <a:endParaRPr lang="en-US"/>
          </a:p>
        </p:txBody>
      </p:sp>
      <p:sp>
        <p:nvSpPr>
          <p:cNvPr id="7" name="Flow box Message"/>
          <p:cNvSpPr/>
          <p:nvPr/>
        </p:nvSpPr>
        <p:spPr>
          <a:xfrm>
            <a:off x="3515258" y="1645920"/>
            <a:ext cx="2194560" cy="1737360"/>
          </a:xfrm>
          <a:prstGeom prst="rect">
            <a:avLst/>
          </a:prstGeom>
          <a:solidFill>
            <a:schemeClr val="accent2"/>
          </a:solidFill>
          <a:ln/>
        </p:spPr>
        <p:txBody>
          <a:bodyPr/>
          <a:lstStyle/>
          <a:p>
            <a:endParaRPr lang="en-US"/>
          </a:p>
        </p:txBody>
      </p:sp>
      <p:sp>
        <p:nvSpPr>
          <p:cNvPr id="8" name="Text 6"/>
          <p:cNvSpPr txBox="1"/>
          <p:nvPr/>
        </p:nvSpPr>
        <p:spPr>
          <a:xfrm>
            <a:off x="3698138" y="1828800"/>
            <a:ext cx="1828800" cy="457200"/>
          </a:xfrm>
          <a:prstGeom prst="rect">
            <a:avLst/>
          </a:prstGeom>
          <a:noFill/>
          <a:ln/>
        </p:spPr>
        <p:txBody>
          <a:bodyPr wrap="square" lIns="0" tIns="0" rIns="0" bIns="0" rtlCol="0" anchor="t"/>
          <a:lstStyle/>
          <a:p>
            <a:pPr marL="0" indent="0">
              <a:buNone/>
            </a:pPr>
            <a:r>
              <a:rPr lang="en-US" sz="2200" b="1" dirty="0">
                <a:solidFill>
                  <a:schemeClr val="bg1"/>
                </a:solidFill>
              </a:rPr>
              <a:t>Message</a:t>
            </a:r>
            <a:endParaRPr lang="en-US" sz="2200" dirty="0"/>
          </a:p>
        </p:txBody>
      </p:sp>
      <p:sp>
        <p:nvSpPr>
          <p:cNvPr id="9" name="Text 7"/>
          <p:cNvSpPr txBox="1"/>
          <p:nvPr/>
        </p:nvSpPr>
        <p:spPr>
          <a:xfrm>
            <a:off x="3698138" y="2377440"/>
            <a:ext cx="1828800" cy="914400"/>
          </a:xfrm>
          <a:prstGeom prst="rect">
            <a:avLst/>
          </a:prstGeom>
          <a:noFill/>
          <a:ln/>
        </p:spPr>
        <p:txBody>
          <a:bodyPr wrap="square" lIns="0" tIns="0" rIns="0" bIns="0" rtlCol="0" anchor="t"/>
          <a:lstStyle/>
          <a:p>
            <a:pPr marL="0" indent="0">
              <a:buNone/>
            </a:pPr>
            <a:r>
              <a:rPr lang="en-US" sz="1500" dirty="0">
                <a:solidFill>
                  <a:schemeClr val="bg1"/>
                </a:solidFill>
              </a:rPr>
              <a:t>The idea encoded as type, image, color and layout</a:t>
            </a:r>
            <a:endParaRPr lang="en-US" sz="1500" dirty="0"/>
          </a:p>
        </p:txBody>
      </p:sp>
      <p:sp>
        <p:nvSpPr>
          <p:cNvPr id="10" name="Flow arrow 2"/>
          <p:cNvSpPr/>
          <p:nvPr/>
        </p:nvSpPr>
        <p:spPr>
          <a:xfrm>
            <a:off x="5782970" y="2514600"/>
            <a:ext cx="625754" cy="0"/>
          </a:xfrm>
          <a:prstGeom prst="line">
            <a:avLst/>
          </a:prstGeom>
          <a:noFill/>
          <a:ln w="31750">
            <a:solidFill>
              <a:schemeClr val="tx1"/>
            </a:solidFill>
            <a:prstDash val="solid"/>
            <a:tailEnd type="triangle"/>
          </a:ln>
        </p:spPr>
        <p:txBody>
          <a:bodyPr/>
          <a:lstStyle/>
          <a:p>
            <a:endParaRPr lang="en-US"/>
          </a:p>
        </p:txBody>
      </p:sp>
      <p:sp>
        <p:nvSpPr>
          <p:cNvPr id="11" name="Flow box Medium"/>
          <p:cNvSpPr/>
          <p:nvPr/>
        </p:nvSpPr>
        <p:spPr>
          <a:xfrm>
            <a:off x="6481877" y="1645920"/>
            <a:ext cx="2194560" cy="1737360"/>
          </a:xfrm>
          <a:prstGeom prst="rect">
            <a:avLst/>
          </a:prstGeom>
          <a:solidFill>
            <a:schemeClr val="accent3"/>
          </a:solidFill>
          <a:ln/>
        </p:spPr>
        <p:txBody>
          <a:bodyPr/>
          <a:lstStyle/>
          <a:p>
            <a:endParaRPr lang="en-US"/>
          </a:p>
        </p:txBody>
      </p:sp>
      <p:sp>
        <p:nvSpPr>
          <p:cNvPr id="12" name="Text 10"/>
          <p:cNvSpPr txBox="1"/>
          <p:nvPr/>
        </p:nvSpPr>
        <p:spPr>
          <a:xfrm>
            <a:off x="6664757" y="1828800"/>
            <a:ext cx="1828800" cy="457200"/>
          </a:xfrm>
          <a:prstGeom prst="rect">
            <a:avLst/>
          </a:prstGeom>
          <a:noFill/>
          <a:ln/>
        </p:spPr>
        <p:txBody>
          <a:bodyPr wrap="square" lIns="0" tIns="0" rIns="0" bIns="0" rtlCol="0" anchor="t"/>
          <a:lstStyle/>
          <a:p>
            <a:pPr marL="0" indent="0">
              <a:buNone/>
            </a:pPr>
            <a:r>
              <a:rPr lang="en-US" sz="2200" b="1" dirty="0">
                <a:solidFill>
                  <a:schemeClr val="tx1"/>
                </a:solidFill>
              </a:rPr>
              <a:t>Medium</a:t>
            </a:r>
            <a:endParaRPr lang="en-US" sz="2200" dirty="0"/>
          </a:p>
        </p:txBody>
      </p:sp>
      <p:sp>
        <p:nvSpPr>
          <p:cNvPr id="13" name="Text 11"/>
          <p:cNvSpPr txBox="1"/>
          <p:nvPr/>
        </p:nvSpPr>
        <p:spPr>
          <a:xfrm>
            <a:off x="6664757" y="2377440"/>
            <a:ext cx="1828800" cy="914400"/>
          </a:xfrm>
          <a:prstGeom prst="rect">
            <a:avLst/>
          </a:prstGeom>
          <a:noFill/>
          <a:ln/>
        </p:spPr>
        <p:txBody>
          <a:bodyPr wrap="square" lIns="0" tIns="0" rIns="0" bIns="0" rtlCol="0" anchor="t"/>
          <a:lstStyle/>
          <a:p>
            <a:pPr marL="0" indent="0">
              <a:buNone/>
            </a:pPr>
            <a:r>
              <a:rPr lang="en-US" sz="1500" dirty="0">
                <a:solidFill>
                  <a:schemeClr val="tx1"/>
                </a:solidFill>
              </a:rPr>
              <a:t>Poster, screen, package or sign</a:t>
            </a:r>
            <a:endParaRPr lang="en-US" sz="1500" dirty="0"/>
          </a:p>
        </p:txBody>
      </p:sp>
      <p:sp>
        <p:nvSpPr>
          <p:cNvPr id="14" name="Flow arrow 3"/>
          <p:cNvSpPr/>
          <p:nvPr/>
        </p:nvSpPr>
        <p:spPr>
          <a:xfrm>
            <a:off x="8749589" y="2514600"/>
            <a:ext cx="625754" cy="0"/>
          </a:xfrm>
          <a:prstGeom prst="line">
            <a:avLst/>
          </a:prstGeom>
          <a:noFill/>
          <a:ln w="31750">
            <a:solidFill>
              <a:schemeClr val="tx1"/>
            </a:solidFill>
            <a:prstDash val="solid"/>
            <a:tailEnd type="triangle"/>
          </a:ln>
        </p:spPr>
        <p:txBody>
          <a:bodyPr/>
          <a:lstStyle/>
          <a:p>
            <a:endParaRPr lang="en-US"/>
          </a:p>
        </p:txBody>
      </p:sp>
      <p:sp>
        <p:nvSpPr>
          <p:cNvPr id="15" name="Flow box Receiver"/>
          <p:cNvSpPr/>
          <p:nvPr/>
        </p:nvSpPr>
        <p:spPr>
          <a:xfrm>
            <a:off x="9448495" y="1645920"/>
            <a:ext cx="2194560" cy="1737360"/>
          </a:xfrm>
          <a:prstGeom prst="rect">
            <a:avLst/>
          </a:prstGeom>
          <a:solidFill>
            <a:schemeClr val="tx1"/>
          </a:solidFill>
          <a:ln/>
        </p:spPr>
        <p:txBody>
          <a:bodyPr/>
          <a:lstStyle/>
          <a:p>
            <a:endParaRPr lang="en-US"/>
          </a:p>
        </p:txBody>
      </p:sp>
      <p:sp>
        <p:nvSpPr>
          <p:cNvPr id="16" name="Text 14"/>
          <p:cNvSpPr txBox="1"/>
          <p:nvPr/>
        </p:nvSpPr>
        <p:spPr>
          <a:xfrm>
            <a:off x="9631375" y="1828800"/>
            <a:ext cx="1828800" cy="457200"/>
          </a:xfrm>
          <a:prstGeom prst="rect">
            <a:avLst/>
          </a:prstGeom>
          <a:noFill/>
          <a:ln/>
        </p:spPr>
        <p:txBody>
          <a:bodyPr wrap="square" lIns="0" tIns="0" rIns="0" bIns="0" rtlCol="0" anchor="t"/>
          <a:lstStyle/>
          <a:p>
            <a:pPr marL="0" indent="0">
              <a:buNone/>
            </a:pPr>
            <a:r>
              <a:rPr lang="en-US" sz="2200" b="1" dirty="0">
                <a:solidFill>
                  <a:schemeClr val="bg1"/>
                </a:solidFill>
              </a:rPr>
              <a:t>Receiver</a:t>
            </a:r>
            <a:endParaRPr lang="en-US" sz="2200" dirty="0"/>
          </a:p>
        </p:txBody>
      </p:sp>
      <p:sp>
        <p:nvSpPr>
          <p:cNvPr id="17" name="Text 15"/>
          <p:cNvSpPr txBox="1"/>
          <p:nvPr/>
        </p:nvSpPr>
        <p:spPr>
          <a:xfrm>
            <a:off x="9631375" y="2377440"/>
            <a:ext cx="1828800" cy="914400"/>
          </a:xfrm>
          <a:prstGeom prst="rect">
            <a:avLst/>
          </a:prstGeom>
          <a:noFill/>
          <a:ln/>
        </p:spPr>
        <p:txBody>
          <a:bodyPr wrap="square" lIns="0" tIns="0" rIns="0" bIns="0" rtlCol="0" anchor="t"/>
          <a:lstStyle/>
          <a:p>
            <a:pPr marL="0" indent="0">
              <a:buNone/>
            </a:pPr>
            <a:r>
              <a:rPr lang="en-US" sz="1500" dirty="0">
                <a:solidFill>
                  <a:schemeClr val="bg1"/>
                </a:solidFill>
              </a:rPr>
              <a:t>The audience decodes the message</a:t>
            </a:r>
            <a:endParaRPr lang="en-US" sz="1500" dirty="0"/>
          </a:p>
        </p:txBody>
      </p:sp>
      <p:sp>
        <p:nvSpPr>
          <p:cNvPr id="18" name="Noise panel"/>
          <p:cNvSpPr/>
          <p:nvPr/>
        </p:nvSpPr>
        <p:spPr>
          <a:xfrm>
            <a:off x="548640" y="3749040"/>
            <a:ext cx="5394960" cy="2103120"/>
          </a:xfrm>
          <a:prstGeom prst="rect">
            <a:avLst/>
          </a:prstGeom>
          <a:solidFill>
            <a:schemeClr val="bg2"/>
          </a:solidFill>
          <a:ln/>
        </p:spPr>
        <p:txBody>
          <a:bodyPr/>
          <a:lstStyle/>
          <a:p>
            <a:endParaRPr lang="en-US"/>
          </a:p>
        </p:txBody>
      </p:sp>
      <p:sp>
        <p:nvSpPr>
          <p:cNvPr id="19" name="Icon circle Noise"/>
          <p:cNvSpPr/>
          <p:nvPr/>
        </p:nvSpPr>
        <p:spPr>
          <a:xfrm>
            <a:off x="822960" y="4023360"/>
            <a:ext cx="731520" cy="731520"/>
          </a:xfrm>
          <a:prstGeom prst="ellipse">
            <a:avLst/>
          </a:prstGeom>
          <a:solidFill>
            <a:schemeClr val="accent2"/>
          </a:solidFill>
          <a:ln/>
        </p:spPr>
        <p:txBody>
          <a:bodyPr/>
          <a:lstStyle/>
          <a:p>
            <a:endParaRPr lang="en-US"/>
          </a:p>
        </p:txBody>
      </p:sp>
      <p:pic>
        <p:nvPicPr>
          <p:cNvPr id="20" name="Icon Noise" descr="Noise icon"/>
          <p:cNvPicPr>
            <a:picLocks noChangeAspect="1"/>
          </p:cNvPicPr>
          <p:nvPr/>
        </p:nvPicPr>
        <p:blipFill>
          <a:blip r:embed="rId3"/>
          <a:stretch>
            <a:fillRect/>
          </a:stretch>
        </p:blipFill>
        <p:spPr>
          <a:xfrm>
            <a:off x="1013155" y="4213555"/>
            <a:ext cx="351130" cy="351130"/>
          </a:xfrm>
          <a:prstGeom prst="rect">
            <a:avLst/>
          </a:prstGeom>
        </p:spPr>
      </p:pic>
      <p:sp>
        <p:nvSpPr>
          <p:cNvPr id="21" name="Text 18"/>
          <p:cNvSpPr txBox="1"/>
          <p:nvPr/>
        </p:nvSpPr>
        <p:spPr>
          <a:xfrm>
            <a:off x="1828800" y="4023360"/>
            <a:ext cx="3840480" cy="457200"/>
          </a:xfrm>
          <a:prstGeom prst="rect">
            <a:avLst/>
          </a:prstGeom>
          <a:noFill/>
          <a:ln/>
        </p:spPr>
        <p:txBody>
          <a:bodyPr wrap="square" lIns="0" tIns="0" rIns="0" bIns="0" rtlCol="0" anchor="ctr"/>
          <a:lstStyle/>
          <a:p>
            <a:pPr marL="0" indent="0">
              <a:buNone/>
            </a:pPr>
            <a:r>
              <a:rPr lang="en-US" sz="2200" b="1" dirty="0">
                <a:solidFill>
                  <a:schemeClr val="tx1"/>
                </a:solidFill>
              </a:rPr>
              <a:t>Noise</a:t>
            </a:r>
            <a:endParaRPr lang="en-US" sz="2200" dirty="0"/>
          </a:p>
        </p:txBody>
      </p:sp>
      <p:sp>
        <p:nvSpPr>
          <p:cNvPr id="22" name="Text 19"/>
          <p:cNvSpPr txBox="1"/>
          <p:nvPr/>
        </p:nvSpPr>
        <p:spPr>
          <a:xfrm>
            <a:off x="1828800" y="4572000"/>
            <a:ext cx="3840480" cy="1097280"/>
          </a:xfrm>
          <a:prstGeom prst="rect">
            <a:avLst/>
          </a:prstGeom>
          <a:noFill/>
          <a:ln/>
        </p:spPr>
        <p:txBody>
          <a:bodyPr wrap="square" lIns="0" tIns="0" rIns="0" bIns="0" rtlCol="0" anchor="t"/>
          <a:lstStyle/>
          <a:p>
            <a:pPr marL="0" indent="0">
              <a:buNone/>
            </a:pPr>
            <a:r>
              <a:rPr lang="en-US" sz="1600" dirty="0">
                <a:solidFill>
                  <a:schemeClr val="accent4"/>
                </a:solidFill>
              </a:rPr>
              <a:t>Anything that blocks the message: clutter, poor contrast, unclear text or a distracting setting.</a:t>
            </a:r>
            <a:endParaRPr lang="en-US" sz="1600" dirty="0"/>
          </a:p>
        </p:txBody>
      </p:sp>
      <p:sp>
        <p:nvSpPr>
          <p:cNvPr id="23" name="Feedback panel"/>
          <p:cNvSpPr/>
          <p:nvPr/>
        </p:nvSpPr>
        <p:spPr>
          <a:xfrm>
            <a:off x="6248095" y="3749040"/>
            <a:ext cx="5394960" cy="2103120"/>
          </a:xfrm>
          <a:prstGeom prst="rect">
            <a:avLst/>
          </a:prstGeom>
          <a:solidFill>
            <a:schemeClr val="bg2"/>
          </a:solidFill>
          <a:ln/>
        </p:spPr>
        <p:txBody>
          <a:bodyPr/>
          <a:lstStyle/>
          <a:p>
            <a:endParaRPr lang="en-US"/>
          </a:p>
        </p:txBody>
      </p:sp>
      <p:sp>
        <p:nvSpPr>
          <p:cNvPr id="24" name="Icon circle Feedback"/>
          <p:cNvSpPr/>
          <p:nvPr/>
        </p:nvSpPr>
        <p:spPr>
          <a:xfrm>
            <a:off x="6522415" y="4023360"/>
            <a:ext cx="731520" cy="731520"/>
          </a:xfrm>
          <a:prstGeom prst="ellipse">
            <a:avLst/>
          </a:prstGeom>
          <a:solidFill>
            <a:schemeClr val="accent1"/>
          </a:solidFill>
          <a:ln/>
        </p:spPr>
        <p:txBody>
          <a:bodyPr/>
          <a:lstStyle/>
          <a:p>
            <a:endParaRPr lang="en-US"/>
          </a:p>
        </p:txBody>
      </p:sp>
      <p:pic>
        <p:nvPicPr>
          <p:cNvPr id="25" name="Icon Feedback" descr="Feedback icon"/>
          <p:cNvPicPr>
            <a:picLocks noChangeAspect="1"/>
          </p:cNvPicPr>
          <p:nvPr/>
        </p:nvPicPr>
        <p:blipFill>
          <a:blip r:embed="rId4"/>
          <a:stretch>
            <a:fillRect/>
          </a:stretch>
        </p:blipFill>
        <p:spPr>
          <a:xfrm>
            <a:off x="6712610" y="4213555"/>
            <a:ext cx="351130" cy="351130"/>
          </a:xfrm>
          <a:prstGeom prst="rect">
            <a:avLst/>
          </a:prstGeom>
        </p:spPr>
      </p:pic>
      <p:sp>
        <p:nvSpPr>
          <p:cNvPr id="26" name="Text 22"/>
          <p:cNvSpPr txBox="1"/>
          <p:nvPr/>
        </p:nvSpPr>
        <p:spPr>
          <a:xfrm>
            <a:off x="7528255" y="4023360"/>
            <a:ext cx="3840480" cy="457200"/>
          </a:xfrm>
          <a:prstGeom prst="rect">
            <a:avLst/>
          </a:prstGeom>
          <a:noFill/>
          <a:ln/>
        </p:spPr>
        <p:txBody>
          <a:bodyPr wrap="square" lIns="0" tIns="0" rIns="0" bIns="0" rtlCol="0" anchor="ctr"/>
          <a:lstStyle/>
          <a:p>
            <a:pPr marL="0" indent="0">
              <a:buNone/>
            </a:pPr>
            <a:r>
              <a:rPr lang="en-US" sz="2200" b="1" dirty="0">
                <a:solidFill>
                  <a:schemeClr val="tx1"/>
                </a:solidFill>
              </a:rPr>
              <a:t>Feedback</a:t>
            </a:r>
            <a:endParaRPr lang="en-US" sz="2200" dirty="0"/>
          </a:p>
        </p:txBody>
      </p:sp>
      <p:sp>
        <p:nvSpPr>
          <p:cNvPr id="27" name="Text 23"/>
          <p:cNvSpPr txBox="1"/>
          <p:nvPr/>
        </p:nvSpPr>
        <p:spPr>
          <a:xfrm>
            <a:off x="7528255" y="4572000"/>
            <a:ext cx="3840480" cy="1097280"/>
          </a:xfrm>
          <a:prstGeom prst="rect">
            <a:avLst/>
          </a:prstGeom>
          <a:noFill/>
          <a:ln/>
        </p:spPr>
        <p:txBody>
          <a:bodyPr wrap="square" lIns="0" tIns="0" rIns="0" bIns="0" rtlCol="0" anchor="t"/>
          <a:lstStyle/>
          <a:p>
            <a:pPr marL="0" indent="0">
              <a:buNone/>
            </a:pPr>
            <a:r>
              <a:rPr lang="en-US" sz="1600" dirty="0">
                <a:solidFill>
                  <a:schemeClr val="accent4"/>
                </a:solidFill>
              </a:rPr>
              <a:t>Does the audience understand and act? Test with real viewers, then revise.</a:t>
            </a:r>
            <a:endParaRPr lang="en-US" sz="1600" dirty="0"/>
          </a:p>
        </p:txBody>
      </p:sp>
      <p:sp>
        <p:nvSpPr>
          <p:cNvPr id="28"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Three ways visual signs carry meaning</a:t>
            </a:r>
            <a:endParaRPr lang="en-US" sz="3600" dirty="0"/>
          </a:p>
        </p:txBody>
      </p:sp>
      <p:sp>
        <p:nvSpPr>
          <p:cNvPr id="3" name="Sign card Icon"/>
          <p:cNvSpPr/>
          <p:nvPr/>
        </p:nvSpPr>
        <p:spPr>
          <a:xfrm>
            <a:off x="548640" y="1508760"/>
            <a:ext cx="3566160" cy="4343400"/>
          </a:xfrm>
          <a:prstGeom prst="rect">
            <a:avLst/>
          </a:prstGeom>
          <a:solidFill>
            <a:schemeClr val="bg2"/>
          </a:solidFill>
          <a:ln/>
        </p:spPr>
        <p:txBody>
          <a:bodyPr/>
          <a:lstStyle/>
          <a:p>
            <a:endParaRPr lang="en-US"/>
          </a:p>
        </p:txBody>
      </p:sp>
      <p:sp>
        <p:nvSpPr>
          <p:cNvPr id="4" name="Pictogram head"/>
          <p:cNvSpPr/>
          <p:nvPr/>
        </p:nvSpPr>
        <p:spPr>
          <a:xfrm>
            <a:off x="2057400" y="1828800"/>
            <a:ext cx="548640" cy="548640"/>
          </a:xfrm>
          <a:prstGeom prst="ellipse">
            <a:avLst/>
          </a:prstGeom>
          <a:solidFill>
            <a:schemeClr val="accent1"/>
          </a:solidFill>
          <a:ln/>
        </p:spPr>
        <p:txBody>
          <a:bodyPr/>
          <a:lstStyle/>
          <a:p>
            <a:endParaRPr lang="en-US"/>
          </a:p>
        </p:txBody>
      </p:sp>
      <p:sp>
        <p:nvSpPr>
          <p:cNvPr id="5" name="Pictogram body"/>
          <p:cNvSpPr/>
          <p:nvPr/>
        </p:nvSpPr>
        <p:spPr>
          <a:xfrm>
            <a:off x="1920240" y="2468880"/>
            <a:ext cx="822960" cy="914400"/>
          </a:xfrm>
          <a:prstGeom prst="roundRect">
            <a:avLst>
              <a:gd name="adj" fmla="val 22222"/>
            </a:avLst>
          </a:prstGeom>
          <a:solidFill>
            <a:schemeClr val="accent1"/>
          </a:solidFill>
          <a:ln/>
        </p:spPr>
        <p:txBody>
          <a:bodyPr/>
          <a:lstStyle/>
          <a:p>
            <a:endParaRPr lang="en-US"/>
          </a:p>
        </p:txBody>
      </p:sp>
      <p:sp>
        <p:nvSpPr>
          <p:cNvPr id="6" name="Text 4"/>
          <p:cNvSpPr txBox="1"/>
          <p:nvPr/>
        </p:nvSpPr>
        <p:spPr>
          <a:xfrm>
            <a:off x="822960" y="3703320"/>
            <a:ext cx="3017520" cy="457200"/>
          </a:xfrm>
          <a:prstGeom prst="rect">
            <a:avLst/>
          </a:prstGeom>
          <a:noFill/>
          <a:ln/>
        </p:spPr>
        <p:txBody>
          <a:bodyPr wrap="square" lIns="0" tIns="0" rIns="0" bIns="0" rtlCol="0" anchor="t"/>
          <a:lstStyle/>
          <a:p>
            <a:pPr marL="0" indent="0">
              <a:buNone/>
            </a:pPr>
            <a:r>
              <a:rPr lang="en-US" sz="2600" b="1" dirty="0">
                <a:solidFill>
                  <a:schemeClr val="tx1"/>
                </a:solidFill>
              </a:rPr>
              <a:t>Icon</a:t>
            </a:r>
            <a:endParaRPr lang="en-US" sz="2600" dirty="0"/>
          </a:p>
        </p:txBody>
      </p:sp>
      <p:sp>
        <p:nvSpPr>
          <p:cNvPr id="7" name="Text 5"/>
          <p:cNvSpPr txBox="1"/>
          <p:nvPr/>
        </p:nvSpPr>
        <p:spPr>
          <a:xfrm>
            <a:off x="822960" y="4251960"/>
            <a:ext cx="3017520" cy="640080"/>
          </a:xfrm>
          <a:prstGeom prst="rect">
            <a:avLst/>
          </a:prstGeom>
          <a:noFill/>
          <a:ln/>
        </p:spPr>
        <p:txBody>
          <a:bodyPr wrap="square" lIns="0" tIns="0" rIns="0" bIns="0" rtlCol="0" anchor="t"/>
          <a:lstStyle/>
          <a:p>
            <a:pPr marL="0" indent="0">
              <a:buNone/>
            </a:pPr>
            <a:r>
              <a:rPr lang="en-US" sz="1700" dirty="0">
                <a:solidFill>
                  <a:schemeClr val="tx1"/>
                </a:solidFill>
              </a:rPr>
              <a:t>Looks like what it stands for.</a:t>
            </a:r>
            <a:endParaRPr lang="en-US" sz="1700" dirty="0"/>
          </a:p>
        </p:txBody>
      </p:sp>
      <p:sp>
        <p:nvSpPr>
          <p:cNvPr id="8" name="Text 6"/>
          <p:cNvSpPr txBox="1"/>
          <p:nvPr/>
        </p:nvSpPr>
        <p:spPr>
          <a:xfrm>
            <a:off x="822960" y="5029200"/>
            <a:ext cx="3017520" cy="731520"/>
          </a:xfrm>
          <a:prstGeom prst="rect">
            <a:avLst/>
          </a:prstGeom>
          <a:noFill/>
          <a:ln/>
        </p:spPr>
        <p:txBody>
          <a:bodyPr wrap="square" lIns="0" tIns="0" rIns="0" bIns="0" rtlCol="0" anchor="t"/>
          <a:lstStyle/>
          <a:p>
            <a:pPr marL="0" indent="0">
              <a:buNone/>
            </a:pPr>
            <a:r>
              <a:rPr lang="en-US" sz="1400" dirty="0">
                <a:solidFill>
                  <a:schemeClr val="accent4"/>
                </a:solidFill>
              </a:rPr>
              <a:t>Examples: A person pictogram on a sign, a camera symbol</a:t>
            </a:r>
            <a:endParaRPr lang="en-US" sz="1400" dirty="0"/>
          </a:p>
        </p:txBody>
      </p:sp>
      <p:sp>
        <p:nvSpPr>
          <p:cNvPr id="9" name="Sign card Index"/>
          <p:cNvSpPr/>
          <p:nvPr/>
        </p:nvSpPr>
        <p:spPr>
          <a:xfrm>
            <a:off x="4312768" y="1508760"/>
            <a:ext cx="3566160" cy="4343400"/>
          </a:xfrm>
          <a:prstGeom prst="rect">
            <a:avLst/>
          </a:prstGeom>
          <a:solidFill>
            <a:schemeClr val="bg2"/>
          </a:solidFill>
          <a:ln/>
        </p:spPr>
        <p:txBody>
          <a:bodyPr/>
          <a:lstStyle/>
          <a:p>
            <a:endParaRPr lang="en-US"/>
          </a:p>
        </p:txBody>
      </p:sp>
      <p:sp>
        <p:nvSpPr>
          <p:cNvPr id="10" name="Arrow index"/>
          <p:cNvSpPr/>
          <p:nvPr/>
        </p:nvSpPr>
        <p:spPr>
          <a:xfrm>
            <a:off x="5181448" y="2148840"/>
            <a:ext cx="1828800" cy="914400"/>
          </a:xfrm>
          <a:prstGeom prst="rightArrow">
            <a:avLst/>
          </a:prstGeom>
          <a:solidFill>
            <a:schemeClr val="accent2"/>
          </a:solidFill>
          <a:ln/>
        </p:spPr>
        <p:txBody>
          <a:bodyPr/>
          <a:lstStyle/>
          <a:p>
            <a:endParaRPr lang="en-US"/>
          </a:p>
        </p:txBody>
      </p:sp>
      <p:sp>
        <p:nvSpPr>
          <p:cNvPr id="11" name="Text 9"/>
          <p:cNvSpPr txBox="1"/>
          <p:nvPr/>
        </p:nvSpPr>
        <p:spPr>
          <a:xfrm>
            <a:off x="4587088" y="3703320"/>
            <a:ext cx="3017520" cy="457200"/>
          </a:xfrm>
          <a:prstGeom prst="rect">
            <a:avLst/>
          </a:prstGeom>
          <a:noFill/>
          <a:ln/>
        </p:spPr>
        <p:txBody>
          <a:bodyPr wrap="square" lIns="0" tIns="0" rIns="0" bIns="0" rtlCol="0" anchor="t"/>
          <a:lstStyle/>
          <a:p>
            <a:pPr marL="0" indent="0">
              <a:buNone/>
            </a:pPr>
            <a:r>
              <a:rPr lang="en-US" sz="2600" b="1" dirty="0">
                <a:solidFill>
                  <a:schemeClr val="tx1"/>
                </a:solidFill>
              </a:rPr>
              <a:t>Index</a:t>
            </a:r>
            <a:endParaRPr lang="en-US" sz="2600" dirty="0"/>
          </a:p>
        </p:txBody>
      </p:sp>
      <p:sp>
        <p:nvSpPr>
          <p:cNvPr id="12" name="Text 10"/>
          <p:cNvSpPr txBox="1"/>
          <p:nvPr/>
        </p:nvSpPr>
        <p:spPr>
          <a:xfrm>
            <a:off x="4587088" y="4251960"/>
            <a:ext cx="3017520" cy="640080"/>
          </a:xfrm>
          <a:prstGeom prst="rect">
            <a:avLst/>
          </a:prstGeom>
          <a:noFill/>
          <a:ln/>
        </p:spPr>
        <p:txBody>
          <a:bodyPr wrap="square" lIns="0" tIns="0" rIns="0" bIns="0" rtlCol="0" anchor="t"/>
          <a:lstStyle/>
          <a:p>
            <a:pPr marL="0" indent="0">
              <a:buNone/>
            </a:pPr>
            <a:r>
              <a:rPr lang="en-US" sz="1700" dirty="0">
                <a:solidFill>
                  <a:schemeClr val="tx1"/>
                </a:solidFill>
              </a:rPr>
              <a:t>Points to, or is caused by, what it means.</a:t>
            </a:r>
            <a:endParaRPr lang="en-US" sz="1700" dirty="0"/>
          </a:p>
        </p:txBody>
      </p:sp>
      <p:sp>
        <p:nvSpPr>
          <p:cNvPr id="13" name="Text 11"/>
          <p:cNvSpPr txBox="1"/>
          <p:nvPr/>
        </p:nvSpPr>
        <p:spPr>
          <a:xfrm>
            <a:off x="4587088" y="5029200"/>
            <a:ext cx="3017520" cy="731520"/>
          </a:xfrm>
          <a:prstGeom prst="rect">
            <a:avLst/>
          </a:prstGeom>
          <a:noFill/>
          <a:ln/>
        </p:spPr>
        <p:txBody>
          <a:bodyPr wrap="square" lIns="0" tIns="0" rIns="0" bIns="0" rtlCol="0" anchor="t"/>
          <a:lstStyle/>
          <a:p>
            <a:pPr marL="0" indent="0">
              <a:buNone/>
            </a:pPr>
            <a:r>
              <a:rPr lang="en-US" sz="1400" dirty="0">
                <a:solidFill>
                  <a:schemeClr val="accent4"/>
                </a:solidFill>
              </a:rPr>
              <a:t>Examples: An arrow, footprints, smoke suggesting fire</a:t>
            </a:r>
            <a:endParaRPr lang="en-US" sz="1400" dirty="0"/>
          </a:p>
        </p:txBody>
      </p:sp>
      <p:sp>
        <p:nvSpPr>
          <p:cNvPr id="14" name="Sign card Symbol"/>
          <p:cNvSpPr/>
          <p:nvPr/>
        </p:nvSpPr>
        <p:spPr>
          <a:xfrm>
            <a:off x="8076895" y="1508760"/>
            <a:ext cx="3566160" cy="4343400"/>
          </a:xfrm>
          <a:prstGeom prst="rect">
            <a:avLst/>
          </a:prstGeom>
          <a:solidFill>
            <a:schemeClr val="bg2"/>
          </a:solidFill>
          <a:ln/>
        </p:spPr>
        <p:txBody>
          <a:bodyPr/>
          <a:lstStyle/>
          <a:p>
            <a:endParaRPr lang="en-US"/>
          </a:p>
        </p:txBody>
      </p:sp>
      <p:sp>
        <p:nvSpPr>
          <p:cNvPr id="15" name="Octagon symbol"/>
          <p:cNvSpPr/>
          <p:nvPr/>
        </p:nvSpPr>
        <p:spPr>
          <a:xfrm>
            <a:off x="9082735" y="1828800"/>
            <a:ext cx="1554480" cy="1554480"/>
          </a:xfrm>
          <a:prstGeom prst="octagon">
            <a:avLst/>
          </a:prstGeom>
          <a:solidFill>
            <a:schemeClr val="accent2"/>
          </a:solidFill>
          <a:ln/>
        </p:spPr>
        <p:txBody>
          <a:bodyPr wrap="square" lIns="0" tIns="0" rIns="0" bIns="0" rtlCol="0" anchor="ctr"/>
          <a:lstStyle/>
          <a:p>
            <a:pPr marL="0" indent="0" algn="ctr">
              <a:buNone/>
            </a:pPr>
            <a:r>
              <a:rPr lang="en-US" sz="2200" b="1" dirty="0">
                <a:solidFill>
                  <a:schemeClr val="bg1"/>
                </a:solidFill>
              </a:rPr>
              <a:t>STOP</a:t>
            </a:r>
            <a:endParaRPr lang="en-US" sz="2200" dirty="0"/>
          </a:p>
        </p:txBody>
      </p:sp>
      <p:sp>
        <p:nvSpPr>
          <p:cNvPr id="16" name="Text 14"/>
          <p:cNvSpPr txBox="1"/>
          <p:nvPr/>
        </p:nvSpPr>
        <p:spPr>
          <a:xfrm>
            <a:off x="8351215" y="3703320"/>
            <a:ext cx="3017520" cy="457200"/>
          </a:xfrm>
          <a:prstGeom prst="rect">
            <a:avLst/>
          </a:prstGeom>
          <a:noFill/>
          <a:ln/>
        </p:spPr>
        <p:txBody>
          <a:bodyPr wrap="square" lIns="0" tIns="0" rIns="0" bIns="0" rtlCol="0" anchor="t"/>
          <a:lstStyle/>
          <a:p>
            <a:pPr marL="0" indent="0">
              <a:buNone/>
            </a:pPr>
            <a:r>
              <a:rPr lang="en-US" sz="2600" b="1" dirty="0">
                <a:solidFill>
                  <a:schemeClr val="tx1"/>
                </a:solidFill>
              </a:rPr>
              <a:t>Symbol</a:t>
            </a:r>
            <a:endParaRPr lang="en-US" sz="2600" dirty="0"/>
          </a:p>
        </p:txBody>
      </p:sp>
      <p:sp>
        <p:nvSpPr>
          <p:cNvPr id="17" name="Text 15"/>
          <p:cNvSpPr txBox="1"/>
          <p:nvPr/>
        </p:nvSpPr>
        <p:spPr>
          <a:xfrm>
            <a:off x="8351215" y="4251960"/>
            <a:ext cx="3017520" cy="640080"/>
          </a:xfrm>
          <a:prstGeom prst="rect">
            <a:avLst/>
          </a:prstGeom>
          <a:noFill/>
          <a:ln/>
        </p:spPr>
        <p:txBody>
          <a:bodyPr wrap="square" lIns="0" tIns="0" rIns="0" bIns="0" rtlCol="0" anchor="t"/>
          <a:lstStyle/>
          <a:p>
            <a:pPr marL="0" indent="0">
              <a:buNone/>
            </a:pPr>
            <a:r>
              <a:rPr lang="en-US" sz="1700" dirty="0">
                <a:solidFill>
                  <a:schemeClr val="tx1"/>
                </a:solidFill>
              </a:rPr>
              <a:t>Meaning is learned by convention.</a:t>
            </a:r>
            <a:endParaRPr lang="en-US" sz="1700" dirty="0"/>
          </a:p>
        </p:txBody>
      </p:sp>
      <p:sp>
        <p:nvSpPr>
          <p:cNvPr id="18" name="Text 16"/>
          <p:cNvSpPr txBox="1"/>
          <p:nvPr/>
        </p:nvSpPr>
        <p:spPr>
          <a:xfrm>
            <a:off x="8351215" y="5029200"/>
            <a:ext cx="3017520" cy="731520"/>
          </a:xfrm>
          <a:prstGeom prst="rect">
            <a:avLst/>
          </a:prstGeom>
          <a:noFill/>
          <a:ln/>
        </p:spPr>
        <p:txBody>
          <a:bodyPr wrap="square" lIns="0" tIns="0" rIns="0" bIns="0" rtlCol="0" anchor="t"/>
          <a:lstStyle/>
          <a:p>
            <a:pPr marL="0" indent="0">
              <a:buNone/>
            </a:pPr>
            <a:r>
              <a:rPr lang="en-US" sz="1400" dirty="0">
                <a:solidFill>
                  <a:schemeClr val="accent4"/>
                </a:solidFill>
              </a:rPr>
              <a:t>Examples: A red octagon for stop, a flag, a logo</a:t>
            </a:r>
            <a:endParaRPr lang="en-US" sz="1400" dirty="0"/>
          </a:p>
        </p:txBody>
      </p:sp>
      <p:sp>
        <p:nvSpPr>
          <p:cNvPr id="25"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Gestalt: how viewers group what they see</a:t>
            </a:r>
            <a:endParaRPr lang="en-US" sz="3600" dirty="0"/>
          </a:p>
        </p:txBody>
      </p:sp>
      <p:sp>
        <p:nvSpPr>
          <p:cNvPr id="3" name="Gestalt card Proximity"/>
          <p:cNvSpPr/>
          <p:nvPr/>
        </p:nvSpPr>
        <p:spPr>
          <a:xfrm>
            <a:off x="548640" y="1508760"/>
            <a:ext cx="2011680" cy="3931920"/>
          </a:xfrm>
          <a:prstGeom prst="rect">
            <a:avLst/>
          </a:prstGeom>
          <a:solidFill>
            <a:schemeClr val="tx1"/>
          </a:solidFill>
          <a:ln/>
        </p:spPr>
        <p:txBody>
          <a:bodyPr/>
          <a:lstStyle/>
          <a:p>
            <a:endParaRPr lang="en-US"/>
          </a:p>
        </p:txBody>
      </p:sp>
      <p:sp>
        <p:nvSpPr>
          <p:cNvPr id="4" name="Proximity dot"/>
          <p:cNvSpPr/>
          <p:nvPr/>
        </p:nvSpPr>
        <p:spPr>
          <a:xfrm>
            <a:off x="685800" y="2194560"/>
            <a:ext cx="237744" cy="237744"/>
          </a:xfrm>
          <a:prstGeom prst="ellipse">
            <a:avLst/>
          </a:prstGeom>
          <a:solidFill>
            <a:schemeClr val="bg1"/>
          </a:solidFill>
          <a:ln/>
        </p:spPr>
        <p:txBody>
          <a:bodyPr/>
          <a:lstStyle/>
          <a:p>
            <a:endParaRPr lang="en-US"/>
          </a:p>
        </p:txBody>
      </p:sp>
      <p:sp>
        <p:nvSpPr>
          <p:cNvPr id="5" name="Proximity dot"/>
          <p:cNvSpPr/>
          <p:nvPr/>
        </p:nvSpPr>
        <p:spPr>
          <a:xfrm>
            <a:off x="1737360" y="2194560"/>
            <a:ext cx="237744" cy="237744"/>
          </a:xfrm>
          <a:prstGeom prst="ellipse">
            <a:avLst/>
          </a:prstGeom>
          <a:solidFill>
            <a:schemeClr val="bg1"/>
          </a:solidFill>
          <a:ln/>
        </p:spPr>
        <p:txBody>
          <a:bodyPr/>
          <a:lstStyle/>
          <a:p>
            <a:endParaRPr lang="en-US"/>
          </a:p>
        </p:txBody>
      </p:sp>
      <p:sp>
        <p:nvSpPr>
          <p:cNvPr id="6" name="Proximity dot"/>
          <p:cNvSpPr/>
          <p:nvPr/>
        </p:nvSpPr>
        <p:spPr>
          <a:xfrm>
            <a:off x="978408" y="2194560"/>
            <a:ext cx="237744" cy="237744"/>
          </a:xfrm>
          <a:prstGeom prst="ellipse">
            <a:avLst/>
          </a:prstGeom>
          <a:solidFill>
            <a:schemeClr val="bg1"/>
          </a:solidFill>
          <a:ln/>
        </p:spPr>
        <p:txBody>
          <a:bodyPr/>
          <a:lstStyle/>
          <a:p>
            <a:endParaRPr lang="en-US"/>
          </a:p>
        </p:txBody>
      </p:sp>
      <p:sp>
        <p:nvSpPr>
          <p:cNvPr id="7" name="Proximity dot"/>
          <p:cNvSpPr/>
          <p:nvPr/>
        </p:nvSpPr>
        <p:spPr>
          <a:xfrm>
            <a:off x="2029968" y="2194560"/>
            <a:ext cx="237744" cy="237744"/>
          </a:xfrm>
          <a:prstGeom prst="ellipse">
            <a:avLst/>
          </a:prstGeom>
          <a:solidFill>
            <a:schemeClr val="bg1"/>
          </a:solidFill>
          <a:ln/>
        </p:spPr>
        <p:txBody>
          <a:bodyPr/>
          <a:lstStyle/>
          <a:p>
            <a:endParaRPr lang="en-US"/>
          </a:p>
        </p:txBody>
      </p:sp>
      <p:sp>
        <p:nvSpPr>
          <p:cNvPr id="8" name="Proximity dot"/>
          <p:cNvSpPr/>
          <p:nvPr/>
        </p:nvSpPr>
        <p:spPr>
          <a:xfrm>
            <a:off x="1271016" y="2194560"/>
            <a:ext cx="237744" cy="237744"/>
          </a:xfrm>
          <a:prstGeom prst="ellipse">
            <a:avLst/>
          </a:prstGeom>
          <a:solidFill>
            <a:schemeClr val="bg1"/>
          </a:solidFill>
          <a:ln/>
        </p:spPr>
        <p:txBody>
          <a:bodyPr/>
          <a:lstStyle/>
          <a:p>
            <a:endParaRPr lang="en-US"/>
          </a:p>
        </p:txBody>
      </p:sp>
      <p:sp>
        <p:nvSpPr>
          <p:cNvPr id="9" name="Proximity dot"/>
          <p:cNvSpPr/>
          <p:nvPr/>
        </p:nvSpPr>
        <p:spPr>
          <a:xfrm>
            <a:off x="2322576" y="2194560"/>
            <a:ext cx="237744" cy="237744"/>
          </a:xfrm>
          <a:prstGeom prst="ellipse">
            <a:avLst/>
          </a:prstGeom>
          <a:solidFill>
            <a:schemeClr val="bg1"/>
          </a:solidFill>
          <a:ln/>
        </p:spPr>
        <p:txBody>
          <a:bodyPr/>
          <a:lstStyle/>
          <a:p>
            <a:endParaRPr lang="en-US"/>
          </a:p>
        </p:txBody>
      </p:sp>
      <p:sp>
        <p:nvSpPr>
          <p:cNvPr id="10" name="Proximity dot"/>
          <p:cNvSpPr/>
          <p:nvPr/>
        </p:nvSpPr>
        <p:spPr>
          <a:xfrm>
            <a:off x="685800" y="2523744"/>
            <a:ext cx="237744" cy="237744"/>
          </a:xfrm>
          <a:prstGeom prst="ellipse">
            <a:avLst/>
          </a:prstGeom>
          <a:solidFill>
            <a:schemeClr val="bg1"/>
          </a:solidFill>
          <a:ln/>
        </p:spPr>
        <p:txBody>
          <a:bodyPr/>
          <a:lstStyle/>
          <a:p>
            <a:endParaRPr lang="en-US"/>
          </a:p>
        </p:txBody>
      </p:sp>
      <p:sp>
        <p:nvSpPr>
          <p:cNvPr id="11" name="Proximity dot"/>
          <p:cNvSpPr/>
          <p:nvPr/>
        </p:nvSpPr>
        <p:spPr>
          <a:xfrm>
            <a:off x="1737360" y="2523744"/>
            <a:ext cx="237744" cy="237744"/>
          </a:xfrm>
          <a:prstGeom prst="ellipse">
            <a:avLst/>
          </a:prstGeom>
          <a:solidFill>
            <a:schemeClr val="bg1"/>
          </a:solidFill>
          <a:ln/>
        </p:spPr>
        <p:txBody>
          <a:bodyPr/>
          <a:lstStyle/>
          <a:p>
            <a:endParaRPr lang="en-US"/>
          </a:p>
        </p:txBody>
      </p:sp>
      <p:sp>
        <p:nvSpPr>
          <p:cNvPr id="12" name="Proximity dot"/>
          <p:cNvSpPr/>
          <p:nvPr/>
        </p:nvSpPr>
        <p:spPr>
          <a:xfrm>
            <a:off x="978408" y="2523744"/>
            <a:ext cx="237744" cy="237744"/>
          </a:xfrm>
          <a:prstGeom prst="ellipse">
            <a:avLst/>
          </a:prstGeom>
          <a:solidFill>
            <a:schemeClr val="bg1"/>
          </a:solidFill>
          <a:ln/>
        </p:spPr>
        <p:txBody>
          <a:bodyPr/>
          <a:lstStyle/>
          <a:p>
            <a:endParaRPr lang="en-US"/>
          </a:p>
        </p:txBody>
      </p:sp>
      <p:sp>
        <p:nvSpPr>
          <p:cNvPr id="13" name="Proximity dot"/>
          <p:cNvSpPr/>
          <p:nvPr/>
        </p:nvSpPr>
        <p:spPr>
          <a:xfrm>
            <a:off x="2029968" y="2523744"/>
            <a:ext cx="237744" cy="237744"/>
          </a:xfrm>
          <a:prstGeom prst="ellipse">
            <a:avLst/>
          </a:prstGeom>
          <a:solidFill>
            <a:schemeClr val="bg1"/>
          </a:solidFill>
          <a:ln/>
        </p:spPr>
        <p:txBody>
          <a:bodyPr/>
          <a:lstStyle/>
          <a:p>
            <a:endParaRPr lang="en-US"/>
          </a:p>
        </p:txBody>
      </p:sp>
      <p:sp>
        <p:nvSpPr>
          <p:cNvPr id="14" name="Proximity dot"/>
          <p:cNvSpPr/>
          <p:nvPr/>
        </p:nvSpPr>
        <p:spPr>
          <a:xfrm>
            <a:off x="1271016" y="2523744"/>
            <a:ext cx="237744" cy="237744"/>
          </a:xfrm>
          <a:prstGeom prst="ellipse">
            <a:avLst/>
          </a:prstGeom>
          <a:solidFill>
            <a:schemeClr val="bg1"/>
          </a:solidFill>
          <a:ln/>
        </p:spPr>
        <p:txBody>
          <a:bodyPr/>
          <a:lstStyle/>
          <a:p>
            <a:endParaRPr lang="en-US"/>
          </a:p>
        </p:txBody>
      </p:sp>
      <p:sp>
        <p:nvSpPr>
          <p:cNvPr id="15" name="Proximity dot"/>
          <p:cNvSpPr/>
          <p:nvPr/>
        </p:nvSpPr>
        <p:spPr>
          <a:xfrm>
            <a:off x="2322576" y="2523744"/>
            <a:ext cx="237744" cy="237744"/>
          </a:xfrm>
          <a:prstGeom prst="ellipse">
            <a:avLst/>
          </a:prstGeom>
          <a:solidFill>
            <a:schemeClr val="bg1"/>
          </a:solidFill>
          <a:ln/>
        </p:spPr>
        <p:txBody>
          <a:bodyPr/>
          <a:lstStyle/>
          <a:p>
            <a:endParaRPr lang="en-US"/>
          </a:p>
        </p:txBody>
      </p:sp>
      <p:sp>
        <p:nvSpPr>
          <p:cNvPr id="16" name="Text 14"/>
          <p:cNvSpPr txBox="1"/>
          <p:nvPr/>
        </p:nvSpPr>
        <p:spPr>
          <a:xfrm>
            <a:off x="777240" y="3291840"/>
            <a:ext cx="1645920" cy="411480"/>
          </a:xfrm>
          <a:prstGeom prst="rect">
            <a:avLst/>
          </a:prstGeom>
          <a:noFill/>
          <a:ln/>
        </p:spPr>
        <p:txBody>
          <a:bodyPr wrap="square" lIns="0" tIns="0" rIns="0" bIns="0" rtlCol="0" anchor="t"/>
          <a:lstStyle/>
          <a:p>
            <a:pPr marL="0" indent="0">
              <a:buNone/>
            </a:pPr>
            <a:r>
              <a:rPr lang="en-US" sz="1900" b="1" dirty="0">
                <a:solidFill>
                  <a:schemeClr val="bg1"/>
                </a:solidFill>
              </a:rPr>
              <a:t>Proximity</a:t>
            </a:r>
            <a:endParaRPr lang="en-US" sz="1900" dirty="0"/>
          </a:p>
        </p:txBody>
      </p:sp>
      <p:sp>
        <p:nvSpPr>
          <p:cNvPr id="17" name="Text 15"/>
          <p:cNvSpPr txBox="1"/>
          <p:nvPr/>
        </p:nvSpPr>
        <p:spPr>
          <a:xfrm>
            <a:off x="777240" y="3794760"/>
            <a:ext cx="1600200" cy="1554480"/>
          </a:xfrm>
          <a:prstGeom prst="rect">
            <a:avLst/>
          </a:prstGeom>
          <a:noFill/>
          <a:ln/>
        </p:spPr>
        <p:txBody>
          <a:bodyPr wrap="square" lIns="0" tIns="0" rIns="0" bIns="0" rtlCol="0" anchor="t"/>
          <a:lstStyle/>
          <a:p>
            <a:pPr marL="0" indent="0">
              <a:buNone/>
            </a:pPr>
            <a:r>
              <a:rPr lang="en-US" sz="1500" dirty="0">
                <a:solidFill>
                  <a:schemeClr val="bg2"/>
                </a:solidFill>
              </a:rPr>
              <a:t>Close items are seen as a group.</a:t>
            </a:r>
            <a:endParaRPr lang="en-US" sz="1500" dirty="0"/>
          </a:p>
        </p:txBody>
      </p:sp>
      <p:sp>
        <p:nvSpPr>
          <p:cNvPr id="18" name="Gestalt card Similarity"/>
          <p:cNvSpPr/>
          <p:nvPr/>
        </p:nvSpPr>
        <p:spPr>
          <a:xfrm>
            <a:off x="2819324" y="1508760"/>
            <a:ext cx="2011680" cy="3931920"/>
          </a:xfrm>
          <a:prstGeom prst="rect">
            <a:avLst/>
          </a:prstGeom>
          <a:solidFill>
            <a:schemeClr val="tx1"/>
          </a:solidFill>
          <a:ln/>
        </p:spPr>
        <p:txBody>
          <a:bodyPr/>
          <a:lstStyle/>
          <a:p>
            <a:endParaRPr lang="en-US"/>
          </a:p>
        </p:txBody>
      </p:sp>
      <p:sp>
        <p:nvSpPr>
          <p:cNvPr id="19" name="Similarity dot"/>
          <p:cNvSpPr/>
          <p:nvPr/>
        </p:nvSpPr>
        <p:spPr>
          <a:xfrm>
            <a:off x="3276524" y="1874520"/>
            <a:ext cx="274320" cy="274320"/>
          </a:xfrm>
          <a:prstGeom prst="ellipse">
            <a:avLst/>
          </a:prstGeom>
          <a:solidFill>
            <a:schemeClr val="accent3"/>
          </a:solidFill>
          <a:ln/>
        </p:spPr>
        <p:txBody>
          <a:bodyPr/>
          <a:lstStyle/>
          <a:p>
            <a:endParaRPr lang="en-US"/>
          </a:p>
        </p:txBody>
      </p:sp>
      <p:sp>
        <p:nvSpPr>
          <p:cNvPr id="20" name="Similarity dot"/>
          <p:cNvSpPr/>
          <p:nvPr/>
        </p:nvSpPr>
        <p:spPr>
          <a:xfrm>
            <a:off x="3688004" y="1874520"/>
            <a:ext cx="274320" cy="274320"/>
          </a:xfrm>
          <a:prstGeom prst="ellipse">
            <a:avLst/>
          </a:prstGeom>
          <a:solidFill>
            <a:schemeClr val="accent3"/>
          </a:solidFill>
          <a:ln/>
        </p:spPr>
        <p:txBody>
          <a:bodyPr/>
          <a:lstStyle/>
          <a:p>
            <a:endParaRPr lang="en-US"/>
          </a:p>
        </p:txBody>
      </p:sp>
      <p:sp>
        <p:nvSpPr>
          <p:cNvPr id="21" name="Similarity dot"/>
          <p:cNvSpPr/>
          <p:nvPr/>
        </p:nvSpPr>
        <p:spPr>
          <a:xfrm>
            <a:off x="4099484" y="1874520"/>
            <a:ext cx="274320" cy="274320"/>
          </a:xfrm>
          <a:prstGeom prst="ellipse">
            <a:avLst/>
          </a:prstGeom>
          <a:solidFill>
            <a:schemeClr val="accent3"/>
          </a:solidFill>
          <a:ln/>
        </p:spPr>
        <p:txBody>
          <a:bodyPr/>
          <a:lstStyle/>
          <a:p>
            <a:endParaRPr lang="en-US"/>
          </a:p>
        </p:txBody>
      </p:sp>
      <p:sp>
        <p:nvSpPr>
          <p:cNvPr id="22" name="Similarity dot"/>
          <p:cNvSpPr/>
          <p:nvPr/>
        </p:nvSpPr>
        <p:spPr>
          <a:xfrm>
            <a:off x="3276524" y="2286000"/>
            <a:ext cx="274320" cy="274320"/>
          </a:xfrm>
          <a:prstGeom prst="ellipse">
            <a:avLst/>
          </a:prstGeom>
          <a:solidFill>
            <a:schemeClr val="bg1"/>
          </a:solidFill>
          <a:ln/>
        </p:spPr>
        <p:txBody>
          <a:bodyPr/>
          <a:lstStyle/>
          <a:p>
            <a:endParaRPr lang="en-US"/>
          </a:p>
        </p:txBody>
      </p:sp>
      <p:sp>
        <p:nvSpPr>
          <p:cNvPr id="23" name="Similarity dot"/>
          <p:cNvSpPr/>
          <p:nvPr/>
        </p:nvSpPr>
        <p:spPr>
          <a:xfrm>
            <a:off x="3688004" y="2286000"/>
            <a:ext cx="274320" cy="274320"/>
          </a:xfrm>
          <a:prstGeom prst="ellipse">
            <a:avLst/>
          </a:prstGeom>
          <a:solidFill>
            <a:schemeClr val="bg1"/>
          </a:solidFill>
          <a:ln/>
        </p:spPr>
        <p:txBody>
          <a:bodyPr/>
          <a:lstStyle/>
          <a:p>
            <a:endParaRPr lang="en-US"/>
          </a:p>
        </p:txBody>
      </p:sp>
      <p:sp>
        <p:nvSpPr>
          <p:cNvPr id="24" name="Similarity dot"/>
          <p:cNvSpPr/>
          <p:nvPr/>
        </p:nvSpPr>
        <p:spPr>
          <a:xfrm>
            <a:off x="4099484" y="2286000"/>
            <a:ext cx="274320" cy="274320"/>
          </a:xfrm>
          <a:prstGeom prst="ellipse">
            <a:avLst/>
          </a:prstGeom>
          <a:solidFill>
            <a:schemeClr val="bg1"/>
          </a:solidFill>
          <a:ln/>
        </p:spPr>
        <p:txBody>
          <a:bodyPr/>
          <a:lstStyle/>
          <a:p>
            <a:endParaRPr lang="en-US"/>
          </a:p>
        </p:txBody>
      </p:sp>
      <p:sp>
        <p:nvSpPr>
          <p:cNvPr id="25" name="Similarity dot"/>
          <p:cNvSpPr/>
          <p:nvPr/>
        </p:nvSpPr>
        <p:spPr>
          <a:xfrm>
            <a:off x="3276524" y="2697480"/>
            <a:ext cx="274320" cy="274320"/>
          </a:xfrm>
          <a:prstGeom prst="ellipse">
            <a:avLst/>
          </a:prstGeom>
          <a:solidFill>
            <a:schemeClr val="accent3"/>
          </a:solidFill>
          <a:ln/>
        </p:spPr>
        <p:txBody>
          <a:bodyPr/>
          <a:lstStyle/>
          <a:p>
            <a:endParaRPr lang="en-US"/>
          </a:p>
        </p:txBody>
      </p:sp>
      <p:sp>
        <p:nvSpPr>
          <p:cNvPr id="26" name="Similarity dot"/>
          <p:cNvSpPr/>
          <p:nvPr/>
        </p:nvSpPr>
        <p:spPr>
          <a:xfrm>
            <a:off x="3688004" y="2697480"/>
            <a:ext cx="274320" cy="274320"/>
          </a:xfrm>
          <a:prstGeom prst="ellipse">
            <a:avLst/>
          </a:prstGeom>
          <a:solidFill>
            <a:schemeClr val="accent3"/>
          </a:solidFill>
          <a:ln/>
        </p:spPr>
        <p:txBody>
          <a:bodyPr/>
          <a:lstStyle/>
          <a:p>
            <a:endParaRPr lang="en-US"/>
          </a:p>
        </p:txBody>
      </p:sp>
      <p:sp>
        <p:nvSpPr>
          <p:cNvPr id="27" name="Similarity dot"/>
          <p:cNvSpPr/>
          <p:nvPr/>
        </p:nvSpPr>
        <p:spPr>
          <a:xfrm>
            <a:off x="4099484" y="2697480"/>
            <a:ext cx="274320" cy="274320"/>
          </a:xfrm>
          <a:prstGeom prst="ellipse">
            <a:avLst/>
          </a:prstGeom>
          <a:solidFill>
            <a:schemeClr val="accent3"/>
          </a:solidFill>
          <a:ln/>
        </p:spPr>
        <p:txBody>
          <a:bodyPr/>
          <a:lstStyle/>
          <a:p>
            <a:endParaRPr lang="en-US"/>
          </a:p>
        </p:txBody>
      </p:sp>
      <p:sp>
        <p:nvSpPr>
          <p:cNvPr id="28" name="Text 26"/>
          <p:cNvSpPr txBox="1"/>
          <p:nvPr/>
        </p:nvSpPr>
        <p:spPr>
          <a:xfrm>
            <a:off x="3047924" y="3291840"/>
            <a:ext cx="1645920" cy="411480"/>
          </a:xfrm>
          <a:prstGeom prst="rect">
            <a:avLst/>
          </a:prstGeom>
          <a:noFill/>
          <a:ln/>
        </p:spPr>
        <p:txBody>
          <a:bodyPr wrap="square" lIns="0" tIns="0" rIns="0" bIns="0" rtlCol="0" anchor="t"/>
          <a:lstStyle/>
          <a:p>
            <a:pPr marL="0" indent="0">
              <a:buNone/>
            </a:pPr>
            <a:r>
              <a:rPr lang="en-US" sz="1900" b="1" dirty="0">
                <a:solidFill>
                  <a:schemeClr val="bg1"/>
                </a:solidFill>
              </a:rPr>
              <a:t>Similarity</a:t>
            </a:r>
            <a:endParaRPr lang="en-US" sz="1900" dirty="0"/>
          </a:p>
        </p:txBody>
      </p:sp>
      <p:sp>
        <p:nvSpPr>
          <p:cNvPr id="29" name="Text 27"/>
          <p:cNvSpPr txBox="1"/>
          <p:nvPr/>
        </p:nvSpPr>
        <p:spPr>
          <a:xfrm>
            <a:off x="3047924" y="3794760"/>
            <a:ext cx="1600200" cy="1554480"/>
          </a:xfrm>
          <a:prstGeom prst="rect">
            <a:avLst/>
          </a:prstGeom>
          <a:noFill/>
          <a:ln/>
        </p:spPr>
        <p:txBody>
          <a:bodyPr wrap="square" lIns="0" tIns="0" rIns="0" bIns="0" rtlCol="0" anchor="t"/>
          <a:lstStyle/>
          <a:p>
            <a:pPr marL="0" indent="0">
              <a:buNone/>
            </a:pPr>
            <a:r>
              <a:rPr lang="en-US" sz="1500" dirty="0">
                <a:solidFill>
                  <a:schemeClr val="bg2"/>
                </a:solidFill>
              </a:rPr>
              <a:t>Items that look alike are seen as related.</a:t>
            </a:r>
            <a:endParaRPr lang="en-US" sz="1500" dirty="0"/>
          </a:p>
        </p:txBody>
      </p:sp>
      <p:sp>
        <p:nvSpPr>
          <p:cNvPr id="30" name="Gestalt card Closure"/>
          <p:cNvSpPr/>
          <p:nvPr/>
        </p:nvSpPr>
        <p:spPr>
          <a:xfrm>
            <a:off x="5090008" y="1508760"/>
            <a:ext cx="2011680" cy="3931920"/>
          </a:xfrm>
          <a:prstGeom prst="rect">
            <a:avLst/>
          </a:prstGeom>
          <a:solidFill>
            <a:schemeClr val="tx1"/>
          </a:solidFill>
          <a:ln/>
        </p:spPr>
        <p:txBody>
          <a:bodyPr/>
          <a:lstStyle/>
          <a:p>
            <a:endParaRPr lang="en-US"/>
          </a:p>
        </p:txBody>
      </p:sp>
      <p:sp>
        <p:nvSpPr>
          <p:cNvPr id="31" name="Closure circle"/>
          <p:cNvSpPr/>
          <p:nvPr/>
        </p:nvSpPr>
        <p:spPr>
          <a:xfrm>
            <a:off x="5547208" y="1874520"/>
            <a:ext cx="1097280" cy="1097280"/>
          </a:xfrm>
          <a:prstGeom prst="ellipse">
            <a:avLst/>
          </a:prstGeom>
          <a:solidFill>
            <a:schemeClr val="tx1">
              <a:alpha val="0"/>
            </a:schemeClr>
          </a:solidFill>
          <a:ln w="38100">
            <a:solidFill>
              <a:schemeClr val="bg1"/>
            </a:solidFill>
            <a:prstDash val="dash"/>
          </a:ln>
        </p:spPr>
        <p:txBody>
          <a:bodyPr/>
          <a:lstStyle/>
          <a:p>
            <a:endParaRPr lang="en-US"/>
          </a:p>
        </p:txBody>
      </p:sp>
      <p:sp>
        <p:nvSpPr>
          <p:cNvPr id="32" name="Text 30"/>
          <p:cNvSpPr txBox="1"/>
          <p:nvPr/>
        </p:nvSpPr>
        <p:spPr>
          <a:xfrm>
            <a:off x="5318608" y="3291840"/>
            <a:ext cx="1645920" cy="411480"/>
          </a:xfrm>
          <a:prstGeom prst="rect">
            <a:avLst/>
          </a:prstGeom>
          <a:noFill/>
          <a:ln/>
        </p:spPr>
        <p:txBody>
          <a:bodyPr wrap="square" lIns="0" tIns="0" rIns="0" bIns="0" rtlCol="0" anchor="t"/>
          <a:lstStyle/>
          <a:p>
            <a:pPr marL="0" indent="0">
              <a:buNone/>
            </a:pPr>
            <a:r>
              <a:rPr lang="en-US" sz="1900" b="1" dirty="0">
                <a:solidFill>
                  <a:schemeClr val="bg1"/>
                </a:solidFill>
              </a:rPr>
              <a:t>Closure</a:t>
            </a:r>
            <a:endParaRPr lang="en-US" sz="1900" dirty="0"/>
          </a:p>
        </p:txBody>
      </p:sp>
      <p:sp>
        <p:nvSpPr>
          <p:cNvPr id="33" name="Text 31"/>
          <p:cNvSpPr txBox="1"/>
          <p:nvPr/>
        </p:nvSpPr>
        <p:spPr>
          <a:xfrm>
            <a:off x="5318608" y="3794760"/>
            <a:ext cx="1600200" cy="1554480"/>
          </a:xfrm>
          <a:prstGeom prst="rect">
            <a:avLst/>
          </a:prstGeom>
          <a:noFill/>
          <a:ln/>
        </p:spPr>
        <p:txBody>
          <a:bodyPr wrap="square" lIns="0" tIns="0" rIns="0" bIns="0" rtlCol="0" anchor="t"/>
          <a:lstStyle/>
          <a:p>
            <a:pPr marL="0" indent="0">
              <a:buNone/>
            </a:pPr>
            <a:r>
              <a:rPr lang="en-US" sz="1500" dirty="0">
                <a:solidFill>
                  <a:schemeClr val="bg2"/>
                </a:solidFill>
              </a:rPr>
              <a:t>The mind completes unfinished shapes.</a:t>
            </a:r>
            <a:endParaRPr lang="en-US" sz="1500" dirty="0"/>
          </a:p>
        </p:txBody>
      </p:sp>
      <p:sp>
        <p:nvSpPr>
          <p:cNvPr id="34" name="Gestalt card Continuity"/>
          <p:cNvSpPr/>
          <p:nvPr/>
        </p:nvSpPr>
        <p:spPr>
          <a:xfrm>
            <a:off x="7360691" y="1508760"/>
            <a:ext cx="2011680" cy="3931920"/>
          </a:xfrm>
          <a:prstGeom prst="rect">
            <a:avLst/>
          </a:prstGeom>
          <a:solidFill>
            <a:schemeClr val="tx1"/>
          </a:solidFill>
          <a:ln/>
        </p:spPr>
        <p:txBody>
          <a:bodyPr/>
          <a:lstStyle/>
          <a:p>
            <a:endParaRPr lang="en-US"/>
          </a:p>
        </p:txBody>
      </p:sp>
      <p:sp>
        <p:nvSpPr>
          <p:cNvPr id="35" name="Continuity line A"/>
          <p:cNvSpPr/>
          <p:nvPr/>
        </p:nvSpPr>
        <p:spPr>
          <a:xfrm>
            <a:off x="7635011" y="1965960"/>
            <a:ext cx="1463040" cy="822960"/>
          </a:xfrm>
          <a:prstGeom prst="line">
            <a:avLst/>
          </a:prstGeom>
          <a:noFill/>
          <a:ln w="44450">
            <a:solidFill>
              <a:schemeClr val="accent3"/>
            </a:solidFill>
            <a:prstDash val="solid"/>
          </a:ln>
        </p:spPr>
        <p:txBody>
          <a:bodyPr/>
          <a:lstStyle/>
          <a:p>
            <a:endParaRPr lang="en-US"/>
          </a:p>
        </p:txBody>
      </p:sp>
      <p:sp>
        <p:nvSpPr>
          <p:cNvPr id="36" name="Continuity line B"/>
          <p:cNvSpPr/>
          <p:nvPr/>
        </p:nvSpPr>
        <p:spPr>
          <a:xfrm flipV="1">
            <a:off x="7635011" y="1965960"/>
            <a:ext cx="1463040" cy="822960"/>
          </a:xfrm>
          <a:prstGeom prst="line">
            <a:avLst/>
          </a:prstGeom>
          <a:noFill/>
          <a:ln w="44450">
            <a:solidFill>
              <a:schemeClr val="bg1"/>
            </a:solidFill>
            <a:prstDash val="solid"/>
          </a:ln>
        </p:spPr>
        <p:txBody>
          <a:bodyPr/>
          <a:lstStyle/>
          <a:p>
            <a:endParaRPr lang="en-US"/>
          </a:p>
        </p:txBody>
      </p:sp>
      <p:sp>
        <p:nvSpPr>
          <p:cNvPr id="37" name="Text 35"/>
          <p:cNvSpPr txBox="1"/>
          <p:nvPr/>
        </p:nvSpPr>
        <p:spPr>
          <a:xfrm>
            <a:off x="7589291" y="3291840"/>
            <a:ext cx="1645920" cy="411480"/>
          </a:xfrm>
          <a:prstGeom prst="rect">
            <a:avLst/>
          </a:prstGeom>
          <a:noFill/>
          <a:ln/>
        </p:spPr>
        <p:txBody>
          <a:bodyPr wrap="square" lIns="0" tIns="0" rIns="0" bIns="0" rtlCol="0" anchor="t"/>
          <a:lstStyle/>
          <a:p>
            <a:pPr marL="0" indent="0">
              <a:buNone/>
            </a:pPr>
            <a:r>
              <a:rPr lang="en-US" sz="1900" b="1" dirty="0">
                <a:solidFill>
                  <a:schemeClr val="bg1"/>
                </a:solidFill>
              </a:rPr>
              <a:t>Continuity</a:t>
            </a:r>
            <a:endParaRPr lang="en-US" sz="1900" dirty="0"/>
          </a:p>
        </p:txBody>
      </p:sp>
      <p:sp>
        <p:nvSpPr>
          <p:cNvPr id="38" name="Text 36"/>
          <p:cNvSpPr txBox="1"/>
          <p:nvPr/>
        </p:nvSpPr>
        <p:spPr>
          <a:xfrm>
            <a:off x="7589291" y="3794760"/>
            <a:ext cx="1600200" cy="1554480"/>
          </a:xfrm>
          <a:prstGeom prst="rect">
            <a:avLst/>
          </a:prstGeom>
          <a:noFill/>
          <a:ln/>
        </p:spPr>
        <p:txBody>
          <a:bodyPr wrap="square" lIns="0" tIns="0" rIns="0" bIns="0" rtlCol="0" anchor="t"/>
          <a:lstStyle/>
          <a:p>
            <a:pPr marL="0" indent="0">
              <a:buNone/>
            </a:pPr>
            <a:r>
              <a:rPr lang="en-US" sz="1500" dirty="0">
                <a:solidFill>
                  <a:schemeClr val="bg2"/>
                </a:solidFill>
              </a:rPr>
              <a:t>Eyes follow smooth lines and paths.</a:t>
            </a:r>
            <a:endParaRPr lang="en-US" sz="1500" dirty="0"/>
          </a:p>
        </p:txBody>
      </p:sp>
      <p:sp>
        <p:nvSpPr>
          <p:cNvPr id="39" name="Gestalt card Figure-ground"/>
          <p:cNvSpPr/>
          <p:nvPr/>
        </p:nvSpPr>
        <p:spPr>
          <a:xfrm>
            <a:off x="9631375" y="1508760"/>
            <a:ext cx="2011680" cy="3931920"/>
          </a:xfrm>
          <a:prstGeom prst="rect">
            <a:avLst/>
          </a:prstGeom>
          <a:solidFill>
            <a:schemeClr val="tx1"/>
          </a:solidFill>
          <a:ln/>
        </p:spPr>
        <p:txBody>
          <a:bodyPr/>
          <a:lstStyle/>
          <a:p>
            <a:endParaRPr lang="en-US"/>
          </a:p>
        </p:txBody>
      </p:sp>
      <p:sp>
        <p:nvSpPr>
          <p:cNvPr id="40" name="Ground square"/>
          <p:cNvSpPr/>
          <p:nvPr/>
        </p:nvSpPr>
        <p:spPr>
          <a:xfrm>
            <a:off x="10042855" y="1828800"/>
            <a:ext cx="1188720" cy="1188720"/>
          </a:xfrm>
          <a:prstGeom prst="rect">
            <a:avLst/>
          </a:prstGeom>
          <a:solidFill>
            <a:schemeClr val="bg1"/>
          </a:solidFill>
          <a:ln/>
        </p:spPr>
        <p:txBody>
          <a:bodyPr/>
          <a:lstStyle/>
          <a:p>
            <a:endParaRPr lang="en-US"/>
          </a:p>
        </p:txBody>
      </p:sp>
      <p:sp>
        <p:nvSpPr>
          <p:cNvPr id="41" name="Figure circle"/>
          <p:cNvSpPr/>
          <p:nvPr/>
        </p:nvSpPr>
        <p:spPr>
          <a:xfrm>
            <a:off x="10317175" y="2103120"/>
            <a:ext cx="640080" cy="640080"/>
          </a:xfrm>
          <a:prstGeom prst="ellipse">
            <a:avLst/>
          </a:prstGeom>
          <a:solidFill>
            <a:schemeClr val="accent2"/>
          </a:solidFill>
          <a:ln/>
        </p:spPr>
        <p:txBody>
          <a:bodyPr/>
          <a:lstStyle/>
          <a:p>
            <a:endParaRPr lang="en-US"/>
          </a:p>
        </p:txBody>
      </p:sp>
      <p:sp>
        <p:nvSpPr>
          <p:cNvPr id="42" name="Text 40"/>
          <p:cNvSpPr txBox="1"/>
          <p:nvPr/>
        </p:nvSpPr>
        <p:spPr>
          <a:xfrm>
            <a:off x="9859975" y="3291840"/>
            <a:ext cx="1645920" cy="411480"/>
          </a:xfrm>
          <a:prstGeom prst="rect">
            <a:avLst/>
          </a:prstGeom>
          <a:noFill/>
          <a:ln/>
        </p:spPr>
        <p:txBody>
          <a:bodyPr wrap="square" lIns="0" tIns="0" rIns="0" bIns="0" rtlCol="0" anchor="t"/>
          <a:lstStyle/>
          <a:p>
            <a:pPr marL="0" indent="0">
              <a:buNone/>
            </a:pPr>
            <a:r>
              <a:rPr lang="en-US" sz="1900" b="1" dirty="0">
                <a:solidFill>
                  <a:schemeClr val="bg1"/>
                </a:solidFill>
              </a:rPr>
              <a:t>Figure-ground</a:t>
            </a:r>
            <a:endParaRPr lang="en-US" sz="1900" dirty="0"/>
          </a:p>
        </p:txBody>
      </p:sp>
      <p:sp>
        <p:nvSpPr>
          <p:cNvPr id="43" name="Text 41"/>
          <p:cNvSpPr txBox="1"/>
          <p:nvPr/>
        </p:nvSpPr>
        <p:spPr>
          <a:xfrm>
            <a:off x="9859975" y="3794760"/>
            <a:ext cx="1600200" cy="1554480"/>
          </a:xfrm>
          <a:prstGeom prst="rect">
            <a:avLst/>
          </a:prstGeom>
          <a:noFill/>
          <a:ln/>
        </p:spPr>
        <p:txBody>
          <a:bodyPr wrap="square" lIns="0" tIns="0" rIns="0" bIns="0" rtlCol="0" anchor="t"/>
          <a:lstStyle/>
          <a:p>
            <a:pPr marL="0" indent="0">
              <a:buNone/>
            </a:pPr>
            <a:r>
              <a:rPr lang="en-US" sz="1500" dirty="0">
                <a:solidFill>
                  <a:schemeClr val="bg2"/>
                </a:solidFill>
              </a:rPr>
              <a:t>We separate a subject from its background.</a:t>
            </a:r>
            <a:endParaRPr lang="en-US" sz="1500" dirty="0"/>
          </a:p>
        </p:txBody>
      </p:sp>
      <p:sp>
        <p:nvSpPr>
          <p:cNvPr id="44" name="Text 42"/>
          <p:cNvSpPr txBox="1"/>
          <p:nvPr/>
        </p:nvSpPr>
        <p:spPr>
          <a:xfrm>
            <a:off x="548640" y="5715000"/>
            <a:ext cx="11094415" cy="411480"/>
          </a:xfrm>
          <a:prstGeom prst="rect">
            <a:avLst/>
          </a:prstGeom>
          <a:noFill/>
          <a:ln/>
        </p:spPr>
        <p:txBody>
          <a:bodyPr wrap="square" lIns="0" tIns="0" rIns="0" bIns="0" rtlCol="0" anchor="t"/>
          <a:lstStyle/>
          <a:p>
            <a:pPr marL="0" indent="0">
              <a:buNone/>
            </a:pPr>
            <a:r>
              <a:rPr lang="en-US" sz="1700" dirty="0">
                <a:solidFill>
                  <a:schemeClr val="accent4"/>
                </a:solidFill>
              </a:rPr>
              <a:t>Designers use these tendencies to group content, guide the eye and make layouts feel orderly.</a:t>
            </a:r>
            <a:endParaRPr lang="en-US" sz="1700" dirty="0"/>
          </a:p>
        </p:txBody>
      </p:sp>
      <p:sp>
        <p:nvSpPr>
          <p:cNvPr id="45"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Visual hierarchy guides the eye</a:t>
            </a:r>
            <a:endParaRPr lang="en-US" sz="3600" dirty="0"/>
          </a:p>
        </p:txBody>
      </p:sp>
      <p:sp>
        <p:nvSpPr>
          <p:cNvPr id="3" name="Poster mock"/>
          <p:cNvSpPr/>
          <p:nvPr/>
        </p:nvSpPr>
        <p:spPr>
          <a:xfrm>
            <a:off x="548640" y="1508760"/>
            <a:ext cx="4023360" cy="4617720"/>
          </a:xfrm>
          <a:prstGeom prst="rect">
            <a:avLst/>
          </a:prstGeom>
          <a:solidFill>
            <a:schemeClr val="tx1"/>
          </a:solidFill>
          <a:ln/>
        </p:spPr>
        <p:txBody>
          <a:bodyPr/>
          <a:lstStyle/>
          <a:p>
            <a:endParaRPr lang="en-US"/>
          </a:p>
        </p:txBody>
      </p:sp>
      <p:sp>
        <p:nvSpPr>
          <p:cNvPr id="4" name="Text 2"/>
          <p:cNvSpPr txBox="1"/>
          <p:nvPr/>
        </p:nvSpPr>
        <p:spPr>
          <a:xfrm>
            <a:off x="822960" y="1783080"/>
            <a:ext cx="3474720" cy="1097280"/>
          </a:xfrm>
          <a:prstGeom prst="rect">
            <a:avLst/>
          </a:prstGeom>
          <a:noFill/>
          <a:ln/>
        </p:spPr>
        <p:txBody>
          <a:bodyPr wrap="square" lIns="0" tIns="0" rIns="0" bIns="0" rtlCol="0" anchor="t"/>
          <a:lstStyle/>
          <a:p>
            <a:pPr marL="0" indent="0">
              <a:buNone/>
            </a:pPr>
            <a:r>
              <a:rPr lang="en-US" sz="3200" b="1" dirty="0">
                <a:solidFill>
                  <a:schemeClr val="bg1"/>
                </a:solidFill>
              </a:rPr>
              <a:t>Open Studio Night</a:t>
            </a:r>
            <a:endParaRPr lang="en-US" sz="3200" dirty="0"/>
          </a:p>
        </p:txBody>
      </p:sp>
      <p:sp>
        <p:nvSpPr>
          <p:cNvPr id="5" name="Poster image placeholder"/>
          <p:cNvSpPr/>
          <p:nvPr/>
        </p:nvSpPr>
        <p:spPr>
          <a:xfrm>
            <a:off x="822960" y="3063240"/>
            <a:ext cx="1554480" cy="1554480"/>
          </a:xfrm>
          <a:prstGeom prst="ellipse">
            <a:avLst/>
          </a:prstGeom>
          <a:solidFill>
            <a:schemeClr val="accent3"/>
          </a:solidFill>
          <a:ln/>
        </p:spPr>
        <p:txBody>
          <a:bodyPr/>
          <a:lstStyle/>
          <a:p>
            <a:endParaRPr lang="en-US"/>
          </a:p>
        </p:txBody>
      </p:sp>
      <p:sp>
        <p:nvSpPr>
          <p:cNvPr id="6" name="Text 4"/>
          <p:cNvSpPr txBox="1"/>
          <p:nvPr/>
        </p:nvSpPr>
        <p:spPr>
          <a:xfrm>
            <a:off x="822960" y="4983480"/>
            <a:ext cx="3474720" cy="365760"/>
          </a:xfrm>
          <a:prstGeom prst="rect">
            <a:avLst/>
          </a:prstGeom>
          <a:noFill/>
          <a:ln/>
        </p:spPr>
        <p:txBody>
          <a:bodyPr wrap="square" lIns="0" tIns="0" rIns="0" bIns="0" rtlCol="0" anchor="t"/>
          <a:lstStyle/>
          <a:p>
            <a:pPr marL="0" indent="0">
              <a:buNone/>
            </a:pPr>
            <a:r>
              <a:rPr lang="en-US" sz="1800" b="1" dirty="0">
                <a:solidFill>
                  <a:schemeClr val="bg1"/>
                </a:solidFill>
              </a:rPr>
              <a:t>Friday, 7 PM</a:t>
            </a:r>
            <a:endParaRPr lang="en-US" sz="1800" dirty="0"/>
          </a:p>
        </p:txBody>
      </p:sp>
      <p:sp>
        <p:nvSpPr>
          <p:cNvPr id="7" name="Text 5"/>
          <p:cNvSpPr txBox="1"/>
          <p:nvPr/>
        </p:nvSpPr>
        <p:spPr>
          <a:xfrm>
            <a:off x="822960" y="5394960"/>
            <a:ext cx="3474720" cy="365760"/>
          </a:xfrm>
          <a:prstGeom prst="rect">
            <a:avLst/>
          </a:prstGeom>
          <a:noFill/>
          <a:ln/>
        </p:spPr>
        <p:txBody>
          <a:bodyPr wrap="square" lIns="0" tIns="0" rIns="0" bIns="0" rtlCol="0" anchor="t"/>
          <a:lstStyle/>
          <a:p>
            <a:pPr marL="0" indent="0">
              <a:buNone/>
            </a:pPr>
            <a:r>
              <a:rPr lang="en-US" sz="1400" dirty="0">
                <a:solidFill>
                  <a:schemeClr val="bg2"/>
                </a:solidFill>
              </a:rPr>
              <a:t>Room B204. Free entry.</a:t>
            </a:r>
            <a:endParaRPr lang="en-US" sz="1400" dirty="0"/>
          </a:p>
        </p:txBody>
      </p:sp>
      <p:sp>
        <p:nvSpPr>
          <p:cNvPr id="8" name="Number 1"/>
          <p:cNvSpPr/>
          <p:nvPr/>
        </p:nvSpPr>
        <p:spPr>
          <a:xfrm>
            <a:off x="4800600" y="1965960"/>
            <a:ext cx="457200" cy="45720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9" name="Text 7"/>
          <p:cNvSpPr txBox="1"/>
          <p:nvPr/>
        </p:nvSpPr>
        <p:spPr>
          <a:xfrm>
            <a:off x="5394960" y="1965960"/>
            <a:ext cx="1554480" cy="548640"/>
          </a:xfrm>
          <a:prstGeom prst="rect">
            <a:avLst/>
          </a:prstGeom>
          <a:noFill/>
          <a:ln/>
        </p:spPr>
        <p:txBody>
          <a:bodyPr wrap="square" lIns="0" tIns="0" rIns="0" bIns="0" rtlCol="0" anchor="ctr"/>
          <a:lstStyle/>
          <a:p>
            <a:pPr marL="0" indent="0">
              <a:buNone/>
            </a:pPr>
            <a:r>
              <a:rPr lang="en-US" sz="1400" dirty="0">
                <a:solidFill>
                  <a:schemeClr val="accent4"/>
                </a:solidFill>
              </a:rPr>
              <a:t>Read first: the headline</a:t>
            </a:r>
            <a:endParaRPr lang="en-US" sz="1400" dirty="0"/>
          </a:p>
        </p:txBody>
      </p:sp>
      <p:sp>
        <p:nvSpPr>
          <p:cNvPr id="10" name="Number 2"/>
          <p:cNvSpPr/>
          <p:nvPr/>
        </p:nvSpPr>
        <p:spPr>
          <a:xfrm>
            <a:off x="4800600" y="3520440"/>
            <a:ext cx="457200" cy="45720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9"/>
          <p:cNvSpPr txBox="1"/>
          <p:nvPr/>
        </p:nvSpPr>
        <p:spPr>
          <a:xfrm>
            <a:off x="5394960" y="3520440"/>
            <a:ext cx="1554480" cy="548640"/>
          </a:xfrm>
          <a:prstGeom prst="rect">
            <a:avLst/>
          </a:prstGeom>
          <a:noFill/>
          <a:ln/>
        </p:spPr>
        <p:txBody>
          <a:bodyPr wrap="square" lIns="0" tIns="0" rIns="0" bIns="0" rtlCol="0" anchor="ctr"/>
          <a:lstStyle/>
          <a:p>
            <a:pPr marL="0" indent="0">
              <a:buNone/>
            </a:pPr>
            <a:r>
              <a:rPr lang="en-US" sz="1400" dirty="0">
                <a:solidFill>
                  <a:schemeClr val="accent4"/>
                </a:solidFill>
              </a:rPr>
              <a:t>Read second: the image</a:t>
            </a:r>
            <a:endParaRPr lang="en-US" sz="1400" dirty="0"/>
          </a:p>
        </p:txBody>
      </p:sp>
      <p:sp>
        <p:nvSpPr>
          <p:cNvPr id="12" name="Number 3"/>
          <p:cNvSpPr/>
          <p:nvPr/>
        </p:nvSpPr>
        <p:spPr>
          <a:xfrm>
            <a:off x="4800600" y="4937760"/>
            <a:ext cx="457200" cy="45720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Text 11"/>
          <p:cNvSpPr txBox="1"/>
          <p:nvPr/>
        </p:nvSpPr>
        <p:spPr>
          <a:xfrm>
            <a:off x="5394960" y="4937760"/>
            <a:ext cx="1554480" cy="548640"/>
          </a:xfrm>
          <a:prstGeom prst="rect">
            <a:avLst/>
          </a:prstGeom>
          <a:noFill/>
          <a:ln/>
        </p:spPr>
        <p:txBody>
          <a:bodyPr wrap="square" lIns="0" tIns="0" rIns="0" bIns="0" rtlCol="0" anchor="ctr"/>
          <a:lstStyle/>
          <a:p>
            <a:pPr marL="0" indent="0">
              <a:buNone/>
            </a:pPr>
            <a:r>
              <a:rPr lang="en-US" sz="1400" dirty="0">
                <a:solidFill>
                  <a:schemeClr val="accent4"/>
                </a:solidFill>
              </a:rPr>
              <a:t>Read third: the details</a:t>
            </a:r>
            <a:endParaRPr lang="en-US" sz="1400" dirty="0"/>
          </a:p>
        </p:txBody>
      </p:sp>
      <p:sp>
        <p:nvSpPr>
          <p:cNvPr id="14" name="Text 12"/>
          <p:cNvSpPr txBox="1"/>
          <p:nvPr/>
        </p:nvSpPr>
        <p:spPr>
          <a:xfrm>
            <a:off x="7223760" y="1600200"/>
            <a:ext cx="4389120" cy="457200"/>
          </a:xfrm>
          <a:prstGeom prst="rect">
            <a:avLst/>
          </a:prstGeom>
          <a:noFill/>
          <a:ln/>
        </p:spPr>
        <p:txBody>
          <a:bodyPr wrap="square" lIns="0" tIns="0" rIns="0" bIns="0" rtlCol="0" anchor="t"/>
          <a:lstStyle/>
          <a:p>
            <a:pPr marL="0" indent="0">
              <a:buNone/>
            </a:pPr>
            <a:r>
              <a:rPr lang="en-US" sz="2200" b="1" dirty="0">
                <a:solidFill>
                  <a:schemeClr val="tx1"/>
                </a:solidFill>
              </a:rPr>
              <a:t>Ways to create hierarchy</a:t>
            </a:r>
            <a:endParaRPr lang="en-US" sz="2200" dirty="0"/>
          </a:p>
        </p:txBody>
      </p:sp>
      <p:sp>
        <p:nvSpPr>
          <p:cNvPr id="15" name="Hierarchy list"/>
          <p:cNvSpPr txBox="1"/>
          <p:nvPr/>
        </p:nvSpPr>
        <p:spPr>
          <a:xfrm>
            <a:off x="7223760" y="2240280"/>
            <a:ext cx="4416552" cy="3749040"/>
          </a:xfrm>
          <a:prstGeom prst="rect">
            <a:avLst/>
          </a:prstGeom>
          <a:noFill/>
          <a:ln/>
        </p:spPr>
        <p:txBody>
          <a:bodyPr wrap="square" lIns="0" tIns="0" rIns="0" bIns="0" rtlCol="0" anchor="t"/>
          <a:lstStyle/>
          <a:p>
            <a:pPr marL="342900" indent="-342900">
              <a:spcAft>
                <a:spcPts val="1200"/>
              </a:spcAft>
              <a:buSzPct val="100000"/>
              <a:buChar char="•"/>
            </a:pPr>
            <a:r>
              <a:rPr lang="en-US" sz="1700" b="1" dirty="0">
                <a:solidFill>
                  <a:schemeClr val="tx1"/>
                </a:solidFill>
              </a:rPr>
              <a:t>Size: </a:t>
            </a:r>
            <a:r>
              <a:rPr lang="en-US" sz="1700" dirty="0">
                <a:solidFill>
                  <a:schemeClr val="tx1"/>
                </a:solidFill>
              </a:rPr>
              <a:t>Larger elements are noticed first.</a:t>
            </a:r>
            <a:endParaRPr lang="en-US" sz="1700" dirty="0"/>
          </a:p>
          <a:p>
            <a:pPr marL="342900" indent="-342900">
              <a:spcAft>
                <a:spcPts val="1200"/>
              </a:spcAft>
              <a:buSzPct val="100000"/>
              <a:buChar char="•"/>
            </a:pPr>
            <a:r>
              <a:rPr lang="en-US" sz="1700" b="1" dirty="0">
                <a:solidFill>
                  <a:schemeClr val="tx1"/>
                </a:solidFill>
              </a:rPr>
              <a:t>Color and contrast: </a:t>
            </a:r>
            <a:r>
              <a:rPr lang="en-US" sz="1700" dirty="0">
                <a:solidFill>
                  <a:schemeClr val="tx1"/>
                </a:solidFill>
              </a:rPr>
              <a:t>Bright or high-contrast items stand out.</a:t>
            </a:r>
            <a:endParaRPr lang="en-US" sz="1700" dirty="0"/>
          </a:p>
          <a:p>
            <a:pPr marL="342900" indent="-342900">
              <a:spcAft>
                <a:spcPts val="1200"/>
              </a:spcAft>
              <a:buSzPct val="100000"/>
              <a:buChar char="•"/>
            </a:pPr>
            <a:r>
              <a:rPr lang="en-US" sz="1700" b="1" dirty="0">
                <a:solidFill>
                  <a:schemeClr val="tx1"/>
                </a:solidFill>
              </a:rPr>
              <a:t>Position: </a:t>
            </a:r>
            <a:r>
              <a:rPr lang="en-US" sz="1700" dirty="0">
                <a:solidFill>
                  <a:schemeClr val="tx1"/>
                </a:solidFill>
              </a:rPr>
              <a:t>Items high on the page, or at the start of the reading path, come first.</a:t>
            </a:r>
            <a:endParaRPr lang="en-US" sz="1700" dirty="0"/>
          </a:p>
          <a:p>
            <a:pPr marL="342900" indent="-342900">
              <a:spcAft>
                <a:spcPts val="1200"/>
              </a:spcAft>
              <a:buSzPct val="100000"/>
              <a:buChar char="•"/>
            </a:pPr>
            <a:r>
              <a:rPr lang="en-US" sz="1700" b="1" dirty="0">
                <a:solidFill>
                  <a:schemeClr val="tx1"/>
                </a:solidFill>
              </a:rPr>
              <a:t>Weight: </a:t>
            </a:r>
            <a:r>
              <a:rPr lang="en-US" sz="1700" dirty="0">
                <a:solidFill>
                  <a:schemeClr val="tx1"/>
                </a:solidFill>
              </a:rPr>
              <a:t>Bold type outranks regular type.</a:t>
            </a:r>
            <a:endParaRPr lang="en-US" sz="1700" dirty="0"/>
          </a:p>
          <a:p>
            <a:pPr marL="342900" indent="-342900">
              <a:spcAft>
                <a:spcPts val="1200"/>
              </a:spcAft>
              <a:buSzPct val="100000"/>
              <a:buChar char="•"/>
            </a:pPr>
            <a:r>
              <a:rPr lang="en-US" sz="1700" b="1" dirty="0">
                <a:solidFill>
                  <a:schemeClr val="tx1"/>
                </a:solidFill>
              </a:rPr>
              <a:t>Whitespace: </a:t>
            </a:r>
            <a:r>
              <a:rPr lang="en-US" sz="1700" dirty="0">
                <a:solidFill>
                  <a:schemeClr val="tx1"/>
                </a:solidFill>
              </a:rPr>
              <a:t>Space around an item gives it importance.</a:t>
            </a:r>
            <a:endParaRPr lang="en-US" sz="1700" dirty="0"/>
          </a:p>
        </p:txBody>
      </p:sp>
      <p:sp>
        <p:nvSpPr>
          <p:cNvPr id="25"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Color and type change the tone</a:t>
            </a:r>
            <a:endParaRPr lang="en-US" sz="3600" dirty="0"/>
          </a:p>
        </p:txBody>
      </p:sp>
      <p:sp>
        <p:nvSpPr>
          <p:cNvPr id="3" name="Tone panel Playful"/>
          <p:cNvSpPr/>
          <p:nvPr/>
        </p:nvSpPr>
        <p:spPr>
          <a:xfrm>
            <a:off x="548640" y="1508760"/>
            <a:ext cx="3566160" cy="2743200"/>
          </a:xfrm>
          <a:prstGeom prst="rect">
            <a:avLst/>
          </a:prstGeom>
          <a:solidFill>
            <a:schemeClr val="accent3"/>
          </a:solidFill>
          <a:ln/>
        </p:spPr>
        <p:txBody>
          <a:bodyPr/>
          <a:lstStyle/>
          <a:p>
            <a:endParaRPr lang="en-US"/>
          </a:p>
        </p:txBody>
      </p:sp>
      <p:sp>
        <p:nvSpPr>
          <p:cNvPr id="4" name="Playful dot"/>
          <p:cNvSpPr/>
          <p:nvPr/>
        </p:nvSpPr>
        <p:spPr>
          <a:xfrm>
            <a:off x="3200400" y="1691640"/>
            <a:ext cx="640080" cy="640080"/>
          </a:xfrm>
          <a:prstGeom prst="ellipse">
            <a:avLst/>
          </a:prstGeom>
          <a:solidFill>
            <a:schemeClr val="accent2"/>
          </a:solidFill>
          <a:ln/>
        </p:spPr>
        <p:txBody>
          <a:bodyPr/>
          <a:lstStyle/>
          <a:p>
            <a:endParaRPr lang="en-US"/>
          </a:p>
        </p:txBody>
      </p:sp>
      <p:sp>
        <p:nvSpPr>
          <p:cNvPr id="5" name="Text 3"/>
          <p:cNvSpPr txBox="1"/>
          <p:nvPr/>
        </p:nvSpPr>
        <p:spPr>
          <a:xfrm>
            <a:off x="868680" y="2331720"/>
            <a:ext cx="3017520" cy="1097280"/>
          </a:xfrm>
          <a:prstGeom prst="rect">
            <a:avLst/>
          </a:prstGeom>
          <a:noFill/>
          <a:ln/>
        </p:spPr>
        <p:txBody>
          <a:bodyPr wrap="square" lIns="0" tIns="0" rIns="0" bIns="0" rtlCol="0" anchor="ctr"/>
          <a:lstStyle/>
          <a:p>
            <a:pPr marL="0" indent="0">
              <a:buNone/>
            </a:pPr>
            <a:r>
              <a:rPr lang="en-US" sz="3800" b="1" dirty="0">
                <a:solidFill>
                  <a:schemeClr val="tx1"/>
                </a:solidFill>
                <a:latin typeface="Arial" pitchFamily="34" charset="0"/>
                <a:ea typeface="Arial" pitchFamily="34" charset="-122"/>
                <a:cs typeface="Arial" pitchFamily="34" charset="-120"/>
              </a:rPr>
              <a:t>Summer Sale</a:t>
            </a:r>
            <a:endParaRPr lang="en-US" sz="3800" dirty="0"/>
          </a:p>
        </p:txBody>
      </p:sp>
      <p:sp>
        <p:nvSpPr>
          <p:cNvPr id="6" name="Text 4"/>
          <p:cNvSpPr txBox="1"/>
          <p:nvPr/>
        </p:nvSpPr>
        <p:spPr>
          <a:xfrm>
            <a:off x="548640" y="4480560"/>
            <a:ext cx="3566160" cy="411480"/>
          </a:xfrm>
          <a:prstGeom prst="rect">
            <a:avLst/>
          </a:prstGeom>
          <a:noFill/>
          <a:ln/>
        </p:spPr>
        <p:txBody>
          <a:bodyPr wrap="square" lIns="0" tIns="0" rIns="0" bIns="0" rtlCol="0" anchor="t"/>
          <a:lstStyle/>
          <a:p>
            <a:pPr marL="0" indent="0">
              <a:buNone/>
            </a:pPr>
            <a:r>
              <a:rPr lang="en-US" sz="2200" b="1" dirty="0">
                <a:solidFill>
                  <a:schemeClr val="tx1"/>
                </a:solidFill>
              </a:rPr>
              <a:t>Playful</a:t>
            </a:r>
            <a:endParaRPr lang="en-US" sz="2200" dirty="0"/>
          </a:p>
        </p:txBody>
      </p:sp>
      <p:sp>
        <p:nvSpPr>
          <p:cNvPr id="7" name="Text 5"/>
          <p:cNvSpPr txBox="1"/>
          <p:nvPr/>
        </p:nvSpPr>
        <p:spPr>
          <a:xfrm>
            <a:off x="548640" y="4937760"/>
            <a:ext cx="3383280" cy="731520"/>
          </a:xfrm>
          <a:prstGeom prst="rect">
            <a:avLst/>
          </a:prstGeom>
          <a:noFill/>
          <a:ln/>
        </p:spPr>
        <p:txBody>
          <a:bodyPr wrap="square" lIns="0" tIns="0" rIns="0" bIns="0" rtlCol="0" anchor="t"/>
          <a:lstStyle/>
          <a:p>
            <a:pPr marL="0" indent="0">
              <a:buNone/>
            </a:pPr>
            <a:r>
              <a:rPr lang="en-US" sz="1600" dirty="0">
                <a:solidFill>
                  <a:schemeClr val="accent4"/>
                </a:solidFill>
              </a:rPr>
              <a:t>Bright color and heavy type feel energetic and friendly.</a:t>
            </a:r>
            <a:endParaRPr lang="en-US" sz="1600" dirty="0"/>
          </a:p>
        </p:txBody>
      </p:sp>
      <p:sp>
        <p:nvSpPr>
          <p:cNvPr id="8" name="Tone panel Elegant"/>
          <p:cNvSpPr/>
          <p:nvPr/>
        </p:nvSpPr>
        <p:spPr>
          <a:xfrm>
            <a:off x="4312768" y="1508760"/>
            <a:ext cx="3566160" cy="2743200"/>
          </a:xfrm>
          <a:prstGeom prst="rect">
            <a:avLst/>
          </a:prstGeom>
          <a:solidFill>
            <a:schemeClr val="tx1"/>
          </a:solidFill>
          <a:ln/>
        </p:spPr>
        <p:txBody>
          <a:bodyPr/>
          <a:lstStyle/>
          <a:p>
            <a:endParaRPr lang="en-US"/>
          </a:p>
        </p:txBody>
      </p:sp>
      <p:sp>
        <p:nvSpPr>
          <p:cNvPr id="9" name="Text 7"/>
          <p:cNvSpPr txBox="1"/>
          <p:nvPr/>
        </p:nvSpPr>
        <p:spPr>
          <a:xfrm>
            <a:off x="4632808" y="2331720"/>
            <a:ext cx="3017520" cy="1097280"/>
          </a:xfrm>
          <a:prstGeom prst="rect">
            <a:avLst/>
          </a:prstGeom>
          <a:noFill/>
          <a:ln/>
        </p:spPr>
        <p:txBody>
          <a:bodyPr wrap="square" lIns="0" tIns="0" rIns="0" bIns="0" rtlCol="0" anchor="ctr"/>
          <a:lstStyle/>
          <a:p>
            <a:pPr marL="0" indent="0">
              <a:buNone/>
            </a:pPr>
            <a:r>
              <a:rPr lang="en-US" sz="3600" kern="0" spc="300" dirty="0">
                <a:solidFill>
                  <a:schemeClr val="bg1"/>
                </a:solidFill>
                <a:latin typeface="Cambria" pitchFamily="34" charset="0"/>
                <a:ea typeface="Cambria" pitchFamily="34" charset="-122"/>
                <a:cs typeface="Cambria" pitchFamily="34" charset="-120"/>
              </a:rPr>
              <a:t>Summer Sale</a:t>
            </a:r>
            <a:endParaRPr lang="en-US" sz="3600" dirty="0"/>
          </a:p>
        </p:txBody>
      </p:sp>
      <p:sp>
        <p:nvSpPr>
          <p:cNvPr id="10" name="Text 8"/>
          <p:cNvSpPr txBox="1"/>
          <p:nvPr/>
        </p:nvSpPr>
        <p:spPr>
          <a:xfrm>
            <a:off x="4312768" y="4480560"/>
            <a:ext cx="3566160" cy="411480"/>
          </a:xfrm>
          <a:prstGeom prst="rect">
            <a:avLst/>
          </a:prstGeom>
          <a:noFill/>
          <a:ln/>
        </p:spPr>
        <p:txBody>
          <a:bodyPr wrap="square" lIns="0" tIns="0" rIns="0" bIns="0" rtlCol="0" anchor="t"/>
          <a:lstStyle/>
          <a:p>
            <a:pPr marL="0" indent="0">
              <a:buNone/>
            </a:pPr>
            <a:r>
              <a:rPr lang="en-US" sz="2200" b="1" dirty="0">
                <a:solidFill>
                  <a:schemeClr val="tx1"/>
                </a:solidFill>
              </a:rPr>
              <a:t>Elegant</a:t>
            </a:r>
            <a:endParaRPr lang="en-US" sz="2200" dirty="0"/>
          </a:p>
        </p:txBody>
      </p:sp>
      <p:sp>
        <p:nvSpPr>
          <p:cNvPr id="11" name="Text 9"/>
          <p:cNvSpPr txBox="1"/>
          <p:nvPr/>
        </p:nvSpPr>
        <p:spPr>
          <a:xfrm>
            <a:off x="4312768" y="4937760"/>
            <a:ext cx="3383280" cy="731520"/>
          </a:xfrm>
          <a:prstGeom prst="rect">
            <a:avLst/>
          </a:prstGeom>
          <a:noFill/>
          <a:ln/>
        </p:spPr>
        <p:txBody>
          <a:bodyPr wrap="square" lIns="0" tIns="0" rIns="0" bIns="0" rtlCol="0" anchor="t"/>
          <a:lstStyle/>
          <a:p>
            <a:pPr marL="0" indent="0">
              <a:buNone/>
            </a:pPr>
            <a:r>
              <a:rPr lang="en-US" sz="1600" dirty="0">
                <a:solidFill>
                  <a:schemeClr val="accent4"/>
                </a:solidFill>
              </a:rPr>
              <a:t>A dark ground and refined serif feel calm and premium.</a:t>
            </a:r>
            <a:endParaRPr lang="en-US" sz="1600" dirty="0"/>
          </a:p>
        </p:txBody>
      </p:sp>
      <p:sp>
        <p:nvSpPr>
          <p:cNvPr id="12" name="Tone panel Corporate"/>
          <p:cNvSpPr/>
          <p:nvPr/>
        </p:nvSpPr>
        <p:spPr>
          <a:xfrm>
            <a:off x="8076895" y="1508760"/>
            <a:ext cx="3566160" cy="2743200"/>
          </a:xfrm>
          <a:prstGeom prst="rect">
            <a:avLst/>
          </a:prstGeom>
          <a:solidFill>
            <a:schemeClr val="accent1"/>
          </a:solidFill>
          <a:ln/>
        </p:spPr>
        <p:txBody>
          <a:bodyPr/>
          <a:lstStyle/>
          <a:p>
            <a:endParaRPr lang="en-US"/>
          </a:p>
        </p:txBody>
      </p:sp>
      <p:sp>
        <p:nvSpPr>
          <p:cNvPr id="13" name="Text 11"/>
          <p:cNvSpPr txBox="1"/>
          <p:nvPr/>
        </p:nvSpPr>
        <p:spPr>
          <a:xfrm>
            <a:off x="8396935" y="2331720"/>
            <a:ext cx="3017520" cy="1097280"/>
          </a:xfrm>
          <a:prstGeom prst="rect">
            <a:avLst/>
          </a:prstGeom>
          <a:noFill/>
          <a:ln/>
        </p:spPr>
        <p:txBody>
          <a:bodyPr wrap="square" lIns="0" tIns="0" rIns="0" bIns="0" rtlCol="0" anchor="ctr"/>
          <a:lstStyle/>
          <a:p>
            <a:pPr marL="0" indent="0">
              <a:buNone/>
            </a:pPr>
            <a:r>
              <a:rPr lang="en-US" sz="3400" dirty="0">
                <a:solidFill>
                  <a:schemeClr val="bg1"/>
                </a:solidFill>
                <a:latin typeface="Arial" pitchFamily="34" charset="0"/>
                <a:ea typeface="Arial" pitchFamily="34" charset="-122"/>
                <a:cs typeface="Arial" pitchFamily="34" charset="-120"/>
              </a:rPr>
              <a:t>Summer Sale</a:t>
            </a:r>
            <a:endParaRPr lang="en-US" sz="3400" dirty="0"/>
          </a:p>
        </p:txBody>
      </p:sp>
      <p:sp>
        <p:nvSpPr>
          <p:cNvPr id="14" name="Text 12"/>
          <p:cNvSpPr txBox="1"/>
          <p:nvPr/>
        </p:nvSpPr>
        <p:spPr>
          <a:xfrm>
            <a:off x="8076895" y="4480560"/>
            <a:ext cx="3566160" cy="411480"/>
          </a:xfrm>
          <a:prstGeom prst="rect">
            <a:avLst/>
          </a:prstGeom>
          <a:noFill/>
          <a:ln/>
        </p:spPr>
        <p:txBody>
          <a:bodyPr wrap="square" lIns="0" tIns="0" rIns="0" bIns="0" rtlCol="0" anchor="t"/>
          <a:lstStyle/>
          <a:p>
            <a:pPr marL="0" indent="0">
              <a:buNone/>
            </a:pPr>
            <a:r>
              <a:rPr lang="en-US" sz="2200" b="1" dirty="0">
                <a:solidFill>
                  <a:schemeClr val="tx1"/>
                </a:solidFill>
              </a:rPr>
              <a:t>Corporate</a:t>
            </a:r>
            <a:endParaRPr lang="en-US" sz="2200" dirty="0"/>
          </a:p>
        </p:txBody>
      </p:sp>
      <p:sp>
        <p:nvSpPr>
          <p:cNvPr id="15" name="Text 13"/>
          <p:cNvSpPr txBox="1"/>
          <p:nvPr/>
        </p:nvSpPr>
        <p:spPr>
          <a:xfrm>
            <a:off x="8076895" y="4937760"/>
            <a:ext cx="3383280" cy="731520"/>
          </a:xfrm>
          <a:prstGeom prst="rect">
            <a:avLst/>
          </a:prstGeom>
          <a:noFill/>
          <a:ln/>
        </p:spPr>
        <p:txBody>
          <a:bodyPr wrap="square" lIns="0" tIns="0" rIns="0" bIns="0" rtlCol="0" anchor="t"/>
          <a:lstStyle/>
          <a:p>
            <a:pPr marL="0" indent="0">
              <a:buNone/>
            </a:pPr>
            <a:r>
              <a:rPr lang="en-US" sz="1600" dirty="0">
                <a:solidFill>
                  <a:schemeClr val="accent4"/>
                </a:solidFill>
              </a:rPr>
              <a:t>Cool blue and neutral sans-serif feel trustworthy and clear.</a:t>
            </a:r>
            <a:endParaRPr lang="en-US" sz="1600" dirty="0"/>
          </a:p>
        </p:txBody>
      </p:sp>
      <p:sp>
        <p:nvSpPr>
          <p:cNvPr id="16" name="Text 14"/>
          <p:cNvSpPr txBox="1"/>
          <p:nvPr/>
        </p:nvSpPr>
        <p:spPr>
          <a:xfrm>
            <a:off x="548640" y="5760720"/>
            <a:ext cx="11094415" cy="411480"/>
          </a:xfrm>
          <a:prstGeom prst="rect">
            <a:avLst/>
          </a:prstGeom>
          <a:noFill/>
          <a:ln/>
        </p:spPr>
        <p:txBody>
          <a:bodyPr wrap="square" lIns="0" tIns="0" rIns="0" bIns="0" rtlCol="0" anchor="t"/>
          <a:lstStyle/>
          <a:p>
            <a:pPr marL="0" indent="0">
              <a:buNone/>
            </a:pPr>
            <a:r>
              <a:rPr lang="en-US" sz="1700" dirty="0">
                <a:solidFill>
                  <a:schemeClr val="tx1"/>
                </a:solidFill>
              </a:rPr>
              <a:t>Same words, three feelings: color, typeface and weight carry meaning before anyone reads a sentence.</a:t>
            </a:r>
            <a:endParaRPr lang="en-US" sz="1700" dirty="0"/>
          </a:p>
        </p:txBody>
      </p:sp>
      <p:sp>
        <p:nvSpPr>
          <p:cNvPr id="25"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Where graphic design is used</a:t>
            </a:r>
            <a:endParaRPr lang="en-US" sz="3600" dirty="0"/>
          </a:p>
        </p:txBody>
      </p:sp>
      <p:sp>
        <p:nvSpPr>
          <p:cNvPr id="3" name="Context card Print"/>
          <p:cNvSpPr/>
          <p:nvPr/>
        </p:nvSpPr>
        <p:spPr>
          <a:xfrm>
            <a:off x="548640" y="1508760"/>
            <a:ext cx="3566160" cy="2194560"/>
          </a:xfrm>
          <a:prstGeom prst="rect">
            <a:avLst/>
          </a:prstGeom>
          <a:solidFill>
            <a:schemeClr val="bg2"/>
          </a:solidFill>
          <a:ln/>
        </p:spPr>
        <p:txBody>
          <a:bodyPr/>
          <a:lstStyle/>
          <a:p>
            <a:endParaRPr lang="en-US"/>
          </a:p>
        </p:txBody>
      </p:sp>
      <p:sp>
        <p:nvSpPr>
          <p:cNvPr id="4" name="Icon circle Print"/>
          <p:cNvSpPr/>
          <p:nvPr/>
        </p:nvSpPr>
        <p:spPr>
          <a:xfrm>
            <a:off x="777240" y="1737360"/>
            <a:ext cx="594360" cy="594360"/>
          </a:xfrm>
          <a:prstGeom prst="ellipse">
            <a:avLst/>
          </a:prstGeom>
          <a:solidFill>
            <a:schemeClr val="accent1"/>
          </a:solidFill>
          <a:ln/>
        </p:spPr>
        <p:txBody>
          <a:bodyPr/>
          <a:lstStyle/>
          <a:p>
            <a:endParaRPr lang="en-US"/>
          </a:p>
        </p:txBody>
      </p:sp>
      <p:pic>
        <p:nvPicPr>
          <p:cNvPr id="5" name="Icon Print" descr="Print icon"/>
          <p:cNvPicPr>
            <a:picLocks noChangeAspect="1"/>
          </p:cNvPicPr>
          <p:nvPr/>
        </p:nvPicPr>
        <p:blipFill>
          <a:blip r:embed="rId3"/>
          <a:stretch>
            <a:fillRect/>
          </a:stretch>
        </p:blipFill>
        <p:spPr>
          <a:xfrm>
            <a:off x="931774" y="1891894"/>
            <a:ext cx="285293" cy="285293"/>
          </a:xfrm>
          <a:prstGeom prst="rect">
            <a:avLst/>
          </a:prstGeom>
        </p:spPr>
      </p:pic>
      <p:sp>
        <p:nvSpPr>
          <p:cNvPr id="6" name="Text 3"/>
          <p:cNvSpPr txBox="1"/>
          <p:nvPr/>
        </p:nvSpPr>
        <p:spPr>
          <a:xfrm>
            <a:off x="1554480" y="1737360"/>
            <a:ext cx="2377440" cy="594360"/>
          </a:xfrm>
          <a:prstGeom prst="rect">
            <a:avLst/>
          </a:prstGeom>
          <a:noFill/>
          <a:ln/>
        </p:spPr>
        <p:txBody>
          <a:bodyPr wrap="square" lIns="0" tIns="0" rIns="0" bIns="0" rtlCol="0" anchor="ctr"/>
          <a:lstStyle/>
          <a:p>
            <a:pPr marL="0" indent="0">
              <a:buNone/>
            </a:pPr>
            <a:r>
              <a:rPr lang="en-US" sz="2000" b="1" dirty="0">
                <a:solidFill>
                  <a:schemeClr val="tx1"/>
                </a:solidFill>
              </a:rPr>
              <a:t>Print</a:t>
            </a:r>
            <a:endParaRPr lang="en-US" sz="2000" dirty="0"/>
          </a:p>
        </p:txBody>
      </p:sp>
      <p:sp>
        <p:nvSpPr>
          <p:cNvPr id="7" name="Text 4"/>
          <p:cNvSpPr txBox="1"/>
          <p:nvPr/>
        </p:nvSpPr>
        <p:spPr>
          <a:xfrm>
            <a:off x="777240" y="2514600"/>
            <a:ext cx="3108960" cy="502920"/>
          </a:xfrm>
          <a:prstGeom prst="rect">
            <a:avLst/>
          </a:prstGeom>
          <a:noFill/>
          <a:ln/>
        </p:spPr>
        <p:txBody>
          <a:bodyPr wrap="square" lIns="0" tIns="0" rIns="0" bIns="0" rtlCol="0" anchor="t"/>
          <a:lstStyle/>
          <a:p>
            <a:pPr marL="0" indent="0">
              <a:buNone/>
            </a:pPr>
            <a:r>
              <a:rPr lang="en-US" sz="1500" b="1" dirty="0">
                <a:solidFill>
                  <a:schemeClr val="tx1"/>
                </a:solidFill>
              </a:rPr>
              <a:t>Examples: </a:t>
            </a:r>
            <a:r>
              <a:rPr lang="en-US" sz="1500" dirty="0">
                <a:solidFill>
                  <a:schemeClr val="tx1"/>
                </a:solidFill>
              </a:rPr>
              <a:t>Posters, books, brochures</a:t>
            </a:r>
            <a:endParaRPr lang="en-US" sz="1500" dirty="0"/>
          </a:p>
        </p:txBody>
      </p:sp>
      <p:sp>
        <p:nvSpPr>
          <p:cNvPr id="8" name="Text 5"/>
          <p:cNvSpPr txBox="1"/>
          <p:nvPr/>
        </p:nvSpPr>
        <p:spPr>
          <a:xfrm>
            <a:off x="777240" y="3063240"/>
            <a:ext cx="3108960" cy="548640"/>
          </a:xfrm>
          <a:prstGeom prst="rect">
            <a:avLst/>
          </a:prstGeom>
          <a:noFill/>
          <a:ln/>
        </p:spPr>
        <p:txBody>
          <a:bodyPr wrap="square" lIns="0" tIns="0" rIns="0" bIns="0" rtlCol="0" anchor="t"/>
          <a:lstStyle/>
          <a:p>
            <a:pPr marL="0" indent="0">
              <a:buNone/>
            </a:pPr>
            <a:r>
              <a:rPr lang="en-US" sz="1500" b="1" dirty="0">
                <a:solidFill>
                  <a:schemeClr val="accent4"/>
                </a:solidFill>
              </a:rPr>
              <a:t>Key concern: </a:t>
            </a:r>
            <a:r>
              <a:rPr lang="en-US" sz="1500" dirty="0">
                <a:solidFill>
                  <a:schemeClr val="accent4"/>
                </a:solidFill>
              </a:rPr>
              <a:t>Color accuracy, paper, bleed</a:t>
            </a:r>
            <a:endParaRPr lang="en-US" sz="1500" dirty="0"/>
          </a:p>
        </p:txBody>
      </p:sp>
      <p:sp>
        <p:nvSpPr>
          <p:cNvPr id="9" name="Context card Digital and screen"/>
          <p:cNvSpPr/>
          <p:nvPr/>
        </p:nvSpPr>
        <p:spPr>
          <a:xfrm>
            <a:off x="4312768" y="1508760"/>
            <a:ext cx="3566160" cy="2194560"/>
          </a:xfrm>
          <a:prstGeom prst="rect">
            <a:avLst/>
          </a:prstGeom>
          <a:solidFill>
            <a:schemeClr val="bg2"/>
          </a:solidFill>
          <a:ln/>
        </p:spPr>
        <p:txBody>
          <a:bodyPr/>
          <a:lstStyle/>
          <a:p>
            <a:endParaRPr lang="en-US"/>
          </a:p>
        </p:txBody>
      </p:sp>
      <p:sp>
        <p:nvSpPr>
          <p:cNvPr id="10" name="Icon circle Digital and screen"/>
          <p:cNvSpPr/>
          <p:nvPr/>
        </p:nvSpPr>
        <p:spPr>
          <a:xfrm>
            <a:off x="4541368" y="1737360"/>
            <a:ext cx="594360" cy="594360"/>
          </a:xfrm>
          <a:prstGeom prst="ellipse">
            <a:avLst/>
          </a:prstGeom>
          <a:solidFill>
            <a:schemeClr val="accent2"/>
          </a:solidFill>
          <a:ln/>
        </p:spPr>
        <p:txBody>
          <a:bodyPr/>
          <a:lstStyle/>
          <a:p>
            <a:endParaRPr lang="en-US"/>
          </a:p>
        </p:txBody>
      </p:sp>
      <p:pic>
        <p:nvPicPr>
          <p:cNvPr id="11" name="Icon Digital and screen" descr="Digital and screen icon"/>
          <p:cNvPicPr>
            <a:picLocks noChangeAspect="1"/>
          </p:cNvPicPr>
          <p:nvPr/>
        </p:nvPicPr>
        <p:blipFill>
          <a:blip r:embed="rId4"/>
          <a:stretch>
            <a:fillRect/>
          </a:stretch>
        </p:blipFill>
        <p:spPr>
          <a:xfrm>
            <a:off x="4695901" y="1891894"/>
            <a:ext cx="285293" cy="285293"/>
          </a:xfrm>
          <a:prstGeom prst="rect">
            <a:avLst/>
          </a:prstGeom>
        </p:spPr>
      </p:pic>
      <p:sp>
        <p:nvSpPr>
          <p:cNvPr id="12" name="Text 8"/>
          <p:cNvSpPr txBox="1"/>
          <p:nvPr/>
        </p:nvSpPr>
        <p:spPr>
          <a:xfrm>
            <a:off x="5318608" y="1737360"/>
            <a:ext cx="2377440" cy="594360"/>
          </a:xfrm>
          <a:prstGeom prst="rect">
            <a:avLst/>
          </a:prstGeom>
          <a:noFill/>
          <a:ln/>
        </p:spPr>
        <p:txBody>
          <a:bodyPr wrap="square" lIns="0" tIns="0" rIns="0" bIns="0" rtlCol="0" anchor="ctr"/>
          <a:lstStyle/>
          <a:p>
            <a:pPr marL="0" indent="0">
              <a:buNone/>
            </a:pPr>
            <a:r>
              <a:rPr lang="en-US" sz="2000" b="1" dirty="0">
                <a:solidFill>
                  <a:schemeClr val="tx1"/>
                </a:solidFill>
              </a:rPr>
              <a:t>Digital and screen</a:t>
            </a:r>
            <a:endParaRPr lang="en-US" sz="2000" dirty="0"/>
          </a:p>
        </p:txBody>
      </p:sp>
      <p:sp>
        <p:nvSpPr>
          <p:cNvPr id="13" name="Text 9"/>
          <p:cNvSpPr txBox="1"/>
          <p:nvPr/>
        </p:nvSpPr>
        <p:spPr>
          <a:xfrm>
            <a:off x="4541368" y="2514600"/>
            <a:ext cx="3108960" cy="502920"/>
          </a:xfrm>
          <a:prstGeom prst="rect">
            <a:avLst/>
          </a:prstGeom>
          <a:noFill/>
          <a:ln/>
        </p:spPr>
        <p:txBody>
          <a:bodyPr wrap="square" lIns="0" tIns="0" rIns="0" bIns="0" rtlCol="0" anchor="t"/>
          <a:lstStyle/>
          <a:p>
            <a:pPr marL="0" indent="0">
              <a:buNone/>
            </a:pPr>
            <a:r>
              <a:rPr lang="en-US" sz="1500" b="1" dirty="0">
                <a:solidFill>
                  <a:schemeClr val="tx1"/>
                </a:solidFill>
              </a:rPr>
              <a:t>Examples: </a:t>
            </a:r>
            <a:r>
              <a:rPr lang="en-US" sz="1500" dirty="0">
                <a:solidFill>
                  <a:schemeClr val="tx1"/>
                </a:solidFill>
              </a:rPr>
              <a:t>Websites, apps, social posts</a:t>
            </a:r>
            <a:endParaRPr lang="en-US" sz="1500" dirty="0"/>
          </a:p>
        </p:txBody>
      </p:sp>
      <p:sp>
        <p:nvSpPr>
          <p:cNvPr id="14" name="Text 10"/>
          <p:cNvSpPr txBox="1"/>
          <p:nvPr/>
        </p:nvSpPr>
        <p:spPr>
          <a:xfrm>
            <a:off x="4541368" y="3063240"/>
            <a:ext cx="3108960" cy="548640"/>
          </a:xfrm>
          <a:prstGeom prst="rect">
            <a:avLst/>
          </a:prstGeom>
          <a:noFill/>
          <a:ln/>
        </p:spPr>
        <p:txBody>
          <a:bodyPr wrap="square" lIns="0" tIns="0" rIns="0" bIns="0" rtlCol="0" anchor="t"/>
          <a:lstStyle/>
          <a:p>
            <a:pPr marL="0" indent="0">
              <a:buNone/>
            </a:pPr>
            <a:r>
              <a:rPr lang="en-US" sz="1500" b="1" dirty="0">
                <a:solidFill>
                  <a:schemeClr val="accent4"/>
                </a:solidFill>
              </a:rPr>
              <a:t>Key concern: </a:t>
            </a:r>
            <a:r>
              <a:rPr lang="en-US" sz="1500" dirty="0">
                <a:solidFill>
                  <a:schemeClr val="accent4"/>
                </a:solidFill>
              </a:rPr>
              <a:t>Screen sizes, speed, accessibility</a:t>
            </a:r>
            <a:endParaRPr lang="en-US" sz="1500" dirty="0"/>
          </a:p>
        </p:txBody>
      </p:sp>
      <p:sp>
        <p:nvSpPr>
          <p:cNvPr id="15" name="Context card Packaging"/>
          <p:cNvSpPr/>
          <p:nvPr/>
        </p:nvSpPr>
        <p:spPr>
          <a:xfrm>
            <a:off x="8076895" y="1508760"/>
            <a:ext cx="3566160" cy="2194560"/>
          </a:xfrm>
          <a:prstGeom prst="rect">
            <a:avLst/>
          </a:prstGeom>
          <a:solidFill>
            <a:schemeClr val="bg2"/>
          </a:solidFill>
          <a:ln/>
        </p:spPr>
        <p:txBody>
          <a:bodyPr/>
          <a:lstStyle/>
          <a:p>
            <a:endParaRPr lang="en-US"/>
          </a:p>
        </p:txBody>
      </p:sp>
      <p:sp>
        <p:nvSpPr>
          <p:cNvPr id="16" name="Icon circle Packaging"/>
          <p:cNvSpPr/>
          <p:nvPr/>
        </p:nvSpPr>
        <p:spPr>
          <a:xfrm>
            <a:off x="8305495" y="1737360"/>
            <a:ext cx="594360" cy="594360"/>
          </a:xfrm>
          <a:prstGeom prst="ellipse">
            <a:avLst/>
          </a:prstGeom>
          <a:solidFill>
            <a:schemeClr val="accent3"/>
          </a:solidFill>
          <a:ln/>
        </p:spPr>
        <p:txBody>
          <a:bodyPr/>
          <a:lstStyle/>
          <a:p>
            <a:endParaRPr lang="en-US"/>
          </a:p>
        </p:txBody>
      </p:sp>
      <p:pic>
        <p:nvPicPr>
          <p:cNvPr id="17" name="Icon Packaging" descr="Packaging icon"/>
          <p:cNvPicPr>
            <a:picLocks noChangeAspect="1"/>
          </p:cNvPicPr>
          <p:nvPr/>
        </p:nvPicPr>
        <p:blipFill>
          <a:blip r:embed="rId5"/>
          <a:stretch>
            <a:fillRect/>
          </a:stretch>
        </p:blipFill>
        <p:spPr>
          <a:xfrm>
            <a:off x="8460029" y="1891894"/>
            <a:ext cx="285293" cy="285293"/>
          </a:xfrm>
          <a:prstGeom prst="rect">
            <a:avLst/>
          </a:prstGeom>
        </p:spPr>
      </p:pic>
      <p:sp>
        <p:nvSpPr>
          <p:cNvPr id="18" name="Text 13"/>
          <p:cNvSpPr txBox="1"/>
          <p:nvPr/>
        </p:nvSpPr>
        <p:spPr>
          <a:xfrm>
            <a:off x="9082735" y="1737360"/>
            <a:ext cx="2377440" cy="594360"/>
          </a:xfrm>
          <a:prstGeom prst="rect">
            <a:avLst/>
          </a:prstGeom>
          <a:noFill/>
          <a:ln/>
        </p:spPr>
        <p:txBody>
          <a:bodyPr wrap="square" lIns="0" tIns="0" rIns="0" bIns="0" rtlCol="0" anchor="ctr"/>
          <a:lstStyle/>
          <a:p>
            <a:pPr marL="0" indent="0">
              <a:buNone/>
            </a:pPr>
            <a:r>
              <a:rPr lang="en-US" sz="2000" b="1" dirty="0">
                <a:solidFill>
                  <a:schemeClr val="tx1"/>
                </a:solidFill>
              </a:rPr>
              <a:t>Packaging</a:t>
            </a:r>
            <a:endParaRPr lang="en-US" sz="2000" dirty="0"/>
          </a:p>
        </p:txBody>
      </p:sp>
      <p:sp>
        <p:nvSpPr>
          <p:cNvPr id="19" name="Text 14"/>
          <p:cNvSpPr txBox="1"/>
          <p:nvPr/>
        </p:nvSpPr>
        <p:spPr>
          <a:xfrm>
            <a:off x="8305495" y="2514600"/>
            <a:ext cx="3108960" cy="502920"/>
          </a:xfrm>
          <a:prstGeom prst="rect">
            <a:avLst/>
          </a:prstGeom>
          <a:noFill/>
          <a:ln/>
        </p:spPr>
        <p:txBody>
          <a:bodyPr wrap="square" lIns="0" tIns="0" rIns="0" bIns="0" rtlCol="0" anchor="t"/>
          <a:lstStyle/>
          <a:p>
            <a:pPr marL="0" indent="0">
              <a:buNone/>
            </a:pPr>
            <a:r>
              <a:rPr lang="en-US" sz="1500" b="1" dirty="0">
                <a:solidFill>
                  <a:schemeClr val="tx1"/>
                </a:solidFill>
              </a:rPr>
              <a:t>Examples: </a:t>
            </a:r>
            <a:r>
              <a:rPr lang="en-US" sz="1500" dirty="0">
                <a:solidFill>
                  <a:schemeClr val="tx1"/>
                </a:solidFill>
              </a:rPr>
              <a:t>Boxes, labels, bottles</a:t>
            </a:r>
            <a:endParaRPr lang="en-US" sz="1500" dirty="0"/>
          </a:p>
        </p:txBody>
      </p:sp>
      <p:sp>
        <p:nvSpPr>
          <p:cNvPr id="20" name="Text 15"/>
          <p:cNvSpPr txBox="1"/>
          <p:nvPr/>
        </p:nvSpPr>
        <p:spPr>
          <a:xfrm>
            <a:off x="8305495" y="3063240"/>
            <a:ext cx="3108960" cy="548640"/>
          </a:xfrm>
          <a:prstGeom prst="rect">
            <a:avLst/>
          </a:prstGeom>
          <a:noFill/>
          <a:ln/>
        </p:spPr>
        <p:txBody>
          <a:bodyPr wrap="square" lIns="0" tIns="0" rIns="0" bIns="0" rtlCol="0" anchor="t"/>
          <a:lstStyle/>
          <a:p>
            <a:pPr marL="0" indent="0">
              <a:buNone/>
            </a:pPr>
            <a:r>
              <a:rPr lang="en-US" sz="1500" b="1" dirty="0">
                <a:solidFill>
                  <a:schemeClr val="accent4"/>
                </a:solidFill>
              </a:rPr>
              <a:t>Key concern: </a:t>
            </a:r>
            <a:r>
              <a:rPr lang="en-US" sz="1500" dirty="0">
                <a:solidFill>
                  <a:schemeClr val="accent4"/>
                </a:solidFill>
              </a:rPr>
              <a:t>Shelf impact, 3D form, regulations</a:t>
            </a:r>
            <a:endParaRPr lang="en-US" sz="1500" dirty="0"/>
          </a:p>
        </p:txBody>
      </p:sp>
      <p:sp>
        <p:nvSpPr>
          <p:cNvPr id="21" name="Context card Environmental"/>
          <p:cNvSpPr/>
          <p:nvPr/>
        </p:nvSpPr>
        <p:spPr>
          <a:xfrm>
            <a:off x="548640" y="3886200"/>
            <a:ext cx="3566160" cy="2194560"/>
          </a:xfrm>
          <a:prstGeom prst="rect">
            <a:avLst/>
          </a:prstGeom>
          <a:solidFill>
            <a:schemeClr val="bg2"/>
          </a:solidFill>
          <a:ln/>
        </p:spPr>
        <p:txBody>
          <a:bodyPr/>
          <a:lstStyle/>
          <a:p>
            <a:endParaRPr lang="en-US"/>
          </a:p>
        </p:txBody>
      </p:sp>
      <p:sp>
        <p:nvSpPr>
          <p:cNvPr id="22" name="Icon circle Environmental"/>
          <p:cNvSpPr/>
          <p:nvPr/>
        </p:nvSpPr>
        <p:spPr>
          <a:xfrm>
            <a:off x="777240" y="4114800"/>
            <a:ext cx="594360" cy="594360"/>
          </a:xfrm>
          <a:prstGeom prst="ellipse">
            <a:avLst/>
          </a:prstGeom>
          <a:solidFill>
            <a:schemeClr val="accent1"/>
          </a:solidFill>
          <a:ln/>
        </p:spPr>
        <p:txBody>
          <a:bodyPr/>
          <a:lstStyle/>
          <a:p>
            <a:endParaRPr lang="en-US"/>
          </a:p>
        </p:txBody>
      </p:sp>
      <p:pic>
        <p:nvPicPr>
          <p:cNvPr id="23" name="Icon Environmental" descr="Environmental icon"/>
          <p:cNvPicPr>
            <a:picLocks noChangeAspect="1"/>
          </p:cNvPicPr>
          <p:nvPr/>
        </p:nvPicPr>
        <p:blipFill>
          <a:blip r:embed="rId6"/>
          <a:stretch>
            <a:fillRect/>
          </a:stretch>
        </p:blipFill>
        <p:spPr>
          <a:xfrm>
            <a:off x="931774" y="4269334"/>
            <a:ext cx="285293" cy="285293"/>
          </a:xfrm>
          <a:prstGeom prst="rect">
            <a:avLst/>
          </a:prstGeom>
        </p:spPr>
      </p:pic>
      <p:sp>
        <p:nvSpPr>
          <p:cNvPr id="24" name="Text 18"/>
          <p:cNvSpPr txBox="1"/>
          <p:nvPr/>
        </p:nvSpPr>
        <p:spPr>
          <a:xfrm>
            <a:off x="1554480" y="4114800"/>
            <a:ext cx="2377440" cy="594360"/>
          </a:xfrm>
          <a:prstGeom prst="rect">
            <a:avLst/>
          </a:prstGeom>
          <a:noFill/>
          <a:ln/>
        </p:spPr>
        <p:txBody>
          <a:bodyPr wrap="square" lIns="0" tIns="0" rIns="0" bIns="0" rtlCol="0" anchor="ctr"/>
          <a:lstStyle/>
          <a:p>
            <a:pPr marL="0" indent="0">
              <a:buNone/>
            </a:pPr>
            <a:r>
              <a:rPr lang="en-US" sz="2000" b="1" dirty="0">
                <a:solidFill>
                  <a:schemeClr val="tx1"/>
                </a:solidFill>
              </a:rPr>
              <a:t>Environmental</a:t>
            </a:r>
            <a:endParaRPr lang="en-US" sz="2000" dirty="0"/>
          </a:p>
        </p:txBody>
      </p:sp>
      <p:sp>
        <p:nvSpPr>
          <p:cNvPr id="25" name="Text 19"/>
          <p:cNvSpPr txBox="1"/>
          <p:nvPr/>
        </p:nvSpPr>
        <p:spPr>
          <a:xfrm>
            <a:off x="777240" y="4892040"/>
            <a:ext cx="3108960" cy="502920"/>
          </a:xfrm>
          <a:prstGeom prst="rect">
            <a:avLst/>
          </a:prstGeom>
          <a:noFill/>
          <a:ln/>
        </p:spPr>
        <p:txBody>
          <a:bodyPr wrap="square" lIns="0" tIns="0" rIns="0" bIns="0" rtlCol="0" anchor="t"/>
          <a:lstStyle/>
          <a:p>
            <a:pPr marL="0" indent="0">
              <a:buNone/>
            </a:pPr>
            <a:r>
              <a:rPr lang="en-US" sz="1500" b="1" dirty="0">
                <a:solidFill>
                  <a:schemeClr val="tx1"/>
                </a:solidFill>
              </a:rPr>
              <a:t>Examples: </a:t>
            </a:r>
            <a:r>
              <a:rPr lang="en-US" sz="1500" dirty="0">
                <a:solidFill>
                  <a:schemeClr val="tx1"/>
                </a:solidFill>
              </a:rPr>
              <a:t>Signs, wayfinding, exhibitions</a:t>
            </a:r>
            <a:endParaRPr lang="en-US" sz="1500" dirty="0"/>
          </a:p>
        </p:txBody>
      </p:sp>
      <p:sp>
        <p:nvSpPr>
          <p:cNvPr id="26" name="Text 20"/>
          <p:cNvSpPr txBox="1"/>
          <p:nvPr/>
        </p:nvSpPr>
        <p:spPr>
          <a:xfrm>
            <a:off x="777240" y="5440680"/>
            <a:ext cx="3108960" cy="548640"/>
          </a:xfrm>
          <a:prstGeom prst="rect">
            <a:avLst/>
          </a:prstGeom>
          <a:noFill/>
          <a:ln/>
        </p:spPr>
        <p:txBody>
          <a:bodyPr wrap="square" lIns="0" tIns="0" rIns="0" bIns="0" rtlCol="0" anchor="t"/>
          <a:lstStyle/>
          <a:p>
            <a:pPr marL="0" indent="0">
              <a:buNone/>
            </a:pPr>
            <a:r>
              <a:rPr lang="en-US" sz="1500" b="1" dirty="0">
                <a:solidFill>
                  <a:schemeClr val="accent4"/>
                </a:solidFill>
              </a:rPr>
              <a:t>Key concern: </a:t>
            </a:r>
            <a:r>
              <a:rPr lang="en-US" sz="1500" dirty="0">
                <a:solidFill>
                  <a:schemeClr val="accent4"/>
                </a:solidFill>
              </a:rPr>
              <a:t>Distance, legibility, materials</a:t>
            </a:r>
            <a:endParaRPr lang="en-US" sz="1500" dirty="0"/>
          </a:p>
        </p:txBody>
      </p:sp>
      <p:sp>
        <p:nvSpPr>
          <p:cNvPr id="27" name="Context card Motion"/>
          <p:cNvSpPr/>
          <p:nvPr/>
        </p:nvSpPr>
        <p:spPr>
          <a:xfrm>
            <a:off x="4312768" y="3886200"/>
            <a:ext cx="3566160" cy="2194560"/>
          </a:xfrm>
          <a:prstGeom prst="rect">
            <a:avLst/>
          </a:prstGeom>
          <a:solidFill>
            <a:schemeClr val="bg2"/>
          </a:solidFill>
          <a:ln/>
        </p:spPr>
        <p:txBody>
          <a:bodyPr/>
          <a:lstStyle/>
          <a:p>
            <a:endParaRPr lang="en-US"/>
          </a:p>
        </p:txBody>
      </p:sp>
      <p:sp>
        <p:nvSpPr>
          <p:cNvPr id="28" name="Icon circle Motion"/>
          <p:cNvSpPr/>
          <p:nvPr/>
        </p:nvSpPr>
        <p:spPr>
          <a:xfrm>
            <a:off x="4541368" y="4114800"/>
            <a:ext cx="594360" cy="594360"/>
          </a:xfrm>
          <a:prstGeom prst="ellipse">
            <a:avLst/>
          </a:prstGeom>
          <a:solidFill>
            <a:schemeClr val="accent2"/>
          </a:solidFill>
          <a:ln/>
        </p:spPr>
        <p:txBody>
          <a:bodyPr/>
          <a:lstStyle/>
          <a:p>
            <a:endParaRPr lang="en-US"/>
          </a:p>
        </p:txBody>
      </p:sp>
      <p:pic>
        <p:nvPicPr>
          <p:cNvPr id="29" name="Icon Motion" descr="Motion icon"/>
          <p:cNvPicPr>
            <a:picLocks noChangeAspect="1"/>
          </p:cNvPicPr>
          <p:nvPr/>
        </p:nvPicPr>
        <p:blipFill>
          <a:blip r:embed="rId7"/>
          <a:stretch>
            <a:fillRect/>
          </a:stretch>
        </p:blipFill>
        <p:spPr>
          <a:xfrm>
            <a:off x="4695901" y="4269334"/>
            <a:ext cx="285293" cy="285293"/>
          </a:xfrm>
          <a:prstGeom prst="rect">
            <a:avLst/>
          </a:prstGeom>
        </p:spPr>
      </p:pic>
      <p:sp>
        <p:nvSpPr>
          <p:cNvPr id="30" name="Text 23"/>
          <p:cNvSpPr txBox="1"/>
          <p:nvPr/>
        </p:nvSpPr>
        <p:spPr>
          <a:xfrm>
            <a:off x="5318608" y="4114800"/>
            <a:ext cx="2377440" cy="594360"/>
          </a:xfrm>
          <a:prstGeom prst="rect">
            <a:avLst/>
          </a:prstGeom>
          <a:noFill/>
          <a:ln/>
        </p:spPr>
        <p:txBody>
          <a:bodyPr wrap="square" lIns="0" tIns="0" rIns="0" bIns="0" rtlCol="0" anchor="ctr"/>
          <a:lstStyle/>
          <a:p>
            <a:pPr marL="0" indent="0">
              <a:buNone/>
            </a:pPr>
            <a:r>
              <a:rPr lang="en-US" sz="2000" b="1" dirty="0">
                <a:solidFill>
                  <a:schemeClr val="tx1"/>
                </a:solidFill>
              </a:rPr>
              <a:t>Motion</a:t>
            </a:r>
            <a:endParaRPr lang="en-US" sz="2000" dirty="0"/>
          </a:p>
        </p:txBody>
      </p:sp>
      <p:sp>
        <p:nvSpPr>
          <p:cNvPr id="31" name="Text 24"/>
          <p:cNvSpPr txBox="1"/>
          <p:nvPr/>
        </p:nvSpPr>
        <p:spPr>
          <a:xfrm>
            <a:off x="4541368" y="4892040"/>
            <a:ext cx="3108960" cy="502920"/>
          </a:xfrm>
          <a:prstGeom prst="rect">
            <a:avLst/>
          </a:prstGeom>
          <a:noFill/>
          <a:ln/>
        </p:spPr>
        <p:txBody>
          <a:bodyPr wrap="square" lIns="0" tIns="0" rIns="0" bIns="0" rtlCol="0" anchor="t"/>
          <a:lstStyle/>
          <a:p>
            <a:pPr marL="0" indent="0">
              <a:buNone/>
            </a:pPr>
            <a:r>
              <a:rPr lang="en-US" sz="1500" b="1" dirty="0">
                <a:solidFill>
                  <a:schemeClr val="tx1"/>
                </a:solidFill>
              </a:rPr>
              <a:t>Examples: </a:t>
            </a:r>
            <a:r>
              <a:rPr lang="en-US" sz="1500" dirty="0">
                <a:solidFill>
                  <a:schemeClr val="tx1"/>
                </a:solidFill>
              </a:rPr>
              <a:t>Titles, explainers, ads</a:t>
            </a:r>
            <a:endParaRPr lang="en-US" sz="1500" dirty="0"/>
          </a:p>
        </p:txBody>
      </p:sp>
      <p:sp>
        <p:nvSpPr>
          <p:cNvPr id="32" name="Text 25"/>
          <p:cNvSpPr txBox="1"/>
          <p:nvPr/>
        </p:nvSpPr>
        <p:spPr>
          <a:xfrm>
            <a:off x="4541368" y="5440680"/>
            <a:ext cx="3108960" cy="548640"/>
          </a:xfrm>
          <a:prstGeom prst="rect">
            <a:avLst/>
          </a:prstGeom>
          <a:noFill/>
          <a:ln/>
        </p:spPr>
        <p:txBody>
          <a:bodyPr wrap="square" lIns="0" tIns="0" rIns="0" bIns="0" rtlCol="0" anchor="t"/>
          <a:lstStyle/>
          <a:p>
            <a:pPr marL="0" indent="0">
              <a:buNone/>
            </a:pPr>
            <a:r>
              <a:rPr lang="en-US" sz="1500" b="1" dirty="0">
                <a:solidFill>
                  <a:schemeClr val="accent4"/>
                </a:solidFill>
              </a:rPr>
              <a:t>Key concern: </a:t>
            </a:r>
            <a:r>
              <a:rPr lang="en-US" sz="1500" dirty="0">
                <a:solidFill>
                  <a:schemeClr val="accent4"/>
                </a:solidFill>
              </a:rPr>
              <a:t>Timing, pacing, sound</a:t>
            </a:r>
            <a:endParaRPr lang="en-US" sz="1500" dirty="0"/>
          </a:p>
        </p:txBody>
      </p:sp>
      <p:sp>
        <p:nvSpPr>
          <p:cNvPr id="33" name="Context card Brand identity"/>
          <p:cNvSpPr/>
          <p:nvPr/>
        </p:nvSpPr>
        <p:spPr>
          <a:xfrm>
            <a:off x="8076895" y="3886200"/>
            <a:ext cx="3566160" cy="2194560"/>
          </a:xfrm>
          <a:prstGeom prst="rect">
            <a:avLst/>
          </a:prstGeom>
          <a:solidFill>
            <a:schemeClr val="bg2"/>
          </a:solidFill>
          <a:ln/>
        </p:spPr>
        <p:txBody>
          <a:bodyPr/>
          <a:lstStyle/>
          <a:p>
            <a:endParaRPr lang="en-US"/>
          </a:p>
        </p:txBody>
      </p:sp>
      <p:sp>
        <p:nvSpPr>
          <p:cNvPr id="34" name="Icon circle Brand identity"/>
          <p:cNvSpPr/>
          <p:nvPr/>
        </p:nvSpPr>
        <p:spPr>
          <a:xfrm>
            <a:off x="8305495" y="4114800"/>
            <a:ext cx="594360" cy="594360"/>
          </a:xfrm>
          <a:prstGeom prst="ellipse">
            <a:avLst/>
          </a:prstGeom>
          <a:solidFill>
            <a:schemeClr val="accent3"/>
          </a:solidFill>
          <a:ln/>
        </p:spPr>
        <p:txBody>
          <a:bodyPr/>
          <a:lstStyle/>
          <a:p>
            <a:endParaRPr lang="en-US"/>
          </a:p>
        </p:txBody>
      </p:sp>
      <p:pic>
        <p:nvPicPr>
          <p:cNvPr id="35" name="Icon Brand identity" descr="Brand identity icon"/>
          <p:cNvPicPr>
            <a:picLocks noChangeAspect="1"/>
          </p:cNvPicPr>
          <p:nvPr/>
        </p:nvPicPr>
        <p:blipFill>
          <a:blip r:embed="rId8"/>
          <a:stretch>
            <a:fillRect/>
          </a:stretch>
        </p:blipFill>
        <p:spPr>
          <a:xfrm>
            <a:off x="8460029" y="4269334"/>
            <a:ext cx="285293" cy="285293"/>
          </a:xfrm>
          <a:prstGeom prst="rect">
            <a:avLst/>
          </a:prstGeom>
        </p:spPr>
      </p:pic>
      <p:sp>
        <p:nvSpPr>
          <p:cNvPr id="36" name="Text 28"/>
          <p:cNvSpPr txBox="1"/>
          <p:nvPr/>
        </p:nvSpPr>
        <p:spPr>
          <a:xfrm>
            <a:off x="9082735" y="4114800"/>
            <a:ext cx="2377440" cy="594360"/>
          </a:xfrm>
          <a:prstGeom prst="rect">
            <a:avLst/>
          </a:prstGeom>
          <a:noFill/>
          <a:ln/>
        </p:spPr>
        <p:txBody>
          <a:bodyPr wrap="square" lIns="0" tIns="0" rIns="0" bIns="0" rtlCol="0" anchor="ctr"/>
          <a:lstStyle/>
          <a:p>
            <a:pPr marL="0" indent="0">
              <a:buNone/>
            </a:pPr>
            <a:r>
              <a:rPr lang="en-US" sz="2000" b="1" dirty="0">
                <a:solidFill>
                  <a:schemeClr val="tx1"/>
                </a:solidFill>
              </a:rPr>
              <a:t>Brand identity</a:t>
            </a:r>
            <a:endParaRPr lang="en-US" sz="2000" dirty="0"/>
          </a:p>
        </p:txBody>
      </p:sp>
      <p:sp>
        <p:nvSpPr>
          <p:cNvPr id="37" name="Text 29"/>
          <p:cNvSpPr txBox="1"/>
          <p:nvPr/>
        </p:nvSpPr>
        <p:spPr>
          <a:xfrm>
            <a:off x="8305495" y="4892040"/>
            <a:ext cx="3108960" cy="502920"/>
          </a:xfrm>
          <a:prstGeom prst="rect">
            <a:avLst/>
          </a:prstGeom>
          <a:noFill/>
          <a:ln/>
        </p:spPr>
        <p:txBody>
          <a:bodyPr wrap="square" lIns="0" tIns="0" rIns="0" bIns="0" rtlCol="0" anchor="t"/>
          <a:lstStyle/>
          <a:p>
            <a:pPr marL="0" indent="0">
              <a:buNone/>
            </a:pPr>
            <a:r>
              <a:rPr lang="en-US" sz="1500" b="1" dirty="0">
                <a:solidFill>
                  <a:schemeClr val="tx1"/>
                </a:solidFill>
              </a:rPr>
              <a:t>Examples: </a:t>
            </a:r>
            <a:r>
              <a:rPr lang="en-US" sz="1500" dirty="0">
                <a:solidFill>
                  <a:schemeClr val="tx1"/>
                </a:solidFill>
              </a:rPr>
              <a:t>Logos, guidelines, systems</a:t>
            </a:r>
            <a:endParaRPr lang="en-US" sz="1500" dirty="0"/>
          </a:p>
        </p:txBody>
      </p:sp>
      <p:sp>
        <p:nvSpPr>
          <p:cNvPr id="38" name="Text 30"/>
          <p:cNvSpPr txBox="1"/>
          <p:nvPr/>
        </p:nvSpPr>
        <p:spPr>
          <a:xfrm>
            <a:off x="8305495" y="5440680"/>
            <a:ext cx="3108960" cy="548640"/>
          </a:xfrm>
          <a:prstGeom prst="rect">
            <a:avLst/>
          </a:prstGeom>
          <a:noFill/>
          <a:ln/>
        </p:spPr>
        <p:txBody>
          <a:bodyPr wrap="square" lIns="0" tIns="0" rIns="0" bIns="0" rtlCol="0" anchor="t"/>
          <a:lstStyle/>
          <a:p>
            <a:pPr marL="0" indent="0">
              <a:buNone/>
            </a:pPr>
            <a:r>
              <a:rPr lang="en-US" sz="1500" b="1" dirty="0">
                <a:solidFill>
                  <a:schemeClr val="accent4"/>
                </a:solidFill>
              </a:rPr>
              <a:t>Key concern: </a:t>
            </a:r>
            <a:r>
              <a:rPr lang="en-US" sz="1500" dirty="0">
                <a:solidFill>
                  <a:schemeClr val="accent4"/>
                </a:solidFill>
              </a:rPr>
              <a:t>Consistency and flexibility</a:t>
            </a:r>
            <a:endParaRPr lang="en-US" sz="1500" dirty="0"/>
          </a:p>
        </p:txBody>
      </p:sp>
      <p:sp>
        <p:nvSpPr>
          <p:cNvPr id="39"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Print and screen: key differences</a:t>
            </a:r>
            <a:endParaRPr lang="en-US" sz="3600" dirty="0"/>
          </a:p>
        </p:txBody>
      </p:sp>
      <p:graphicFrame>
        <p:nvGraphicFramePr>
          <p:cNvPr id="20" name="Print vs screen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28600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419295">
                  <a:extLst>
                    <a:ext uri="{9D8B030D-6E8A-4147-A177-3AD203B41FA5}">
                      <a16:colId xmlns:a16="http://schemas.microsoft.com/office/drawing/2014/main" val="20002"/>
                    </a:ext>
                  </a:extLst>
                </a:gridCol>
              </a:tblGrid>
              <a:tr h="548640">
                <a:tc>
                  <a:txBody>
                    <a:bodyPr/>
                    <a:lstStyle/>
                    <a:p>
                      <a:pPr marL="0" indent="0">
                        <a:buNone/>
                      </a:pPr>
                      <a:endParaRPr lang="en-US" sz="16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Print</a:t>
                      </a:r>
                      <a:endParaRPr lang="en-US" sz="16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accent2"/>
                    </a:solidFill>
                  </a:tcPr>
                </a:tc>
                <a:tc>
                  <a:txBody>
                    <a:bodyPr/>
                    <a:lstStyle/>
                    <a:p>
                      <a:pPr marL="0" indent="0">
                        <a:buNone/>
                      </a:pPr>
                      <a:r>
                        <a:rPr lang="en-US" sz="1600" b="1" dirty="0">
                          <a:solidFill>
                            <a:schemeClr val="bg1"/>
                          </a:solidFill>
                        </a:rPr>
                        <a:t>Screen</a:t>
                      </a:r>
                      <a:endParaRPr lang="en-US" sz="16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58368">
                <a:tc>
                  <a:txBody>
                    <a:bodyPr/>
                    <a:lstStyle/>
                    <a:p>
                      <a:pPr marL="0" indent="0">
                        <a:buNone/>
                      </a:pPr>
                      <a:r>
                        <a:rPr lang="en-US" sz="1500" b="1" dirty="0">
                          <a:solidFill>
                            <a:schemeClr val="tx1"/>
                          </a:solidFill>
                        </a:rPr>
                        <a:t>Color model</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CMYK: mixing ink on paper</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RGB: mixing light on a display</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58368">
                <a:tc>
                  <a:txBody>
                    <a:bodyPr/>
                    <a:lstStyle/>
                    <a:p>
                      <a:pPr marL="0" indent="0">
                        <a:buNone/>
                      </a:pPr>
                      <a:r>
                        <a:rPr lang="en-US" sz="1500" b="1" dirty="0">
                          <a:solidFill>
                            <a:schemeClr val="tx1"/>
                          </a:solidFill>
                        </a:rPr>
                        <a:t>Image resolution</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Fixed; about 300 ppi is typical</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Varies by device; plan for several densities</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58368">
                <a:tc>
                  <a:txBody>
                    <a:bodyPr/>
                    <a:lstStyle/>
                    <a:p>
                      <a:pPr marL="0" indent="0">
                        <a:buNone/>
                      </a:pPr>
                      <a:r>
                        <a:rPr lang="en-US" sz="1500" b="1" dirty="0">
                          <a:solidFill>
                            <a:schemeClr val="tx1"/>
                          </a:solidFill>
                        </a:rPr>
                        <a:t>Size</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Fixed physical size, such as A4 or A1</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Flexible; adapts to many screen sizes</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58368">
                <a:tc>
                  <a:txBody>
                    <a:bodyPr/>
                    <a:lstStyle/>
                    <a:p>
                      <a:pPr marL="0" indent="0">
                        <a:buNone/>
                      </a:pPr>
                      <a:r>
                        <a:rPr lang="en-US" sz="1500" b="1" dirty="0">
                          <a:solidFill>
                            <a:schemeClr val="tx1"/>
                          </a:solidFill>
                        </a:rPr>
                        <a:t>Interaction</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Static; touched and held</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Interactive; scroll, tap, animate</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58368">
                <a:tc>
                  <a:txBody>
                    <a:bodyPr/>
                    <a:lstStyle/>
                    <a:p>
                      <a:pPr marL="0" indent="0">
                        <a:buNone/>
                      </a:pPr>
                      <a:r>
                        <a:rPr lang="en-US" sz="1500" b="1" dirty="0">
                          <a:solidFill>
                            <a:schemeClr val="tx1"/>
                          </a:solidFill>
                        </a:rPr>
                        <a:t>Final files</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PDF with bleed and crop marks</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PNG, JPG, SVG, WEBP or HTML and CSS</a:t>
                      </a:r>
                      <a:endParaRPr lang="en-US" sz="1500" dirty="0"/>
                    </a:p>
                  </a:txBody>
                  <a:tcPr marL="152400" marR="152400" marT="50800" marB="50800" anchor="ctr">
                    <a:lnL w="12700" cap="flat" cmpd="sng" algn="ctr">
                      <a:solidFill>
                        <a:srgbClr val="D5D8DF"/>
                      </a:solidFill>
                      <a:prstDash val="solid"/>
                      <a:round/>
                      <a:headEnd type="none" w="med" len="med"/>
                      <a:tailEnd type="none" w="med" len="med"/>
                    </a:lnL>
                    <a:lnR w="12700" cap="flat" cmpd="sng" algn="ctr">
                      <a:solidFill>
                        <a:srgbClr val="D5D8DF"/>
                      </a:solidFill>
                      <a:prstDash val="solid"/>
                      <a:round/>
                      <a:headEnd type="none" w="med" len="med"/>
                      <a:tailEnd type="none" w="med" len="med"/>
                    </a:lnR>
                    <a:lnT w="12700" cap="flat" cmpd="sng" algn="ctr">
                      <a:solidFill>
                        <a:srgbClr val="D5D8DF"/>
                      </a:solidFill>
                      <a:prstDash val="solid"/>
                      <a:round/>
                      <a:headEnd type="none" w="med" len="med"/>
                      <a:tailEnd type="none" w="med" len="med"/>
                    </a:lnT>
                    <a:lnB w="12700" cap="flat" cmpd="sng" algn="ctr">
                      <a:solidFill>
                        <a:srgbClr val="D5D8D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4" name="Tip panel"/>
          <p:cNvSpPr/>
          <p:nvPr/>
        </p:nvSpPr>
        <p:spPr>
          <a:xfrm>
            <a:off x="548640" y="5532120"/>
            <a:ext cx="11094415" cy="640080"/>
          </a:xfrm>
          <a:prstGeom prst="rect">
            <a:avLst/>
          </a:prstGeom>
          <a:solidFill>
            <a:schemeClr val="bg2"/>
          </a:solidFill>
          <a:ln/>
        </p:spPr>
        <p:txBody>
          <a:bodyPr/>
          <a:lstStyle/>
          <a:p>
            <a:endParaRPr lang="en-US"/>
          </a:p>
        </p:txBody>
      </p:sp>
      <p:sp>
        <p:nvSpPr>
          <p:cNvPr id="5" name="Tip marker"/>
          <p:cNvSpPr/>
          <p:nvPr/>
        </p:nvSpPr>
        <p:spPr>
          <a:xfrm>
            <a:off x="777240" y="5646420"/>
            <a:ext cx="411480" cy="411480"/>
          </a:xfrm>
          <a:prstGeom prst="ellipse">
            <a:avLst/>
          </a:prstGeom>
          <a:solidFill>
            <a:schemeClr val="accent3"/>
          </a:solidFill>
          <a:ln/>
        </p:spPr>
        <p:txBody>
          <a:bodyPr/>
          <a:lstStyle/>
          <a:p>
            <a:endParaRPr lang="en-US"/>
          </a:p>
        </p:txBody>
      </p:sp>
      <p:sp>
        <p:nvSpPr>
          <p:cNvPr id="6" name="Text 3"/>
          <p:cNvSpPr txBox="1"/>
          <p:nvPr/>
        </p:nvSpPr>
        <p:spPr>
          <a:xfrm>
            <a:off x="1417320" y="5532120"/>
            <a:ext cx="9905695" cy="640080"/>
          </a:xfrm>
          <a:prstGeom prst="rect">
            <a:avLst/>
          </a:prstGeom>
          <a:noFill/>
          <a:ln/>
        </p:spPr>
        <p:txBody>
          <a:bodyPr wrap="square" lIns="0" tIns="0" rIns="0" bIns="0" rtlCol="0" anchor="ctr"/>
          <a:lstStyle/>
          <a:p>
            <a:pPr marL="0" indent="0">
              <a:buNone/>
            </a:pPr>
            <a:r>
              <a:rPr lang="en-US" sz="1700" dirty="0">
                <a:solidFill>
                  <a:schemeClr val="tx1"/>
                </a:solidFill>
              </a:rPr>
              <a:t>Tip: ask for the final output first. It decides color mode, size and file format.</a:t>
            </a:r>
            <a:endParaRPr lang="en-US" sz="1700" dirty="0"/>
          </a:p>
        </p:txBody>
      </p:sp>
      <p:sp>
        <p:nvSpPr>
          <p:cNvPr id="25"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One message, three contexts</a:t>
            </a:r>
            <a:endParaRPr lang="en-US" sz="3600" dirty="0"/>
          </a:p>
        </p:txBody>
      </p:sp>
      <p:sp>
        <p:nvSpPr>
          <p:cNvPr id="3" name="Context card Billboard"/>
          <p:cNvSpPr/>
          <p:nvPr/>
        </p:nvSpPr>
        <p:spPr>
          <a:xfrm>
            <a:off x="548640" y="1508760"/>
            <a:ext cx="3566160" cy="4572000"/>
          </a:xfrm>
          <a:prstGeom prst="rect">
            <a:avLst/>
          </a:prstGeom>
          <a:solidFill>
            <a:schemeClr val="bg2"/>
          </a:solidFill>
          <a:ln/>
        </p:spPr>
        <p:txBody>
          <a:bodyPr/>
          <a:lstStyle/>
          <a:p>
            <a:endParaRPr lang="en-US"/>
          </a:p>
        </p:txBody>
      </p:sp>
      <p:sp>
        <p:nvSpPr>
          <p:cNvPr id="4" name="Icon circle Billboard"/>
          <p:cNvSpPr/>
          <p:nvPr/>
        </p:nvSpPr>
        <p:spPr>
          <a:xfrm>
            <a:off x="822960" y="1783080"/>
            <a:ext cx="731520" cy="731520"/>
          </a:xfrm>
          <a:prstGeom prst="ellipse">
            <a:avLst/>
          </a:prstGeom>
          <a:solidFill>
            <a:schemeClr val="accent1"/>
          </a:solidFill>
          <a:ln/>
        </p:spPr>
        <p:txBody>
          <a:bodyPr/>
          <a:lstStyle/>
          <a:p>
            <a:endParaRPr lang="en-US"/>
          </a:p>
        </p:txBody>
      </p:sp>
      <p:pic>
        <p:nvPicPr>
          <p:cNvPr id="5" name="Icon Billboard" descr="Billboard icon"/>
          <p:cNvPicPr>
            <a:picLocks noChangeAspect="1"/>
          </p:cNvPicPr>
          <p:nvPr/>
        </p:nvPicPr>
        <p:blipFill>
          <a:blip r:embed="rId3"/>
          <a:stretch>
            <a:fillRect/>
          </a:stretch>
        </p:blipFill>
        <p:spPr>
          <a:xfrm>
            <a:off x="1013155" y="1973275"/>
            <a:ext cx="351130" cy="351130"/>
          </a:xfrm>
          <a:prstGeom prst="rect">
            <a:avLst/>
          </a:prstGeom>
        </p:spPr>
      </p:pic>
      <p:sp>
        <p:nvSpPr>
          <p:cNvPr id="6" name="Text 3"/>
          <p:cNvSpPr txBox="1"/>
          <p:nvPr/>
        </p:nvSpPr>
        <p:spPr>
          <a:xfrm>
            <a:off x="1737360" y="1783080"/>
            <a:ext cx="2194560" cy="731520"/>
          </a:xfrm>
          <a:prstGeom prst="rect">
            <a:avLst/>
          </a:prstGeom>
          <a:noFill/>
          <a:ln/>
        </p:spPr>
        <p:txBody>
          <a:bodyPr wrap="square" lIns="0" tIns="0" rIns="0" bIns="0" rtlCol="0" anchor="ctr"/>
          <a:lstStyle/>
          <a:p>
            <a:pPr marL="0" indent="0">
              <a:buNone/>
            </a:pPr>
            <a:r>
              <a:rPr lang="en-US" sz="2200" b="1" dirty="0">
                <a:solidFill>
                  <a:schemeClr val="tx1"/>
                </a:solidFill>
              </a:rPr>
              <a:t>Billboard</a:t>
            </a:r>
            <a:endParaRPr lang="en-US" sz="2200" dirty="0"/>
          </a:p>
        </p:txBody>
      </p:sp>
      <p:sp>
        <p:nvSpPr>
          <p:cNvPr id="7" name="Text 4"/>
          <p:cNvSpPr txBox="1"/>
          <p:nvPr/>
        </p:nvSpPr>
        <p:spPr>
          <a:xfrm>
            <a:off x="822960" y="2834640"/>
            <a:ext cx="3017520" cy="274320"/>
          </a:xfrm>
          <a:prstGeom prst="rect">
            <a:avLst/>
          </a:prstGeom>
          <a:noFill/>
          <a:ln/>
        </p:spPr>
        <p:txBody>
          <a:bodyPr wrap="square" lIns="0" tIns="0" rIns="0" bIns="0" rtlCol="0" anchor="t"/>
          <a:lstStyle/>
          <a:p>
            <a:pPr marL="0" indent="0">
              <a:buNone/>
            </a:pPr>
            <a:r>
              <a:rPr lang="en-US" sz="1400" b="1" dirty="0">
                <a:solidFill>
                  <a:schemeClr val="accent1"/>
                </a:solidFill>
              </a:rPr>
              <a:t>Viewing time</a:t>
            </a:r>
            <a:endParaRPr lang="en-US" sz="1400" dirty="0"/>
          </a:p>
        </p:txBody>
      </p:sp>
      <p:sp>
        <p:nvSpPr>
          <p:cNvPr id="8" name="Text 5"/>
          <p:cNvSpPr txBox="1"/>
          <p:nvPr/>
        </p:nvSpPr>
        <p:spPr>
          <a:xfrm>
            <a:off x="822960" y="3127248"/>
            <a:ext cx="3017520" cy="685800"/>
          </a:xfrm>
          <a:prstGeom prst="rect">
            <a:avLst/>
          </a:prstGeom>
          <a:noFill/>
          <a:ln/>
        </p:spPr>
        <p:txBody>
          <a:bodyPr wrap="square" lIns="0" tIns="0" rIns="0" bIns="0" rtlCol="0" anchor="t"/>
          <a:lstStyle/>
          <a:p>
            <a:pPr marL="0" indent="0">
              <a:buNone/>
            </a:pPr>
            <a:r>
              <a:rPr lang="en-US" sz="1600" dirty="0">
                <a:solidFill>
                  <a:schemeClr val="tx1"/>
                </a:solidFill>
              </a:rPr>
              <a:t>A few seconds</a:t>
            </a:r>
            <a:endParaRPr lang="en-US" sz="1600" dirty="0"/>
          </a:p>
        </p:txBody>
      </p:sp>
      <p:sp>
        <p:nvSpPr>
          <p:cNvPr id="9" name="Text 6"/>
          <p:cNvSpPr txBox="1"/>
          <p:nvPr/>
        </p:nvSpPr>
        <p:spPr>
          <a:xfrm>
            <a:off x="822960" y="3886200"/>
            <a:ext cx="3017520" cy="274320"/>
          </a:xfrm>
          <a:prstGeom prst="rect">
            <a:avLst/>
          </a:prstGeom>
          <a:noFill/>
          <a:ln/>
        </p:spPr>
        <p:txBody>
          <a:bodyPr wrap="square" lIns="0" tIns="0" rIns="0" bIns="0" rtlCol="0" anchor="t"/>
          <a:lstStyle/>
          <a:p>
            <a:pPr marL="0" indent="0">
              <a:buNone/>
            </a:pPr>
            <a:r>
              <a:rPr lang="en-US" sz="1400" b="1" dirty="0">
                <a:solidFill>
                  <a:schemeClr val="accent1"/>
                </a:solidFill>
              </a:rPr>
              <a:t>Distance</a:t>
            </a:r>
            <a:endParaRPr lang="en-US" sz="1400" dirty="0"/>
          </a:p>
        </p:txBody>
      </p:sp>
      <p:sp>
        <p:nvSpPr>
          <p:cNvPr id="10" name="Text 7"/>
          <p:cNvSpPr txBox="1"/>
          <p:nvPr/>
        </p:nvSpPr>
        <p:spPr>
          <a:xfrm>
            <a:off x="822960" y="4178808"/>
            <a:ext cx="3017520" cy="685800"/>
          </a:xfrm>
          <a:prstGeom prst="rect">
            <a:avLst/>
          </a:prstGeom>
          <a:noFill/>
          <a:ln/>
        </p:spPr>
        <p:txBody>
          <a:bodyPr wrap="square" lIns="0" tIns="0" rIns="0" bIns="0" rtlCol="0" anchor="t"/>
          <a:lstStyle/>
          <a:p>
            <a:pPr marL="0" indent="0">
              <a:buNone/>
            </a:pPr>
            <a:r>
              <a:rPr lang="en-US" sz="1600" dirty="0">
                <a:solidFill>
                  <a:schemeClr val="tx1"/>
                </a:solidFill>
              </a:rPr>
              <a:t>Far away, often from a moving car</a:t>
            </a:r>
            <a:endParaRPr lang="en-US" sz="1600" dirty="0"/>
          </a:p>
        </p:txBody>
      </p:sp>
      <p:sp>
        <p:nvSpPr>
          <p:cNvPr id="11" name="Text 8"/>
          <p:cNvSpPr txBox="1"/>
          <p:nvPr/>
        </p:nvSpPr>
        <p:spPr>
          <a:xfrm>
            <a:off x="822960" y="4937760"/>
            <a:ext cx="3017520" cy="274320"/>
          </a:xfrm>
          <a:prstGeom prst="rect">
            <a:avLst/>
          </a:prstGeom>
          <a:noFill/>
          <a:ln/>
        </p:spPr>
        <p:txBody>
          <a:bodyPr wrap="square" lIns="0" tIns="0" rIns="0" bIns="0" rtlCol="0" anchor="t"/>
          <a:lstStyle/>
          <a:p>
            <a:pPr marL="0" indent="0">
              <a:buNone/>
            </a:pPr>
            <a:r>
              <a:rPr lang="en-US" sz="1400" b="1" dirty="0">
                <a:solidFill>
                  <a:schemeClr val="accent1"/>
                </a:solidFill>
              </a:rPr>
              <a:t>Design response</a:t>
            </a:r>
            <a:endParaRPr lang="en-US" sz="1400" dirty="0"/>
          </a:p>
        </p:txBody>
      </p:sp>
      <p:sp>
        <p:nvSpPr>
          <p:cNvPr id="12" name="Text 9"/>
          <p:cNvSpPr txBox="1"/>
          <p:nvPr/>
        </p:nvSpPr>
        <p:spPr>
          <a:xfrm>
            <a:off x="822960" y="5230368"/>
            <a:ext cx="3017520" cy="685800"/>
          </a:xfrm>
          <a:prstGeom prst="rect">
            <a:avLst/>
          </a:prstGeom>
          <a:noFill/>
          <a:ln/>
        </p:spPr>
        <p:txBody>
          <a:bodyPr wrap="square" lIns="0" tIns="0" rIns="0" bIns="0" rtlCol="0" anchor="t"/>
          <a:lstStyle/>
          <a:p>
            <a:pPr marL="0" indent="0">
              <a:buNone/>
            </a:pPr>
            <a:r>
              <a:rPr lang="en-US" sz="1600" dirty="0">
                <a:solidFill>
                  <a:schemeClr val="tx1"/>
                </a:solidFill>
              </a:rPr>
              <a:t>One image, a few words, huge type, strong contrast</a:t>
            </a:r>
            <a:endParaRPr lang="en-US" sz="1600" dirty="0"/>
          </a:p>
        </p:txBody>
      </p:sp>
      <p:sp>
        <p:nvSpPr>
          <p:cNvPr id="13" name="Context card Social feed post"/>
          <p:cNvSpPr/>
          <p:nvPr/>
        </p:nvSpPr>
        <p:spPr>
          <a:xfrm>
            <a:off x="4312768" y="1508760"/>
            <a:ext cx="3566160" cy="4572000"/>
          </a:xfrm>
          <a:prstGeom prst="rect">
            <a:avLst/>
          </a:prstGeom>
          <a:solidFill>
            <a:schemeClr val="bg2"/>
          </a:solidFill>
          <a:ln/>
        </p:spPr>
        <p:txBody>
          <a:bodyPr/>
          <a:lstStyle/>
          <a:p>
            <a:endParaRPr lang="en-US"/>
          </a:p>
        </p:txBody>
      </p:sp>
      <p:sp>
        <p:nvSpPr>
          <p:cNvPr id="14" name="Icon circle Social feed post"/>
          <p:cNvSpPr/>
          <p:nvPr/>
        </p:nvSpPr>
        <p:spPr>
          <a:xfrm>
            <a:off x="4587088" y="1783080"/>
            <a:ext cx="731520" cy="731520"/>
          </a:xfrm>
          <a:prstGeom prst="ellipse">
            <a:avLst/>
          </a:prstGeom>
          <a:solidFill>
            <a:schemeClr val="accent2"/>
          </a:solidFill>
          <a:ln/>
        </p:spPr>
        <p:txBody>
          <a:bodyPr/>
          <a:lstStyle/>
          <a:p>
            <a:endParaRPr lang="en-US"/>
          </a:p>
        </p:txBody>
      </p:sp>
      <p:pic>
        <p:nvPicPr>
          <p:cNvPr id="15" name="Icon Social feed post" descr="Social feed post icon"/>
          <p:cNvPicPr>
            <a:picLocks noChangeAspect="1"/>
          </p:cNvPicPr>
          <p:nvPr/>
        </p:nvPicPr>
        <p:blipFill>
          <a:blip r:embed="rId4"/>
          <a:stretch>
            <a:fillRect/>
          </a:stretch>
        </p:blipFill>
        <p:spPr>
          <a:xfrm>
            <a:off x="4777283" y="1973275"/>
            <a:ext cx="351130" cy="351130"/>
          </a:xfrm>
          <a:prstGeom prst="rect">
            <a:avLst/>
          </a:prstGeom>
        </p:spPr>
      </p:pic>
      <p:sp>
        <p:nvSpPr>
          <p:cNvPr id="16" name="Text 12"/>
          <p:cNvSpPr txBox="1"/>
          <p:nvPr/>
        </p:nvSpPr>
        <p:spPr>
          <a:xfrm>
            <a:off x="5501488" y="1783080"/>
            <a:ext cx="2194560" cy="731520"/>
          </a:xfrm>
          <a:prstGeom prst="rect">
            <a:avLst/>
          </a:prstGeom>
          <a:noFill/>
          <a:ln/>
        </p:spPr>
        <p:txBody>
          <a:bodyPr wrap="square" lIns="0" tIns="0" rIns="0" bIns="0" rtlCol="0" anchor="ctr"/>
          <a:lstStyle/>
          <a:p>
            <a:pPr marL="0" indent="0">
              <a:buNone/>
            </a:pPr>
            <a:r>
              <a:rPr lang="en-US" sz="2200" b="1" dirty="0">
                <a:solidFill>
                  <a:schemeClr val="tx1"/>
                </a:solidFill>
              </a:rPr>
              <a:t>Social feed post</a:t>
            </a:r>
            <a:endParaRPr lang="en-US" sz="2200" dirty="0"/>
          </a:p>
        </p:txBody>
      </p:sp>
      <p:sp>
        <p:nvSpPr>
          <p:cNvPr id="17" name="Text 13"/>
          <p:cNvSpPr txBox="1"/>
          <p:nvPr/>
        </p:nvSpPr>
        <p:spPr>
          <a:xfrm>
            <a:off x="4587088" y="2834640"/>
            <a:ext cx="3017520" cy="274320"/>
          </a:xfrm>
          <a:prstGeom prst="rect">
            <a:avLst/>
          </a:prstGeom>
          <a:noFill/>
          <a:ln/>
        </p:spPr>
        <p:txBody>
          <a:bodyPr wrap="square" lIns="0" tIns="0" rIns="0" bIns="0" rtlCol="0" anchor="t"/>
          <a:lstStyle/>
          <a:p>
            <a:pPr marL="0" indent="0">
              <a:buNone/>
            </a:pPr>
            <a:r>
              <a:rPr lang="en-US" sz="1400" b="1" dirty="0">
                <a:solidFill>
                  <a:schemeClr val="accent1"/>
                </a:solidFill>
              </a:rPr>
              <a:t>Viewing time</a:t>
            </a:r>
            <a:endParaRPr lang="en-US" sz="1400" dirty="0"/>
          </a:p>
        </p:txBody>
      </p:sp>
      <p:sp>
        <p:nvSpPr>
          <p:cNvPr id="18" name="Text 14"/>
          <p:cNvSpPr txBox="1"/>
          <p:nvPr/>
        </p:nvSpPr>
        <p:spPr>
          <a:xfrm>
            <a:off x="4587088" y="3127248"/>
            <a:ext cx="3017520" cy="685800"/>
          </a:xfrm>
          <a:prstGeom prst="rect">
            <a:avLst/>
          </a:prstGeom>
          <a:noFill/>
          <a:ln/>
        </p:spPr>
        <p:txBody>
          <a:bodyPr wrap="square" lIns="0" tIns="0" rIns="0" bIns="0" rtlCol="0" anchor="t"/>
          <a:lstStyle/>
          <a:p>
            <a:pPr marL="0" indent="0">
              <a:buNone/>
            </a:pPr>
            <a:r>
              <a:rPr lang="en-US" sz="1600" dirty="0">
                <a:solidFill>
                  <a:schemeClr val="tx1"/>
                </a:solidFill>
              </a:rPr>
              <a:t>A moment before the thumb moves on</a:t>
            </a:r>
            <a:endParaRPr lang="en-US" sz="1600" dirty="0"/>
          </a:p>
        </p:txBody>
      </p:sp>
      <p:sp>
        <p:nvSpPr>
          <p:cNvPr id="19" name="Text 15"/>
          <p:cNvSpPr txBox="1"/>
          <p:nvPr/>
        </p:nvSpPr>
        <p:spPr>
          <a:xfrm>
            <a:off x="4587088" y="3886200"/>
            <a:ext cx="3017520" cy="274320"/>
          </a:xfrm>
          <a:prstGeom prst="rect">
            <a:avLst/>
          </a:prstGeom>
          <a:noFill/>
          <a:ln/>
        </p:spPr>
        <p:txBody>
          <a:bodyPr wrap="square" lIns="0" tIns="0" rIns="0" bIns="0" rtlCol="0" anchor="t"/>
          <a:lstStyle/>
          <a:p>
            <a:pPr marL="0" indent="0">
              <a:buNone/>
            </a:pPr>
            <a:r>
              <a:rPr lang="en-US" sz="1400" b="1" dirty="0">
                <a:solidFill>
                  <a:schemeClr val="accent1"/>
                </a:solidFill>
              </a:rPr>
              <a:t>Distance</a:t>
            </a:r>
            <a:endParaRPr lang="en-US" sz="1400" dirty="0"/>
          </a:p>
        </p:txBody>
      </p:sp>
      <p:sp>
        <p:nvSpPr>
          <p:cNvPr id="20" name="Text 16"/>
          <p:cNvSpPr txBox="1"/>
          <p:nvPr/>
        </p:nvSpPr>
        <p:spPr>
          <a:xfrm>
            <a:off x="4587088" y="4178808"/>
            <a:ext cx="3017520" cy="685800"/>
          </a:xfrm>
          <a:prstGeom prst="rect">
            <a:avLst/>
          </a:prstGeom>
          <a:noFill/>
          <a:ln/>
        </p:spPr>
        <p:txBody>
          <a:bodyPr wrap="square" lIns="0" tIns="0" rIns="0" bIns="0" rtlCol="0" anchor="t"/>
          <a:lstStyle/>
          <a:p>
            <a:pPr marL="0" indent="0">
              <a:buNone/>
            </a:pPr>
            <a:r>
              <a:rPr lang="en-US" sz="1600" dirty="0">
                <a:solidFill>
                  <a:schemeClr val="tx1"/>
                </a:solidFill>
              </a:rPr>
              <a:t>Arm's length, small screen</a:t>
            </a:r>
            <a:endParaRPr lang="en-US" sz="1600" dirty="0"/>
          </a:p>
        </p:txBody>
      </p:sp>
      <p:sp>
        <p:nvSpPr>
          <p:cNvPr id="21" name="Text 17"/>
          <p:cNvSpPr txBox="1"/>
          <p:nvPr/>
        </p:nvSpPr>
        <p:spPr>
          <a:xfrm>
            <a:off x="4587088" y="4937760"/>
            <a:ext cx="3017520" cy="274320"/>
          </a:xfrm>
          <a:prstGeom prst="rect">
            <a:avLst/>
          </a:prstGeom>
          <a:noFill/>
          <a:ln/>
        </p:spPr>
        <p:txBody>
          <a:bodyPr wrap="square" lIns="0" tIns="0" rIns="0" bIns="0" rtlCol="0" anchor="t"/>
          <a:lstStyle/>
          <a:p>
            <a:pPr marL="0" indent="0">
              <a:buNone/>
            </a:pPr>
            <a:r>
              <a:rPr lang="en-US" sz="1400" b="1" dirty="0">
                <a:solidFill>
                  <a:schemeClr val="accent1"/>
                </a:solidFill>
              </a:rPr>
              <a:t>Design response</a:t>
            </a:r>
            <a:endParaRPr lang="en-US" sz="1400" dirty="0"/>
          </a:p>
        </p:txBody>
      </p:sp>
      <p:sp>
        <p:nvSpPr>
          <p:cNvPr id="22" name="Text 18"/>
          <p:cNvSpPr txBox="1"/>
          <p:nvPr/>
        </p:nvSpPr>
        <p:spPr>
          <a:xfrm>
            <a:off x="4587088" y="5230368"/>
            <a:ext cx="3017520" cy="685800"/>
          </a:xfrm>
          <a:prstGeom prst="rect">
            <a:avLst/>
          </a:prstGeom>
          <a:noFill/>
          <a:ln/>
        </p:spPr>
        <p:txBody>
          <a:bodyPr wrap="square" lIns="0" tIns="0" rIns="0" bIns="0" rtlCol="0" anchor="t"/>
          <a:lstStyle/>
          <a:p>
            <a:pPr marL="0" indent="0">
              <a:buNone/>
            </a:pPr>
            <a:r>
              <a:rPr lang="en-US" sz="1600" dirty="0">
                <a:solidFill>
                  <a:schemeClr val="tx1"/>
                </a:solidFill>
              </a:rPr>
              <a:t>Bold first frame; readable with sound off</a:t>
            </a:r>
            <a:endParaRPr lang="en-US" sz="1600" dirty="0"/>
          </a:p>
        </p:txBody>
      </p:sp>
      <p:sp>
        <p:nvSpPr>
          <p:cNvPr id="23" name="Context card Product label"/>
          <p:cNvSpPr/>
          <p:nvPr/>
        </p:nvSpPr>
        <p:spPr>
          <a:xfrm>
            <a:off x="8076895" y="1508760"/>
            <a:ext cx="3566160" cy="4572000"/>
          </a:xfrm>
          <a:prstGeom prst="rect">
            <a:avLst/>
          </a:prstGeom>
          <a:solidFill>
            <a:schemeClr val="bg2"/>
          </a:solidFill>
          <a:ln/>
        </p:spPr>
        <p:txBody>
          <a:bodyPr/>
          <a:lstStyle/>
          <a:p>
            <a:endParaRPr lang="en-US"/>
          </a:p>
        </p:txBody>
      </p:sp>
      <p:sp>
        <p:nvSpPr>
          <p:cNvPr id="24" name="Icon circle Product label"/>
          <p:cNvSpPr/>
          <p:nvPr/>
        </p:nvSpPr>
        <p:spPr>
          <a:xfrm>
            <a:off x="8351215" y="1783080"/>
            <a:ext cx="731520" cy="731520"/>
          </a:xfrm>
          <a:prstGeom prst="ellipse">
            <a:avLst/>
          </a:prstGeom>
          <a:solidFill>
            <a:schemeClr val="accent3"/>
          </a:solidFill>
          <a:ln/>
        </p:spPr>
        <p:txBody>
          <a:bodyPr/>
          <a:lstStyle/>
          <a:p>
            <a:endParaRPr lang="en-US"/>
          </a:p>
        </p:txBody>
      </p:sp>
      <p:pic>
        <p:nvPicPr>
          <p:cNvPr id="25" name="Icon Product label" descr="Product label icon"/>
          <p:cNvPicPr>
            <a:picLocks noChangeAspect="1"/>
          </p:cNvPicPr>
          <p:nvPr/>
        </p:nvPicPr>
        <p:blipFill>
          <a:blip r:embed="rId5"/>
          <a:stretch>
            <a:fillRect/>
          </a:stretch>
        </p:blipFill>
        <p:spPr>
          <a:xfrm>
            <a:off x="8541410" y="1973275"/>
            <a:ext cx="351130" cy="351130"/>
          </a:xfrm>
          <a:prstGeom prst="rect">
            <a:avLst/>
          </a:prstGeom>
        </p:spPr>
      </p:pic>
      <p:sp>
        <p:nvSpPr>
          <p:cNvPr id="26" name="Text 21"/>
          <p:cNvSpPr txBox="1"/>
          <p:nvPr/>
        </p:nvSpPr>
        <p:spPr>
          <a:xfrm>
            <a:off x="9265615" y="1783080"/>
            <a:ext cx="2194560" cy="731520"/>
          </a:xfrm>
          <a:prstGeom prst="rect">
            <a:avLst/>
          </a:prstGeom>
          <a:noFill/>
          <a:ln/>
        </p:spPr>
        <p:txBody>
          <a:bodyPr wrap="square" lIns="0" tIns="0" rIns="0" bIns="0" rtlCol="0" anchor="ctr"/>
          <a:lstStyle/>
          <a:p>
            <a:pPr marL="0" indent="0">
              <a:buNone/>
            </a:pPr>
            <a:r>
              <a:rPr lang="en-US" sz="2200" b="1" dirty="0">
                <a:solidFill>
                  <a:schemeClr val="tx1"/>
                </a:solidFill>
              </a:rPr>
              <a:t>Product label</a:t>
            </a:r>
            <a:endParaRPr lang="en-US" sz="2200" dirty="0"/>
          </a:p>
        </p:txBody>
      </p:sp>
      <p:sp>
        <p:nvSpPr>
          <p:cNvPr id="27" name="Text 22"/>
          <p:cNvSpPr txBox="1"/>
          <p:nvPr/>
        </p:nvSpPr>
        <p:spPr>
          <a:xfrm>
            <a:off x="8351215" y="2834640"/>
            <a:ext cx="3017520" cy="274320"/>
          </a:xfrm>
          <a:prstGeom prst="rect">
            <a:avLst/>
          </a:prstGeom>
          <a:noFill/>
          <a:ln/>
        </p:spPr>
        <p:txBody>
          <a:bodyPr wrap="square" lIns="0" tIns="0" rIns="0" bIns="0" rtlCol="0" anchor="t"/>
          <a:lstStyle/>
          <a:p>
            <a:pPr marL="0" indent="0">
              <a:buNone/>
            </a:pPr>
            <a:r>
              <a:rPr lang="en-US" sz="1400" b="1" dirty="0">
                <a:solidFill>
                  <a:schemeClr val="accent1"/>
                </a:solidFill>
              </a:rPr>
              <a:t>Viewing time</a:t>
            </a:r>
            <a:endParaRPr lang="en-US" sz="1400" dirty="0"/>
          </a:p>
        </p:txBody>
      </p:sp>
      <p:sp>
        <p:nvSpPr>
          <p:cNvPr id="28" name="Text 23"/>
          <p:cNvSpPr txBox="1"/>
          <p:nvPr/>
        </p:nvSpPr>
        <p:spPr>
          <a:xfrm>
            <a:off x="8351215" y="3127248"/>
            <a:ext cx="3017520" cy="685800"/>
          </a:xfrm>
          <a:prstGeom prst="rect">
            <a:avLst/>
          </a:prstGeom>
          <a:noFill/>
          <a:ln/>
        </p:spPr>
        <p:txBody>
          <a:bodyPr wrap="square" lIns="0" tIns="0" rIns="0" bIns="0" rtlCol="0" anchor="t"/>
          <a:lstStyle/>
          <a:p>
            <a:pPr marL="0" indent="0">
              <a:buNone/>
            </a:pPr>
            <a:r>
              <a:rPr lang="en-US" sz="1600" dirty="0">
                <a:solidFill>
                  <a:schemeClr val="tx1"/>
                </a:solidFill>
              </a:rPr>
              <a:t>Seconds on a shelf, longer in the hand</a:t>
            </a:r>
            <a:endParaRPr lang="en-US" sz="1600" dirty="0"/>
          </a:p>
        </p:txBody>
      </p:sp>
      <p:sp>
        <p:nvSpPr>
          <p:cNvPr id="29" name="Text 24"/>
          <p:cNvSpPr txBox="1"/>
          <p:nvPr/>
        </p:nvSpPr>
        <p:spPr>
          <a:xfrm>
            <a:off x="8351215" y="3886200"/>
            <a:ext cx="3017520" cy="274320"/>
          </a:xfrm>
          <a:prstGeom prst="rect">
            <a:avLst/>
          </a:prstGeom>
          <a:noFill/>
          <a:ln/>
        </p:spPr>
        <p:txBody>
          <a:bodyPr wrap="square" lIns="0" tIns="0" rIns="0" bIns="0" rtlCol="0" anchor="t"/>
          <a:lstStyle/>
          <a:p>
            <a:pPr marL="0" indent="0">
              <a:buNone/>
            </a:pPr>
            <a:r>
              <a:rPr lang="en-US" sz="1400" b="1" dirty="0">
                <a:solidFill>
                  <a:schemeClr val="accent1"/>
                </a:solidFill>
              </a:rPr>
              <a:t>Distance</a:t>
            </a:r>
            <a:endParaRPr lang="en-US" sz="1400" dirty="0"/>
          </a:p>
        </p:txBody>
      </p:sp>
      <p:sp>
        <p:nvSpPr>
          <p:cNvPr id="30" name="Text 25"/>
          <p:cNvSpPr txBox="1"/>
          <p:nvPr/>
        </p:nvSpPr>
        <p:spPr>
          <a:xfrm>
            <a:off x="8351215" y="4178808"/>
            <a:ext cx="3017520" cy="685800"/>
          </a:xfrm>
          <a:prstGeom prst="rect">
            <a:avLst/>
          </a:prstGeom>
          <a:noFill/>
          <a:ln/>
        </p:spPr>
        <p:txBody>
          <a:bodyPr wrap="square" lIns="0" tIns="0" rIns="0" bIns="0" rtlCol="0" anchor="t"/>
          <a:lstStyle/>
          <a:p>
            <a:pPr marL="0" indent="0">
              <a:buNone/>
            </a:pPr>
            <a:r>
              <a:rPr lang="en-US" sz="1600" dirty="0">
                <a:solidFill>
                  <a:schemeClr val="tx1"/>
                </a:solidFill>
              </a:rPr>
              <a:t>Arm's length, among competitors</a:t>
            </a:r>
            <a:endParaRPr lang="en-US" sz="1600" dirty="0"/>
          </a:p>
        </p:txBody>
      </p:sp>
      <p:sp>
        <p:nvSpPr>
          <p:cNvPr id="31" name="Text 26"/>
          <p:cNvSpPr txBox="1"/>
          <p:nvPr/>
        </p:nvSpPr>
        <p:spPr>
          <a:xfrm>
            <a:off x="8351215" y="4937760"/>
            <a:ext cx="3017520" cy="274320"/>
          </a:xfrm>
          <a:prstGeom prst="rect">
            <a:avLst/>
          </a:prstGeom>
          <a:noFill/>
          <a:ln/>
        </p:spPr>
        <p:txBody>
          <a:bodyPr wrap="square" lIns="0" tIns="0" rIns="0" bIns="0" rtlCol="0" anchor="t"/>
          <a:lstStyle/>
          <a:p>
            <a:pPr marL="0" indent="0">
              <a:buNone/>
            </a:pPr>
            <a:r>
              <a:rPr lang="en-US" sz="1400" b="1" dirty="0">
                <a:solidFill>
                  <a:schemeClr val="accent1"/>
                </a:solidFill>
              </a:rPr>
              <a:t>Design response</a:t>
            </a:r>
            <a:endParaRPr lang="en-US" sz="1400" dirty="0"/>
          </a:p>
        </p:txBody>
      </p:sp>
      <p:sp>
        <p:nvSpPr>
          <p:cNvPr id="32" name="Text 27"/>
          <p:cNvSpPr txBox="1"/>
          <p:nvPr/>
        </p:nvSpPr>
        <p:spPr>
          <a:xfrm>
            <a:off x="8351215" y="5230368"/>
            <a:ext cx="3017520" cy="685800"/>
          </a:xfrm>
          <a:prstGeom prst="rect">
            <a:avLst/>
          </a:prstGeom>
          <a:noFill/>
          <a:ln/>
        </p:spPr>
        <p:txBody>
          <a:bodyPr wrap="square" lIns="0" tIns="0" rIns="0" bIns="0" rtlCol="0" anchor="t"/>
          <a:lstStyle/>
          <a:p>
            <a:pPr marL="0" indent="0">
              <a:buNone/>
            </a:pPr>
            <a:r>
              <a:rPr lang="en-US" sz="1600" dirty="0">
                <a:solidFill>
                  <a:schemeClr val="tx1"/>
                </a:solidFill>
              </a:rPr>
              <a:t>Clear name, hierarchy and required information</a:t>
            </a:r>
            <a:endParaRPr lang="en-US" sz="1600" dirty="0"/>
          </a:p>
        </p:txBody>
      </p:sp>
      <p:sp>
        <p:nvSpPr>
          <p:cNvPr id="33"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Commercial, cultural and social contexts</a:t>
            </a:r>
            <a:endParaRPr lang="en-US" sz="3600" dirty="0"/>
          </a:p>
        </p:txBody>
      </p:sp>
      <p:sp>
        <p:nvSpPr>
          <p:cNvPr id="3" name="Band Commercial"/>
          <p:cNvSpPr/>
          <p:nvPr/>
        </p:nvSpPr>
        <p:spPr>
          <a:xfrm>
            <a:off x="548640" y="1508760"/>
            <a:ext cx="11094415" cy="1371600"/>
          </a:xfrm>
          <a:prstGeom prst="rect">
            <a:avLst/>
          </a:prstGeom>
          <a:solidFill>
            <a:schemeClr val="bg2"/>
          </a:solidFill>
          <a:ln/>
        </p:spPr>
        <p:txBody>
          <a:bodyPr/>
          <a:lstStyle/>
          <a:p>
            <a:endParaRPr lang="en-US"/>
          </a:p>
        </p:txBody>
      </p:sp>
      <p:sp>
        <p:nvSpPr>
          <p:cNvPr id="4" name="Band label Commercial"/>
          <p:cNvSpPr/>
          <p:nvPr/>
        </p:nvSpPr>
        <p:spPr>
          <a:xfrm>
            <a:off x="548640" y="1508760"/>
            <a:ext cx="2743200" cy="1371600"/>
          </a:xfrm>
          <a:prstGeom prst="rect">
            <a:avLst/>
          </a:prstGeom>
          <a:solidFill>
            <a:schemeClr val="accent1"/>
          </a:solidFill>
          <a:ln/>
        </p:spPr>
        <p:txBody>
          <a:bodyPr wrap="square" lIns="0" tIns="0" rIns="0" bIns="0" rtlCol="0" anchor="ctr"/>
          <a:lstStyle/>
          <a:p>
            <a:pPr marL="0" indent="0" algn="ctr">
              <a:buNone/>
            </a:pPr>
            <a:r>
              <a:rPr lang="en-US" sz="2400" b="1" dirty="0">
                <a:solidFill>
                  <a:schemeClr val="bg1"/>
                </a:solidFill>
              </a:rPr>
              <a:t>Commercial</a:t>
            </a:r>
            <a:endParaRPr lang="en-US" sz="2400" dirty="0"/>
          </a:p>
        </p:txBody>
      </p:sp>
      <p:sp>
        <p:nvSpPr>
          <p:cNvPr id="5" name="Text 3"/>
          <p:cNvSpPr txBox="1"/>
          <p:nvPr/>
        </p:nvSpPr>
        <p:spPr>
          <a:xfrm>
            <a:off x="3657600" y="1508760"/>
            <a:ext cx="7711135" cy="1371600"/>
          </a:xfrm>
          <a:prstGeom prst="rect">
            <a:avLst/>
          </a:prstGeom>
          <a:noFill/>
          <a:ln/>
        </p:spPr>
        <p:txBody>
          <a:bodyPr wrap="square" lIns="0" tIns="0" rIns="0" bIns="0" rtlCol="0" anchor="ctr"/>
          <a:lstStyle/>
          <a:p>
            <a:pPr marL="0" indent="0">
              <a:buNone/>
            </a:pPr>
            <a:r>
              <a:rPr lang="en-US" sz="1800" dirty="0">
                <a:solidFill>
                  <a:schemeClr val="tx1"/>
                </a:solidFill>
              </a:rPr>
              <a:t>Design supports business goals: branding, advertising, packaging and products. The aim is to inform, persuade or sell, while staying honest about what is offered.</a:t>
            </a:r>
            <a:endParaRPr lang="en-US" sz="1800" dirty="0"/>
          </a:p>
        </p:txBody>
      </p:sp>
      <p:sp>
        <p:nvSpPr>
          <p:cNvPr id="6" name="Band Cultural"/>
          <p:cNvSpPr/>
          <p:nvPr/>
        </p:nvSpPr>
        <p:spPr>
          <a:xfrm>
            <a:off x="548640" y="3063240"/>
            <a:ext cx="11094415" cy="1371600"/>
          </a:xfrm>
          <a:prstGeom prst="rect">
            <a:avLst/>
          </a:prstGeom>
          <a:solidFill>
            <a:schemeClr val="bg2"/>
          </a:solidFill>
          <a:ln/>
        </p:spPr>
        <p:txBody>
          <a:bodyPr/>
          <a:lstStyle/>
          <a:p>
            <a:endParaRPr lang="en-US"/>
          </a:p>
        </p:txBody>
      </p:sp>
      <p:sp>
        <p:nvSpPr>
          <p:cNvPr id="7" name="Band label Cultural"/>
          <p:cNvSpPr/>
          <p:nvPr/>
        </p:nvSpPr>
        <p:spPr>
          <a:xfrm>
            <a:off x="548640" y="3063240"/>
            <a:ext cx="2743200" cy="1371600"/>
          </a:xfrm>
          <a:prstGeom prst="rect">
            <a:avLst/>
          </a:prstGeom>
          <a:solidFill>
            <a:schemeClr val="accent2"/>
          </a:solidFill>
          <a:ln/>
        </p:spPr>
        <p:txBody>
          <a:bodyPr wrap="square" lIns="0" tIns="0" rIns="0" bIns="0" rtlCol="0" anchor="ctr"/>
          <a:lstStyle/>
          <a:p>
            <a:pPr marL="0" indent="0" algn="ctr">
              <a:buNone/>
            </a:pPr>
            <a:r>
              <a:rPr lang="en-US" sz="2400" b="1" dirty="0">
                <a:solidFill>
                  <a:schemeClr val="bg1"/>
                </a:solidFill>
              </a:rPr>
              <a:t>Cultural</a:t>
            </a:r>
            <a:endParaRPr lang="en-US" sz="2400" dirty="0"/>
          </a:p>
        </p:txBody>
      </p:sp>
      <p:sp>
        <p:nvSpPr>
          <p:cNvPr id="8" name="Text 6"/>
          <p:cNvSpPr txBox="1"/>
          <p:nvPr/>
        </p:nvSpPr>
        <p:spPr>
          <a:xfrm>
            <a:off x="3657600" y="3063240"/>
            <a:ext cx="7711135" cy="1371600"/>
          </a:xfrm>
          <a:prstGeom prst="rect">
            <a:avLst/>
          </a:prstGeom>
          <a:noFill/>
          <a:ln/>
        </p:spPr>
        <p:txBody>
          <a:bodyPr wrap="square" lIns="0" tIns="0" rIns="0" bIns="0" rtlCol="0" anchor="ctr"/>
          <a:lstStyle/>
          <a:p>
            <a:pPr marL="0" indent="0">
              <a:buNone/>
            </a:pPr>
            <a:r>
              <a:rPr lang="en-US" sz="1800" dirty="0">
                <a:solidFill>
                  <a:schemeClr val="tx1"/>
                </a:solidFill>
              </a:rPr>
              <a:t>Language, reading direction, symbols and color carry local meaning. A design that works in one community can confuse or offend in another, so test it with the people it is for.</a:t>
            </a:r>
            <a:endParaRPr lang="en-US" sz="1800" dirty="0"/>
          </a:p>
        </p:txBody>
      </p:sp>
      <p:sp>
        <p:nvSpPr>
          <p:cNvPr id="9" name="Band Social"/>
          <p:cNvSpPr/>
          <p:nvPr/>
        </p:nvSpPr>
        <p:spPr>
          <a:xfrm>
            <a:off x="548640" y="4617720"/>
            <a:ext cx="11094415" cy="1371600"/>
          </a:xfrm>
          <a:prstGeom prst="rect">
            <a:avLst/>
          </a:prstGeom>
          <a:solidFill>
            <a:schemeClr val="bg2"/>
          </a:solidFill>
          <a:ln/>
        </p:spPr>
        <p:txBody>
          <a:bodyPr/>
          <a:lstStyle/>
          <a:p>
            <a:endParaRPr lang="en-US"/>
          </a:p>
        </p:txBody>
      </p:sp>
      <p:sp>
        <p:nvSpPr>
          <p:cNvPr id="10" name="Band label Social"/>
          <p:cNvSpPr/>
          <p:nvPr/>
        </p:nvSpPr>
        <p:spPr>
          <a:xfrm>
            <a:off x="548640" y="4617720"/>
            <a:ext cx="2743200" cy="1371600"/>
          </a:xfrm>
          <a:prstGeom prst="rect">
            <a:avLst/>
          </a:prstGeom>
          <a:solidFill>
            <a:schemeClr val="accent3"/>
          </a:solidFill>
          <a:ln/>
        </p:spPr>
        <p:txBody>
          <a:bodyPr wrap="square" lIns="0" tIns="0" rIns="0" bIns="0" rtlCol="0" anchor="ctr"/>
          <a:lstStyle/>
          <a:p>
            <a:pPr marL="0" indent="0" algn="ctr">
              <a:buNone/>
            </a:pPr>
            <a:r>
              <a:rPr lang="en-US" sz="2400" b="1" dirty="0">
                <a:solidFill>
                  <a:schemeClr val="tx1"/>
                </a:solidFill>
              </a:rPr>
              <a:t>Social</a:t>
            </a:r>
            <a:endParaRPr lang="en-US" sz="2400" dirty="0"/>
          </a:p>
        </p:txBody>
      </p:sp>
      <p:sp>
        <p:nvSpPr>
          <p:cNvPr id="11" name="Text 9"/>
          <p:cNvSpPr txBox="1"/>
          <p:nvPr/>
        </p:nvSpPr>
        <p:spPr>
          <a:xfrm>
            <a:off x="3657600" y="4617720"/>
            <a:ext cx="7711135" cy="1371600"/>
          </a:xfrm>
          <a:prstGeom prst="rect">
            <a:avLst/>
          </a:prstGeom>
          <a:noFill/>
          <a:ln/>
        </p:spPr>
        <p:txBody>
          <a:bodyPr wrap="square" lIns="0" tIns="0" rIns="0" bIns="0" rtlCol="0" anchor="ctr"/>
          <a:lstStyle/>
          <a:p>
            <a:pPr marL="0" indent="0">
              <a:buNone/>
            </a:pPr>
            <a:r>
              <a:rPr lang="en-US" sz="1800" dirty="0">
                <a:solidFill>
                  <a:schemeClr val="tx1"/>
                </a:solidFill>
              </a:rPr>
              <a:t>Public information, health and safety, and campaigns use design to inform and to change behavior. Accessibility and ethics matter most here.</a:t>
            </a:r>
            <a:endParaRPr lang="en-US" sz="1800" dirty="0"/>
          </a:p>
        </p:txBody>
      </p:sp>
      <p:sp>
        <p:nvSpPr>
          <p:cNvPr id="25"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Activity: read a design in context</a:t>
            </a:r>
            <a:endParaRPr lang="en-US" sz="3600" dirty="0"/>
          </a:p>
        </p:txBody>
      </p:sp>
      <p:sp>
        <p:nvSpPr>
          <p:cNvPr id="3" name="Number 1"/>
          <p:cNvSpPr/>
          <p:nvPr/>
        </p:nvSpPr>
        <p:spPr>
          <a:xfrm>
            <a:off x="548640" y="1600200"/>
            <a:ext cx="566928" cy="566928"/>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4" name="Text 2"/>
          <p:cNvSpPr txBox="1"/>
          <p:nvPr/>
        </p:nvSpPr>
        <p:spPr>
          <a:xfrm>
            <a:off x="1417320" y="1600200"/>
            <a:ext cx="6675120" cy="566928"/>
          </a:xfrm>
          <a:prstGeom prst="rect">
            <a:avLst/>
          </a:prstGeom>
          <a:noFill/>
          <a:ln/>
        </p:spPr>
        <p:txBody>
          <a:bodyPr wrap="square" lIns="0" tIns="0" rIns="0" bIns="0" rtlCol="0" anchor="ctr"/>
          <a:lstStyle/>
          <a:p>
            <a:pPr marL="0" indent="0">
              <a:buNone/>
            </a:pPr>
            <a:r>
              <a:rPr lang="en-US" sz="2100" dirty="0">
                <a:solidFill>
                  <a:schemeClr val="tx1"/>
                </a:solidFill>
              </a:rPr>
              <a:t>Choose one poster, package or screen</a:t>
            </a:r>
            <a:endParaRPr lang="en-US" sz="2100" dirty="0"/>
          </a:p>
        </p:txBody>
      </p:sp>
      <p:sp>
        <p:nvSpPr>
          <p:cNvPr id="5" name="Number 2"/>
          <p:cNvSpPr/>
          <p:nvPr/>
        </p:nvSpPr>
        <p:spPr>
          <a:xfrm>
            <a:off x="548640" y="2514600"/>
            <a:ext cx="566928" cy="566928"/>
          </a:xfrm>
          <a:prstGeom prst="ellipse">
            <a:avLst/>
          </a:prstGeom>
          <a:solidFill>
            <a:schemeClr val="accent2"/>
          </a:solid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6" name="Text 4"/>
          <p:cNvSpPr txBox="1"/>
          <p:nvPr/>
        </p:nvSpPr>
        <p:spPr>
          <a:xfrm>
            <a:off x="1417320" y="2514600"/>
            <a:ext cx="6675120" cy="566928"/>
          </a:xfrm>
          <a:prstGeom prst="rect">
            <a:avLst/>
          </a:prstGeom>
          <a:noFill/>
          <a:ln/>
        </p:spPr>
        <p:txBody>
          <a:bodyPr wrap="square" lIns="0" tIns="0" rIns="0" bIns="0" rtlCol="0" anchor="ctr"/>
          <a:lstStyle/>
          <a:p>
            <a:pPr marL="0" indent="0">
              <a:buNone/>
            </a:pPr>
            <a:r>
              <a:rPr lang="en-US" sz="2100" dirty="0">
                <a:solidFill>
                  <a:schemeClr val="tx1"/>
                </a:solidFill>
              </a:rPr>
              <a:t>State the audience and the main message</a:t>
            </a:r>
            <a:endParaRPr lang="en-US" sz="2100" dirty="0"/>
          </a:p>
        </p:txBody>
      </p:sp>
      <p:sp>
        <p:nvSpPr>
          <p:cNvPr id="7" name="Number 3"/>
          <p:cNvSpPr/>
          <p:nvPr/>
        </p:nvSpPr>
        <p:spPr>
          <a:xfrm>
            <a:off x="548640" y="3429000"/>
            <a:ext cx="566928" cy="566928"/>
          </a:xfrm>
          <a:prstGeom prst="ellipse">
            <a:avLst/>
          </a:prstGeom>
          <a:solidFill>
            <a:schemeClr val="accent3"/>
          </a:solidFill>
          <a:ln/>
        </p:spPr>
        <p:txBody>
          <a:bodyPr wrap="square" lIns="0" tIns="0" rIns="0" bIns="0" rtlCol="0" anchor="ctr"/>
          <a:lstStyle/>
          <a:p>
            <a:pPr marL="0" indent="0" algn="ctr">
              <a:buNone/>
            </a:pPr>
            <a:r>
              <a:rPr lang="en-US" sz="2200" b="1" dirty="0">
                <a:solidFill>
                  <a:schemeClr val="tx1"/>
                </a:solidFill>
              </a:rPr>
              <a:t>3</a:t>
            </a:r>
            <a:endParaRPr lang="en-US" sz="2200" dirty="0"/>
          </a:p>
        </p:txBody>
      </p:sp>
      <p:sp>
        <p:nvSpPr>
          <p:cNvPr id="8" name="Text 6"/>
          <p:cNvSpPr txBox="1"/>
          <p:nvPr/>
        </p:nvSpPr>
        <p:spPr>
          <a:xfrm>
            <a:off x="1417320" y="3429000"/>
            <a:ext cx="6675120" cy="566928"/>
          </a:xfrm>
          <a:prstGeom prst="rect">
            <a:avLst/>
          </a:prstGeom>
          <a:noFill/>
          <a:ln/>
        </p:spPr>
        <p:txBody>
          <a:bodyPr wrap="square" lIns="0" tIns="0" rIns="0" bIns="0" rtlCol="0" anchor="ctr"/>
          <a:lstStyle/>
          <a:p>
            <a:pPr marL="0" indent="0">
              <a:buNone/>
            </a:pPr>
            <a:r>
              <a:rPr lang="en-US" sz="2100" dirty="0">
                <a:solidFill>
                  <a:schemeClr val="tx1"/>
                </a:solidFill>
              </a:rPr>
              <a:t>Name where and how people meet it</a:t>
            </a:r>
            <a:endParaRPr lang="en-US" sz="2100" dirty="0"/>
          </a:p>
        </p:txBody>
      </p:sp>
      <p:sp>
        <p:nvSpPr>
          <p:cNvPr id="9" name="Number 4"/>
          <p:cNvSpPr/>
          <p:nvPr/>
        </p:nvSpPr>
        <p:spPr>
          <a:xfrm>
            <a:off x="548640" y="4343400"/>
            <a:ext cx="566928" cy="566928"/>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10" name="Text 8"/>
          <p:cNvSpPr txBox="1"/>
          <p:nvPr/>
        </p:nvSpPr>
        <p:spPr>
          <a:xfrm>
            <a:off x="1417320" y="4343400"/>
            <a:ext cx="6675120" cy="566928"/>
          </a:xfrm>
          <a:prstGeom prst="rect">
            <a:avLst/>
          </a:prstGeom>
          <a:noFill/>
          <a:ln/>
        </p:spPr>
        <p:txBody>
          <a:bodyPr wrap="square" lIns="0" tIns="0" rIns="0" bIns="0" rtlCol="0" anchor="ctr"/>
          <a:lstStyle/>
          <a:p>
            <a:pPr marL="0" indent="0">
              <a:buNone/>
            </a:pPr>
            <a:r>
              <a:rPr lang="en-US" sz="2100" dirty="0">
                <a:solidFill>
                  <a:schemeClr val="tx1"/>
                </a:solidFill>
              </a:rPr>
              <a:t>Find two visual choices that serve the message</a:t>
            </a:r>
            <a:endParaRPr lang="en-US" sz="2100" dirty="0"/>
          </a:p>
        </p:txBody>
      </p:sp>
      <p:sp>
        <p:nvSpPr>
          <p:cNvPr id="11" name="Number 5"/>
          <p:cNvSpPr/>
          <p:nvPr/>
        </p:nvSpPr>
        <p:spPr>
          <a:xfrm>
            <a:off x="548640" y="5257800"/>
            <a:ext cx="566928" cy="566928"/>
          </a:xfrm>
          <a:prstGeom prst="ellipse">
            <a:avLst/>
          </a:prstGeom>
          <a:solidFill>
            <a:schemeClr val="accent2"/>
          </a:solidFill>
          <a:ln/>
        </p:spPr>
        <p:txBody>
          <a:bodyPr wrap="square" lIns="0" tIns="0" rIns="0" bIns="0" rtlCol="0" anchor="ctr"/>
          <a:lstStyle/>
          <a:p>
            <a:pPr marL="0" indent="0" algn="ctr">
              <a:buNone/>
            </a:pPr>
            <a:r>
              <a:rPr lang="en-US" sz="2200" b="1" dirty="0">
                <a:solidFill>
                  <a:schemeClr val="bg1"/>
                </a:solidFill>
              </a:rPr>
              <a:t>5</a:t>
            </a:r>
            <a:endParaRPr lang="en-US" sz="2200" dirty="0"/>
          </a:p>
        </p:txBody>
      </p:sp>
      <p:sp>
        <p:nvSpPr>
          <p:cNvPr id="12" name="Text 10"/>
          <p:cNvSpPr txBox="1"/>
          <p:nvPr/>
        </p:nvSpPr>
        <p:spPr>
          <a:xfrm>
            <a:off x="1417320" y="5257800"/>
            <a:ext cx="6675120" cy="566928"/>
          </a:xfrm>
          <a:prstGeom prst="rect">
            <a:avLst/>
          </a:prstGeom>
          <a:noFill/>
          <a:ln/>
        </p:spPr>
        <p:txBody>
          <a:bodyPr wrap="square" lIns="0" tIns="0" rIns="0" bIns="0" rtlCol="0" anchor="ctr"/>
          <a:lstStyle/>
          <a:p>
            <a:pPr marL="0" indent="0">
              <a:buNone/>
            </a:pPr>
            <a:r>
              <a:rPr lang="en-US" sz="2100" dirty="0">
                <a:solidFill>
                  <a:schemeClr val="tx1"/>
                </a:solidFill>
              </a:rPr>
              <a:t>Suggest one improvement and share it</a:t>
            </a:r>
            <a:endParaRPr lang="en-US" sz="2100" dirty="0"/>
          </a:p>
        </p:txBody>
      </p:sp>
      <p:sp>
        <p:nvSpPr>
          <p:cNvPr id="13" name="Timer panel"/>
          <p:cNvSpPr/>
          <p:nvPr/>
        </p:nvSpPr>
        <p:spPr>
          <a:xfrm>
            <a:off x="8412480" y="1508760"/>
            <a:ext cx="3230575" cy="4480560"/>
          </a:xfrm>
          <a:prstGeom prst="rect">
            <a:avLst/>
          </a:prstGeom>
          <a:solidFill>
            <a:schemeClr val="accent3"/>
          </a:solidFill>
          <a:ln/>
        </p:spPr>
        <p:txBody>
          <a:bodyPr/>
          <a:lstStyle/>
          <a:p>
            <a:endParaRPr lang="en-US"/>
          </a:p>
        </p:txBody>
      </p:sp>
      <p:sp>
        <p:nvSpPr>
          <p:cNvPr id="14" name="Text 12"/>
          <p:cNvSpPr txBox="1"/>
          <p:nvPr/>
        </p:nvSpPr>
        <p:spPr>
          <a:xfrm>
            <a:off x="8412480" y="1783080"/>
            <a:ext cx="3230575" cy="1645920"/>
          </a:xfrm>
          <a:prstGeom prst="rect">
            <a:avLst/>
          </a:prstGeom>
          <a:noFill/>
          <a:ln/>
        </p:spPr>
        <p:txBody>
          <a:bodyPr wrap="square" lIns="0" tIns="0" rIns="0" bIns="0" rtlCol="0" anchor="ctr"/>
          <a:lstStyle/>
          <a:p>
            <a:pPr marL="0" indent="0" algn="ctr">
              <a:buNone/>
            </a:pPr>
            <a:r>
              <a:rPr lang="en-US" sz="11000" b="1" dirty="0">
                <a:solidFill>
                  <a:schemeClr val="tx1"/>
                </a:solidFill>
              </a:rPr>
              <a:t>15</a:t>
            </a:r>
            <a:endParaRPr lang="en-US" sz="11000" dirty="0"/>
          </a:p>
        </p:txBody>
      </p:sp>
      <p:sp>
        <p:nvSpPr>
          <p:cNvPr id="15" name="Text 13"/>
          <p:cNvSpPr txBox="1"/>
          <p:nvPr/>
        </p:nvSpPr>
        <p:spPr>
          <a:xfrm>
            <a:off x="8412480" y="3520440"/>
            <a:ext cx="3230575" cy="457200"/>
          </a:xfrm>
          <a:prstGeom prst="rect">
            <a:avLst/>
          </a:prstGeom>
          <a:noFill/>
          <a:ln/>
        </p:spPr>
        <p:txBody>
          <a:bodyPr wrap="square" lIns="0" tIns="0" rIns="0" bIns="0" rtlCol="0" anchor="t"/>
          <a:lstStyle/>
          <a:p>
            <a:pPr marL="0" indent="0" algn="ctr">
              <a:buNone/>
            </a:pPr>
            <a:r>
              <a:rPr lang="en-US" sz="2200" b="1" dirty="0">
                <a:solidFill>
                  <a:schemeClr val="tx1"/>
                </a:solidFill>
              </a:rPr>
              <a:t>minutes, in pairs</a:t>
            </a:r>
            <a:endParaRPr lang="en-US" sz="2200" dirty="0"/>
          </a:p>
        </p:txBody>
      </p:sp>
      <p:sp>
        <p:nvSpPr>
          <p:cNvPr id="16" name="Text 14"/>
          <p:cNvSpPr txBox="1"/>
          <p:nvPr/>
        </p:nvSpPr>
        <p:spPr>
          <a:xfrm>
            <a:off x="8778240" y="4343400"/>
            <a:ext cx="2514600" cy="1097280"/>
          </a:xfrm>
          <a:prstGeom prst="rect">
            <a:avLst/>
          </a:prstGeom>
          <a:noFill/>
          <a:ln/>
        </p:spPr>
        <p:txBody>
          <a:bodyPr wrap="square" lIns="0" tIns="0" rIns="0" bIns="0" rtlCol="0" anchor="t"/>
          <a:lstStyle/>
          <a:p>
            <a:pPr marL="0" indent="0" algn="ctr">
              <a:buNone/>
            </a:pPr>
            <a:r>
              <a:rPr lang="en-US" sz="1700" dirty="0">
                <a:solidFill>
                  <a:schemeClr val="tx1"/>
                </a:solidFill>
              </a:rPr>
              <a:t>Bring one printed design or a screenshot.</a:t>
            </a:r>
            <a:endParaRPr lang="en-US" sz="1700" dirty="0"/>
          </a:p>
        </p:txBody>
      </p:sp>
      <p:sp>
        <p:nvSpPr>
          <p:cNvPr id="25"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bg1"/>
                </a:solidFill>
              </a:rPr>
              <a:t>Key takeaways</a:t>
            </a:r>
            <a:endParaRPr lang="en-US" sz="3600" dirty="0"/>
          </a:p>
        </p:txBody>
      </p:sp>
      <p:sp>
        <p:nvSpPr>
          <p:cNvPr id="3" name="Text 1"/>
          <p:cNvSpPr txBox="1"/>
          <p:nvPr/>
        </p:nvSpPr>
        <p:spPr>
          <a:xfrm>
            <a:off x="548640" y="1554480"/>
            <a:ext cx="5669280" cy="457200"/>
          </a:xfrm>
          <a:prstGeom prst="rect">
            <a:avLst/>
          </a:prstGeom>
          <a:noFill/>
          <a:ln/>
        </p:spPr>
        <p:txBody>
          <a:bodyPr wrap="square" lIns="0" tIns="0" rIns="0" bIns="0" rtlCol="0" anchor="t"/>
          <a:lstStyle/>
          <a:p>
            <a:pPr marL="0" indent="0">
              <a:buNone/>
            </a:pPr>
            <a:r>
              <a:rPr lang="en-US" sz="2400" b="1" dirty="0">
                <a:solidFill>
                  <a:schemeClr val="accent3"/>
                </a:solidFill>
              </a:rPr>
              <a:t>Remember</a:t>
            </a:r>
            <a:endParaRPr lang="en-US" sz="2400" dirty="0"/>
          </a:p>
        </p:txBody>
      </p:sp>
      <p:sp>
        <p:nvSpPr>
          <p:cNvPr id="4" name="Takeaways list"/>
          <p:cNvSpPr txBox="1"/>
          <p:nvPr/>
        </p:nvSpPr>
        <p:spPr>
          <a:xfrm>
            <a:off x="548640" y="2194560"/>
            <a:ext cx="5760720" cy="3840480"/>
          </a:xfrm>
          <a:prstGeom prst="rect">
            <a:avLst/>
          </a:prstGeom>
          <a:noFill/>
          <a:ln/>
        </p:spPr>
        <p:txBody>
          <a:bodyPr wrap="square" lIns="0" tIns="0" rIns="0" bIns="0" rtlCol="0" anchor="t"/>
          <a:lstStyle/>
          <a:p>
            <a:pPr marL="342900" indent="-342900">
              <a:spcAft>
                <a:spcPts val="1600"/>
              </a:spcAft>
              <a:buSzPct val="100000"/>
              <a:buChar char="•"/>
            </a:pPr>
            <a:r>
              <a:rPr lang="en-US" sz="2100" dirty="0">
                <a:solidFill>
                  <a:schemeClr val="bg1"/>
                </a:solidFill>
              </a:rPr>
              <a:t>Graphic design solves communication problems with type, image, color and layout</a:t>
            </a:r>
            <a:endParaRPr lang="en-US" sz="2100" dirty="0"/>
          </a:p>
          <a:p>
            <a:pPr marL="342900" indent="-342900">
              <a:spcAft>
                <a:spcPts val="1600"/>
              </a:spcAft>
              <a:buSzPct val="100000"/>
              <a:buChar char="•"/>
            </a:pPr>
            <a:r>
              <a:rPr lang="en-US" sz="2100" dirty="0">
                <a:solidFill>
                  <a:schemeClr val="bg1"/>
                </a:solidFill>
              </a:rPr>
              <a:t>Its history follows technology, from print to digital</a:t>
            </a:r>
            <a:endParaRPr lang="en-US" sz="2100" dirty="0"/>
          </a:p>
          <a:p>
            <a:pPr marL="342900" indent="-342900">
              <a:spcAft>
                <a:spcPts val="1600"/>
              </a:spcAft>
              <a:buSzPct val="100000"/>
              <a:buChar char="•"/>
            </a:pPr>
            <a:r>
              <a:rPr lang="en-US" sz="2100" dirty="0">
                <a:solidFill>
                  <a:schemeClr val="bg1"/>
                </a:solidFill>
              </a:rPr>
              <a:t>Designers take many roles and specialisations</a:t>
            </a:r>
            <a:endParaRPr lang="en-US" sz="2100" dirty="0"/>
          </a:p>
          <a:p>
            <a:pPr marL="342900" indent="-342900">
              <a:spcAft>
                <a:spcPts val="1600"/>
              </a:spcAft>
              <a:buSzPct val="100000"/>
              <a:buChar char="•"/>
            </a:pPr>
            <a:r>
              <a:rPr lang="en-US" sz="2100" dirty="0">
                <a:solidFill>
                  <a:schemeClr val="bg1"/>
                </a:solidFill>
              </a:rPr>
              <a:t>Visual communication works through signs, grouping and hierarchy</a:t>
            </a:r>
            <a:endParaRPr lang="en-US" sz="2100" dirty="0"/>
          </a:p>
          <a:p>
            <a:pPr marL="342900" indent="-342900">
              <a:spcAft>
                <a:spcPts val="1600"/>
              </a:spcAft>
              <a:buSzPct val="100000"/>
              <a:buChar char="•"/>
            </a:pPr>
            <a:r>
              <a:rPr lang="en-US" sz="2100" dirty="0">
                <a:solidFill>
                  <a:schemeClr val="bg1"/>
                </a:solidFill>
              </a:rPr>
              <a:t>Context shapes every design decision</a:t>
            </a:r>
            <a:endParaRPr lang="en-US" sz="2100" dirty="0"/>
          </a:p>
        </p:txBody>
      </p:sp>
      <p:sp>
        <p:nvSpPr>
          <p:cNvPr id="5" name="Questions panel"/>
          <p:cNvSpPr/>
          <p:nvPr/>
        </p:nvSpPr>
        <p:spPr>
          <a:xfrm>
            <a:off x="6766560" y="1508760"/>
            <a:ext cx="4876495" cy="4526280"/>
          </a:xfrm>
          <a:prstGeom prst="rect">
            <a:avLst/>
          </a:prstGeom>
          <a:solidFill>
            <a:schemeClr val="tx2"/>
          </a:solidFill>
          <a:ln/>
        </p:spPr>
        <p:txBody>
          <a:bodyPr/>
          <a:lstStyle/>
          <a:p>
            <a:endParaRPr lang="en-US"/>
          </a:p>
        </p:txBody>
      </p:sp>
      <p:sp>
        <p:nvSpPr>
          <p:cNvPr id="6" name="Text 4"/>
          <p:cNvSpPr txBox="1"/>
          <p:nvPr/>
        </p:nvSpPr>
        <p:spPr>
          <a:xfrm>
            <a:off x="7132320" y="1828800"/>
            <a:ext cx="4206240" cy="457200"/>
          </a:xfrm>
          <a:prstGeom prst="rect">
            <a:avLst/>
          </a:prstGeom>
          <a:noFill/>
          <a:ln/>
        </p:spPr>
        <p:txBody>
          <a:bodyPr wrap="square" lIns="0" tIns="0" rIns="0" bIns="0" rtlCol="0" anchor="t"/>
          <a:lstStyle/>
          <a:p>
            <a:pPr marL="0" indent="0">
              <a:buNone/>
            </a:pPr>
            <a:r>
              <a:rPr lang="en-US" sz="2200" b="1" dirty="0">
                <a:solidFill>
                  <a:schemeClr val="bg1"/>
                </a:solidFill>
              </a:rPr>
              <a:t>Check your understanding</a:t>
            </a:r>
            <a:endParaRPr lang="en-US" sz="2200" dirty="0"/>
          </a:p>
        </p:txBody>
      </p:sp>
      <p:sp>
        <p:nvSpPr>
          <p:cNvPr id="7" name="Questions list"/>
          <p:cNvSpPr txBox="1"/>
          <p:nvPr/>
        </p:nvSpPr>
        <p:spPr>
          <a:xfrm>
            <a:off x="7132320" y="2560320"/>
            <a:ext cx="4160520" cy="3108960"/>
          </a:xfrm>
          <a:prstGeom prst="rect">
            <a:avLst/>
          </a:prstGeom>
          <a:noFill/>
          <a:ln/>
        </p:spPr>
        <p:txBody>
          <a:bodyPr wrap="square" lIns="0" tIns="0" rIns="0" bIns="0" rtlCol="0" anchor="t"/>
          <a:lstStyle/>
          <a:p>
            <a:pPr marL="342900" indent="-342900">
              <a:spcAft>
                <a:spcPts val="1800"/>
              </a:spcAft>
              <a:buSzPct val="100000"/>
              <a:buFont typeface="+mj-lt"/>
              <a:buAutoNum type="arabicPeriod"/>
            </a:pPr>
            <a:r>
              <a:rPr lang="en-US" sz="2000" dirty="0">
                <a:solidFill>
                  <a:schemeClr val="bg1"/>
                </a:solidFill>
              </a:rPr>
              <a:t>How would you define graphic design in one sentence?</a:t>
            </a:r>
            <a:endParaRPr lang="en-US" sz="2000" dirty="0"/>
          </a:p>
          <a:p>
            <a:pPr marL="342900" indent="-342900">
              <a:spcAft>
                <a:spcPts val="1800"/>
              </a:spcAft>
              <a:buSzPct val="100000"/>
              <a:buFont typeface="+mj-lt"/>
              <a:buAutoNum type="arabicPeriod"/>
            </a:pPr>
            <a:r>
              <a:rPr lang="en-US" sz="2000" dirty="0">
                <a:solidFill>
                  <a:schemeClr val="bg1"/>
                </a:solidFill>
              </a:rPr>
              <a:t>Which movement or technology changed design most, and why?</a:t>
            </a:r>
            <a:endParaRPr lang="en-US" sz="2000" dirty="0"/>
          </a:p>
          <a:p>
            <a:pPr marL="342900" indent="-342900">
              <a:spcAft>
                <a:spcPts val="1800"/>
              </a:spcAft>
              <a:buSzPct val="100000"/>
              <a:buFont typeface="+mj-lt"/>
              <a:buAutoNum type="arabicPeriod"/>
            </a:pPr>
            <a:r>
              <a:rPr lang="en-US" sz="2000" dirty="0">
                <a:solidFill>
                  <a:schemeClr val="bg1"/>
                </a:solidFill>
              </a:rPr>
              <a:t>Name a design you saw today and the context it was made for.</a:t>
            </a:r>
            <a:endParaRPr lang="en-US" sz="2000" dirty="0"/>
          </a:p>
        </p:txBody>
      </p:sp>
      <p:sp>
        <p:nvSpPr>
          <p:cNvPr id="25"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B7BDC9"/>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Further reading</a:t>
            </a:r>
            <a:endParaRPr lang="en-US" sz="3600" dirty="0"/>
          </a:p>
        </p:txBody>
      </p:sp>
      <p:sp>
        <p:nvSpPr>
          <p:cNvPr id="3" name="Reading row 1"/>
          <p:cNvSpPr/>
          <p:nvPr/>
        </p:nvSpPr>
        <p:spPr>
          <a:xfrm>
            <a:off x="548640" y="1508760"/>
            <a:ext cx="11094415" cy="731520"/>
          </a:xfrm>
          <a:prstGeom prst="rect">
            <a:avLst/>
          </a:prstGeom>
          <a:solidFill>
            <a:schemeClr val="bg2"/>
          </a:solidFill>
          <a:ln/>
        </p:spPr>
        <p:txBody>
          <a:bodyPr/>
          <a:lstStyle/>
          <a:p>
            <a:endParaRPr lang="en-US"/>
          </a:p>
        </p:txBody>
      </p:sp>
      <p:sp>
        <p:nvSpPr>
          <p:cNvPr id="4" name="Icon circle Book 1"/>
          <p:cNvSpPr/>
          <p:nvPr/>
        </p:nvSpPr>
        <p:spPr>
          <a:xfrm>
            <a:off x="731520" y="1600200"/>
            <a:ext cx="548640" cy="548640"/>
          </a:xfrm>
          <a:prstGeom prst="ellipse">
            <a:avLst/>
          </a:prstGeom>
          <a:solidFill>
            <a:schemeClr val="accent1"/>
          </a:solidFill>
          <a:ln/>
        </p:spPr>
        <p:txBody>
          <a:bodyPr/>
          <a:lstStyle/>
          <a:p>
            <a:endParaRPr lang="en-US"/>
          </a:p>
        </p:txBody>
      </p:sp>
      <p:pic>
        <p:nvPicPr>
          <p:cNvPr id="5" name="Icon Book 1" descr="Book 1 icon"/>
          <p:cNvPicPr>
            <a:picLocks noChangeAspect="1"/>
          </p:cNvPicPr>
          <p:nvPr/>
        </p:nvPicPr>
        <p:blipFill>
          <a:blip r:embed="rId3"/>
          <a:stretch>
            <a:fillRect/>
          </a:stretch>
        </p:blipFill>
        <p:spPr>
          <a:xfrm>
            <a:off x="874166" y="1742846"/>
            <a:ext cx="263347" cy="263347"/>
          </a:xfrm>
          <a:prstGeom prst="rect">
            <a:avLst/>
          </a:prstGeom>
        </p:spPr>
      </p:pic>
      <p:sp>
        <p:nvSpPr>
          <p:cNvPr id="6" name="Text 3"/>
          <p:cNvSpPr txBox="1"/>
          <p:nvPr/>
        </p:nvSpPr>
        <p:spPr>
          <a:xfrm>
            <a:off x="1554480" y="1508760"/>
            <a:ext cx="5486400" cy="731520"/>
          </a:xfrm>
          <a:prstGeom prst="rect">
            <a:avLst/>
          </a:prstGeom>
          <a:noFill/>
          <a:ln/>
        </p:spPr>
        <p:txBody>
          <a:bodyPr wrap="square" lIns="0" tIns="0" rIns="0" bIns="0" rtlCol="0" anchor="ctr"/>
          <a:lstStyle/>
          <a:p>
            <a:pPr marL="0" indent="0">
              <a:buNone/>
            </a:pPr>
            <a:r>
              <a:rPr lang="en-US" sz="1900" b="1" dirty="0">
                <a:solidFill>
                  <a:schemeClr val="tx1"/>
                </a:solidFill>
              </a:rPr>
              <a:t>Meggs' History of Graphic Design</a:t>
            </a:r>
            <a:endParaRPr lang="en-US" sz="1900" dirty="0"/>
          </a:p>
        </p:txBody>
      </p:sp>
      <p:sp>
        <p:nvSpPr>
          <p:cNvPr id="7" name="Text 4"/>
          <p:cNvSpPr txBox="1"/>
          <p:nvPr/>
        </p:nvSpPr>
        <p:spPr>
          <a:xfrm>
            <a:off x="7223760" y="1508760"/>
            <a:ext cx="4297680" cy="731520"/>
          </a:xfrm>
          <a:prstGeom prst="rect">
            <a:avLst/>
          </a:prstGeom>
          <a:noFill/>
          <a:ln/>
        </p:spPr>
        <p:txBody>
          <a:bodyPr wrap="square" lIns="0" tIns="0" rIns="0" bIns="0" rtlCol="0" anchor="ctr"/>
          <a:lstStyle/>
          <a:p>
            <a:pPr marL="0" indent="0">
              <a:buNone/>
            </a:pPr>
            <a:r>
              <a:rPr lang="en-US" sz="1600" dirty="0">
                <a:solidFill>
                  <a:schemeClr val="accent4"/>
                </a:solidFill>
              </a:rPr>
              <a:t>Philip B. Meggs and Alston W. Purvis</a:t>
            </a:r>
            <a:endParaRPr lang="en-US" sz="1600" dirty="0"/>
          </a:p>
        </p:txBody>
      </p:sp>
      <p:sp>
        <p:nvSpPr>
          <p:cNvPr id="8" name="Reading row 2"/>
          <p:cNvSpPr/>
          <p:nvPr/>
        </p:nvSpPr>
        <p:spPr>
          <a:xfrm>
            <a:off x="548640" y="2350008"/>
            <a:ext cx="11094415" cy="731520"/>
          </a:xfrm>
          <a:prstGeom prst="rect">
            <a:avLst/>
          </a:prstGeom>
          <a:solidFill>
            <a:schemeClr val="bg2"/>
          </a:solidFill>
          <a:ln/>
        </p:spPr>
        <p:txBody>
          <a:bodyPr/>
          <a:lstStyle/>
          <a:p>
            <a:endParaRPr lang="en-US"/>
          </a:p>
        </p:txBody>
      </p:sp>
      <p:sp>
        <p:nvSpPr>
          <p:cNvPr id="9" name="Icon circle Book 2"/>
          <p:cNvSpPr/>
          <p:nvPr/>
        </p:nvSpPr>
        <p:spPr>
          <a:xfrm>
            <a:off x="731520" y="2441448"/>
            <a:ext cx="548640" cy="548640"/>
          </a:xfrm>
          <a:prstGeom prst="ellipse">
            <a:avLst/>
          </a:prstGeom>
          <a:solidFill>
            <a:schemeClr val="accent2"/>
          </a:solidFill>
          <a:ln/>
        </p:spPr>
        <p:txBody>
          <a:bodyPr/>
          <a:lstStyle/>
          <a:p>
            <a:endParaRPr lang="en-US"/>
          </a:p>
        </p:txBody>
      </p:sp>
      <p:pic>
        <p:nvPicPr>
          <p:cNvPr id="10" name="Icon Book 2" descr="Book 2 icon"/>
          <p:cNvPicPr>
            <a:picLocks noChangeAspect="1"/>
          </p:cNvPicPr>
          <p:nvPr/>
        </p:nvPicPr>
        <p:blipFill>
          <a:blip r:embed="rId3"/>
          <a:stretch>
            <a:fillRect/>
          </a:stretch>
        </p:blipFill>
        <p:spPr>
          <a:xfrm>
            <a:off x="874166" y="2584094"/>
            <a:ext cx="263347" cy="263347"/>
          </a:xfrm>
          <a:prstGeom prst="rect">
            <a:avLst/>
          </a:prstGeom>
        </p:spPr>
      </p:pic>
      <p:sp>
        <p:nvSpPr>
          <p:cNvPr id="11" name="Text 7"/>
          <p:cNvSpPr txBox="1"/>
          <p:nvPr/>
        </p:nvSpPr>
        <p:spPr>
          <a:xfrm>
            <a:off x="1554480" y="2350008"/>
            <a:ext cx="5486400" cy="731520"/>
          </a:xfrm>
          <a:prstGeom prst="rect">
            <a:avLst/>
          </a:prstGeom>
          <a:noFill/>
          <a:ln/>
        </p:spPr>
        <p:txBody>
          <a:bodyPr wrap="square" lIns="0" tIns="0" rIns="0" bIns="0" rtlCol="0" anchor="ctr"/>
          <a:lstStyle/>
          <a:p>
            <a:pPr marL="0" indent="0">
              <a:buNone/>
            </a:pPr>
            <a:r>
              <a:rPr lang="en-US" sz="1900" b="1" dirty="0">
                <a:solidFill>
                  <a:schemeClr val="tx1"/>
                </a:solidFill>
              </a:rPr>
              <a:t>Thinking with Type</a:t>
            </a:r>
            <a:endParaRPr lang="en-US" sz="1900" dirty="0"/>
          </a:p>
        </p:txBody>
      </p:sp>
      <p:sp>
        <p:nvSpPr>
          <p:cNvPr id="12" name="Text 8"/>
          <p:cNvSpPr txBox="1"/>
          <p:nvPr/>
        </p:nvSpPr>
        <p:spPr>
          <a:xfrm>
            <a:off x="7223760" y="2350008"/>
            <a:ext cx="4297680" cy="731520"/>
          </a:xfrm>
          <a:prstGeom prst="rect">
            <a:avLst/>
          </a:prstGeom>
          <a:noFill/>
          <a:ln/>
        </p:spPr>
        <p:txBody>
          <a:bodyPr wrap="square" lIns="0" tIns="0" rIns="0" bIns="0" rtlCol="0" anchor="ctr"/>
          <a:lstStyle/>
          <a:p>
            <a:pPr marL="0" indent="0">
              <a:buNone/>
            </a:pPr>
            <a:r>
              <a:rPr lang="en-US" sz="1600" dirty="0">
                <a:solidFill>
                  <a:schemeClr val="accent4"/>
                </a:solidFill>
              </a:rPr>
              <a:t>Ellen Lupton</a:t>
            </a:r>
            <a:endParaRPr lang="en-US" sz="1600" dirty="0"/>
          </a:p>
        </p:txBody>
      </p:sp>
      <p:sp>
        <p:nvSpPr>
          <p:cNvPr id="13" name="Reading row 3"/>
          <p:cNvSpPr/>
          <p:nvPr/>
        </p:nvSpPr>
        <p:spPr>
          <a:xfrm>
            <a:off x="548640" y="3191256"/>
            <a:ext cx="11094415" cy="731520"/>
          </a:xfrm>
          <a:prstGeom prst="rect">
            <a:avLst/>
          </a:prstGeom>
          <a:solidFill>
            <a:schemeClr val="bg2"/>
          </a:solidFill>
          <a:ln/>
        </p:spPr>
        <p:txBody>
          <a:bodyPr/>
          <a:lstStyle/>
          <a:p>
            <a:endParaRPr lang="en-US"/>
          </a:p>
        </p:txBody>
      </p:sp>
      <p:sp>
        <p:nvSpPr>
          <p:cNvPr id="14" name="Icon circle Book 3"/>
          <p:cNvSpPr/>
          <p:nvPr/>
        </p:nvSpPr>
        <p:spPr>
          <a:xfrm>
            <a:off x="731520" y="3282696"/>
            <a:ext cx="548640" cy="548640"/>
          </a:xfrm>
          <a:prstGeom prst="ellipse">
            <a:avLst/>
          </a:prstGeom>
          <a:solidFill>
            <a:schemeClr val="accent3"/>
          </a:solidFill>
          <a:ln/>
        </p:spPr>
        <p:txBody>
          <a:bodyPr/>
          <a:lstStyle/>
          <a:p>
            <a:endParaRPr lang="en-US"/>
          </a:p>
        </p:txBody>
      </p:sp>
      <p:pic>
        <p:nvPicPr>
          <p:cNvPr id="15" name="Icon Book 3" descr="Book 3 icon"/>
          <p:cNvPicPr>
            <a:picLocks noChangeAspect="1"/>
          </p:cNvPicPr>
          <p:nvPr/>
        </p:nvPicPr>
        <p:blipFill>
          <a:blip r:embed="rId4"/>
          <a:stretch>
            <a:fillRect/>
          </a:stretch>
        </p:blipFill>
        <p:spPr>
          <a:xfrm>
            <a:off x="874166" y="3425342"/>
            <a:ext cx="263347" cy="263347"/>
          </a:xfrm>
          <a:prstGeom prst="rect">
            <a:avLst/>
          </a:prstGeom>
        </p:spPr>
      </p:pic>
      <p:sp>
        <p:nvSpPr>
          <p:cNvPr id="16" name="Text 11"/>
          <p:cNvSpPr txBox="1"/>
          <p:nvPr/>
        </p:nvSpPr>
        <p:spPr>
          <a:xfrm>
            <a:off x="1554480" y="3191256"/>
            <a:ext cx="5486400" cy="731520"/>
          </a:xfrm>
          <a:prstGeom prst="rect">
            <a:avLst/>
          </a:prstGeom>
          <a:noFill/>
          <a:ln/>
        </p:spPr>
        <p:txBody>
          <a:bodyPr wrap="square" lIns="0" tIns="0" rIns="0" bIns="0" rtlCol="0" anchor="ctr"/>
          <a:lstStyle/>
          <a:p>
            <a:pPr marL="0" indent="0">
              <a:buNone/>
            </a:pPr>
            <a:r>
              <a:rPr lang="en-US" sz="1900" b="1" dirty="0">
                <a:solidFill>
                  <a:schemeClr val="tx1"/>
                </a:solidFill>
              </a:rPr>
              <a:t>Graphic Design: The New Basics</a:t>
            </a:r>
            <a:endParaRPr lang="en-US" sz="1900" dirty="0"/>
          </a:p>
        </p:txBody>
      </p:sp>
      <p:sp>
        <p:nvSpPr>
          <p:cNvPr id="17" name="Text 12"/>
          <p:cNvSpPr txBox="1"/>
          <p:nvPr/>
        </p:nvSpPr>
        <p:spPr>
          <a:xfrm>
            <a:off x="7223760" y="3191256"/>
            <a:ext cx="4297680" cy="731520"/>
          </a:xfrm>
          <a:prstGeom prst="rect">
            <a:avLst/>
          </a:prstGeom>
          <a:noFill/>
          <a:ln/>
        </p:spPr>
        <p:txBody>
          <a:bodyPr wrap="square" lIns="0" tIns="0" rIns="0" bIns="0" rtlCol="0" anchor="ctr"/>
          <a:lstStyle/>
          <a:p>
            <a:pPr marL="0" indent="0">
              <a:buNone/>
            </a:pPr>
            <a:r>
              <a:rPr lang="en-US" sz="1600" dirty="0">
                <a:solidFill>
                  <a:schemeClr val="accent4"/>
                </a:solidFill>
              </a:rPr>
              <a:t>Ellen Lupton and Jennifer Cole Phillips</a:t>
            </a:r>
            <a:endParaRPr lang="en-US" sz="1600" dirty="0"/>
          </a:p>
        </p:txBody>
      </p:sp>
      <p:sp>
        <p:nvSpPr>
          <p:cNvPr id="18" name="Reading row 4"/>
          <p:cNvSpPr/>
          <p:nvPr/>
        </p:nvSpPr>
        <p:spPr>
          <a:xfrm>
            <a:off x="548640" y="4032504"/>
            <a:ext cx="11094415" cy="731520"/>
          </a:xfrm>
          <a:prstGeom prst="rect">
            <a:avLst/>
          </a:prstGeom>
          <a:solidFill>
            <a:schemeClr val="bg2"/>
          </a:solidFill>
          <a:ln/>
        </p:spPr>
        <p:txBody>
          <a:bodyPr/>
          <a:lstStyle/>
          <a:p>
            <a:endParaRPr lang="en-US"/>
          </a:p>
        </p:txBody>
      </p:sp>
      <p:sp>
        <p:nvSpPr>
          <p:cNvPr id="19" name="Icon circle Book 4"/>
          <p:cNvSpPr/>
          <p:nvPr/>
        </p:nvSpPr>
        <p:spPr>
          <a:xfrm>
            <a:off x="731520" y="4123944"/>
            <a:ext cx="548640" cy="548640"/>
          </a:xfrm>
          <a:prstGeom prst="ellipse">
            <a:avLst/>
          </a:prstGeom>
          <a:solidFill>
            <a:schemeClr val="accent1"/>
          </a:solidFill>
          <a:ln/>
        </p:spPr>
        <p:txBody>
          <a:bodyPr/>
          <a:lstStyle/>
          <a:p>
            <a:endParaRPr lang="en-US"/>
          </a:p>
        </p:txBody>
      </p:sp>
      <p:pic>
        <p:nvPicPr>
          <p:cNvPr id="20" name="Icon Book 4" descr="Book 4 icon"/>
          <p:cNvPicPr>
            <a:picLocks noChangeAspect="1"/>
          </p:cNvPicPr>
          <p:nvPr/>
        </p:nvPicPr>
        <p:blipFill>
          <a:blip r:embed="rId3"/>
          <a:stretch>
            <a:fillRect/>
          </a:stretch>
        </p:blipFill>
        <p:spPr>
          <a:xfrm>
            <a:off x="874166" y="4266590"/>
            <a:ext cx="263347" cy="263347"/>
          </a:xfrm>
          <a:prstGeom prst="rect">
            <a:avLst/>
          </a:prstGeom>
        </p:spPr>
      </p:pic>
      <p:sp>
        <p:nvSpPr>
          <p:cNvPr id="21" name="Text 15"/>
          <p:cNvSpPr txBox="1"/>
          <p:nvPr/>
        </p:nvSpPr>
        <p:spPr>
          <a:xfrm>
            <a:off x="1554480" y="4032504"/>
            <a:ext cx="5486400" cy="731520"/>
          </a:xfrm>
          <a:prstGeom prst="rect">
            <a:avLst/>
          </a:prstGeom>
          <a:noFill/>
          <a:ln/>
        </p:spPr>
        <p:txBody>
          <a:bodyPr wrap="square" lIns="0" tIns="0" rIns="0" bIns="0" rtlCol="0" anchor="ctr"/>
          <a:lstStyle/>
          <a:p>
            <a:pPr marL="0" indent="0">
              <a:buNone/>
            </a:pPr>
            <a:r>
              <a:rPr lang="en-US" sz="1900" b="1" dirty="0">
                <a:solidFill>
                  <a:schemeClr val="tx1"/>
                </a:solidFill>
              </a:rPr>
              <a:t>The Non-Designer's Design Book</a:t>
            </a:r>
            <a:endParaRPr lang="en-US" sz="1900" dirty="0"/>
          </a:p>
        </p:txBody>
      </p:sp>
      <p:sp>
        <p:nvSpPr>
          <p:cNvPr id="22" name="Text 16"/>
          <p:cNvSpPr txBox="1"/>
          <p:nvPr/>
        </p:nvSpPr>
        <p:spPr>
          <a:xfrm>
            <a:off x="7223760" y="4032504"/>
            <a:ext cx="4297680" cy="731520"/>
          </a:xfrm>
          <a:prstGeom prst="rect">
            <a:avLst/>
          </a:prstGeom>
          <a:noFill/>
          <a:ln/>
        </p:spPr>
        <p:txBody>
          <a:bodyPr wrap="square" lIns="0" tIns="0" rIns="0" bIns="0" rtlCol="0" anchor="ctr"/>
          <a:lstStyle/>
          <a:p>
            <a:pPr marL="0" indent="0">
              <a:buNone/>
            </a:pPr>
            <a:r>
              <a:rPr lang="en-US" sz="1600" dirty="0">
                <a:solidFill>
                  <a:schemeClr val="accent4"/>
                </a:solidFill>
              </a:rPr>
              <a:t>Robin Williams</a:t>
            </a:r>
            <a:endParaRPr lang="en-US" sz="1600" dirty="0"/>
          </a:p>
        </p:txBody>
      </p:sp>
      <p:sp>
        <p:nvSpPr>
          <p:cNvPr id="23" name="Reading row 5"/>
          <p:cNvSpPr/>
          <p:nvPr/>
        </p:nvSpPr>
        <p:spPr>
          <a:xfrm>
            <a:off x="548640" y="4873752"/>
            <a:ext cx="11094415" cy="731520"/>
          </a:xfrm>
          <a:prstGeom prst="rect">
            <a:avLst/>
          </a:prstGeom>
          <a:solidFill>
            <a:schemeClr val="bg2"/>
          </a:solidFill>
          <a:ln/>
        </p:spPr>
        <p:txBody>
          <a:bodyPr/>
          <a:lstStyle/>
          <a:p>
            <a:endParaRPr lang="en-US"/>
          </a:p>
        </p:txBody>
      </p:sp>
      <p:sp>
        <p:nvSpPr>
          <p:cNvPr id="24" name="Icon circle Book 5"/>
          <p:cNvSpPr/>
          <p:nvPr/>
        </p:nvSpPr>
        <p:spPr>
          <a:xfrm>
            <a:off x="731520" y="4965192"/>
            <a:ext cx="548640" cy="548640"/>
          </a:xfrm>
          <a:prstGeom prst="ellipse">
            <a:avLst/>
          </a:prstGeom>
          <a:solidFill>
            <a:schemeClr val="accent2"/>
          </a:solidFill>
          <a:ln/>
        </p:spPr>
        <p:txBody>
          <a:bodyPr/>
          <a:lstStyle/>
          <a:p>
            <a:endParaRPr lang="en-US"/>
          </a:p>
        </p:txBody>
      </p:sp>
      <p:pic>
        <p:nvPicPr>
          <p:cNvPr id="25" name="Icon Book 5" descr="Book 5 icon"/>
          <p:cNvPicPr>
            <a:picLocks noChangeAspect="1"/>
          </p:cNvPicPr>
          <p:nvPr/>
        </p:nvPicPr>
        <p:blipFill>
          <a:blip r:embed="rId3"/>
          <a:stretch>
            <a:fillRect/>
          </a:stretch>
        </p:blipFill>
        <p:spPr>
          <a:xfrm>
            <a:off x="874166" y="5107838"/>
            <a:ext cx="263347" cy="263347"/>
          </a:xfrm>
          <a:prstGeom prst="rect">
            <a:avLst/>
          </a:prstGeom>
        </p:spPr>
      </p:pic>
      <p:sp>
        <p:nvSpPr>
          <p:cNvPr id="26" name="Text 19"/>
          <p:cNvSpPr txBox="1"/>
          <p:nvPr/>
        </p:nvSpPr>
        <p:spPr>
          <a:xfrm>
            <a:off x="1554480" y="4873752"/>
            <a:ext cx="5486400" cy="731520"/>
          </a:xfrm>
          <a:prstGeom prst="rect">
            <a:avLst/>
          </a:prstGeom>
          <a:noFill/>
          <a:ln/>
        </p:spPr>
        <p:txBody>
          <a:bodyPr wrap="square" lIns="0" tIns="0" rIns="0" bIns="0" rtlCol="0" anchor="ctr"/>
          <a:lstStyle/>
          <a:p>
            <a:pPr marL="0" indent="0">
              <a:buNone/>
            </a:pPr>
            <a:r>
              <a:rPr lang="en-US" sz="1900" b="1" dirty="0">
                <a:solidFill>
                  <a:schemeClr val="tx1"/>
                </a:solidFill>
              </a:rPr>
              <a:t>Grid Systems in Graphic Design</a:t>
            </a:r>
            <a:endParaRPr lang="en-US" sz="1900" dirty="0"/>
          </a:p>
        </p:txBody>
      </p:sp>
      <p:sp>
        <p:nvSpPr>
          <p:cNvPr id="27" name="Text 20"/>
          <p:cNvSpPr txBox="1"/>
          <p:nvPr/>
        </p:nvSpPr>
        <p:spPr>
          <a:xfrm>
            <a:off x="7223760" y="4873752"/>
            <a:ext cx="4297680" cy="731520"/>
          </a:xfrm>
          <a:prstGeom prst="rect">
            <a:avLst/>
          </a:prstGeom>
          <a:noFill/>
          <a:ln/>
        </p:spPr>
        <p:txBody>
          <a:bodyPr wrap="square" lIns="0" tIns="0" rIns="0" bIns="0" rtlCol="0" anchor="ctr"/>
          <a:lstStyle/>
          <a:p>
            <a:pPr marL="0" indent="0">
              <a:buNone/>
            </a:pPr>
            <a:r>
              <a:rPr lang="en-US" sz="1600" dirty="0">
                <a:solidFill>
                  <a:schemeClr val="accent4"/>
                </a:solidFill>
              </a:rPr>
              <a:t>Josef Müller-Brockmann</a:t>
            </a:r>
            <a:endParaRPr lang="en-US" sz="1600" dirty="0"/>
          </a:p>
        </p:txBody>
      </p:sp>
      <p:sp>
        <p:nvSpPr>
          <p:cNvPr id="28" name="Text 21"/>
          <p:cNvSpPr txBox="1"/>
          <p:nvPr/>
        </p:nvSpPr>
        <p:spPr>
          <a:xfrm>
            <a:off x="548640" y="5806440"/>
            <a:ext cx="11094415" cy="365760"/>
          </a:xfrm>
          <a:prstGeom prst="rect">
            <a:avLst/>
          </a:prstGeom>
          <a:noFill/>
          <a:ln/>
        </p:spPr>
        <p:txBody>
          <a:bodyPr wrap="square" lIns="0" tIns="0" rIns="0" bIns="0" rtlCol="0" anchor="t"/>
          <a:lstStyle/>
          <a:p>
            <a:pPr marL="0" indent="0">
              <a:buNone/>
            </a:pPr>
            <a:r>
              <a:rPr lang="en-US" sz="1500" dirty="0">
                <a:solidFill>
                  <a:schemeClr val="accent4"/>
                </a:solidFill>
              </a:rPr>
              <a:t>Check your library for the latest edition of each title.</a:t>
            </a:r>
            <a:endParaRPr lang="en-US" sz="1500" dirty="0"/>
          </a:p>
        </p:txBody>
      </p:sp>
      <p:sp>
        <p:nvSpPr>
          <p:cNvPr id="29" name="Slide Number Placeholder 0"/>
          <p:cNvSpPr>
            <a:spLocks noGrp="1"/>
          </p:cNvSpPr>
          <p:nvPr>
            <p:ph type="sldNum" sz="quarter" idx="4294967295"/>
          </p:nvPr>
        </p:nvSpPr>
        <p:spPr>
          <a:xfrm>
            <a:off x="11155680" y="6373368"/>
            <a:ext cx="48463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272"/>
                </a:solidFill>
              </a:defRPr>
            </a:lvl1pPr>
          </a:lstStyle>
          <a:p>
            <a:pPr algn="r"/>
            <a:fld id="{F7021451-1387-4CA6-816F-3879F97B5CBC}" type="slidenum">
              <a:rPr lang="en-US" b="0"/>
              <a:t>24</a:t>
            </a:fld>
            <a:endParaRPr lang="en-US"/>
          </a:p>
        </p:txBody>
      </p:sp>
    </p:spTree>
  </p:cSld>
  <p:clrMapOvr>
    <a:masterClrMapping/>
  </p:clrMapOvr>
</p:sld>
</file>

<file path=ppt/theme/theme1.xml><?xml version="1.0" encoding="utf-8"?>
<a:theme xmlns:a="http://schemas.openxmlformats.org/drawingml/2006/main" name="Graphic Design Primary">
  <a:themeElements>
    <a:clrScheme name="Graphic Design Primary">
      <a:dk1>
        <a:srgbClr val="17181C"/>
      </a:dk1>
      <a:lt1>
        <a:srgbClr val="FFFFFF"/>
      </a:lt1>
      <a:dk2>
        <a:srgbClr val="2B2F3A"/>
      </a:dk2>
      <a:lt2>
        <a:srgbClr val="F2F3F6"/>
      </a:lt2>
      <a:accent1>
        <a:srgbClr val="2547D0"/>
      </a:accent1>
      <a:accent2>
        <a:srgbClr val="E03A2F"/>
      </a:accent2>
      <a:accent3>
        <a:srgbClr val="F2B705"/>
      </a:accent3>
      <a:accent4>
        <a:srgbClr val="5A6272"/>
      </a:accent4>
      <a:accent5>
        <a:srgbClr val="1FA38A"/>
      </a:accent5>
      <a:accent6>
        <a:srgbClr val="F28C05"/>
      </a:accent6>
      <a:hlink>
        <a:srgbClr val="2547D0"/>
      </a:hlink>
      <a:folHlink>
        <a:srgbClr val="7A4FD0"/>
      </a:folHlink>
    </a:clrScheme>
    <a:fontScheme name="Graphic Design Primar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3057</Words>
  <Application>Microsoft Macintosh PowerPoint</Application>
  <PresentationFormat>Widescreen</PresentationFormat>
  <Paragraphs>418</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Graphic Design Primary</vt:lpstr>
      <vt:lpstr>Introduction to Graphic Design</vt:lpstr>
      <vt:lpstr>Session outline</vt:lpstr>
      <vt:lpstr>What is graphic design?</vt:lpstr>
      <vt:lpstr>Graphic design vs fine art</vt:lpstr>
      <vt:lpstr>What graphic designers work with</vt:lpstr>
      <vt:lpstr>Early roots: images, writing, print</vt:lpstr>
      <vt:lpstr>From the industrial age to modernism</vt:lpstr>
      <vt:lpstr>Modernism and the digital age</vt:lpstr>
      <vt:lpstr>Key design movements at a glance</vt:lpstr>
      <vt:lpstr>What graphic designers do</vt:lpstr>
      <vt:lpstr>Roles and specialisations</vt:lpstr>
      <vt:lpstr>Skills and collaborators</vt:lpstr>
      <vt:lpstr>How a visual message travels</vt:lpstr>
      <vt:lpstr>Three ways visual signs carry meaning</vt:lpstr>
      <vt:lpstr>Gestalt: how viewers group what they see</vt:lpstr>
      <vt:lpstr>Visual hierarchy guides the eye</vt:lpstr>
      <vt:lpstr>Color and type change the tone</vt:lpstr>
      <vt:lpstr>Where graphic design is used</vt:lpstr>
      <vt:lpstr>Print and screen: key differences</vt:lpstr>
      <vt:lpstr>One message, three contexts</vt:lpstr>
      <vt:lpstr>Commercial, cultural and social contexts</vt:lpstr>
      <vt:lpstr>Activity: read a design in context</vt:lpstr>
      <vt:lpstr>Key takeaways</vt:lpstr>
      <vt:lpstr>Further reading</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Graphic Design</dc:title>
  <dc:subject>PptxGenJS Presentation</dc:subject>
  <dc:creator>PptxGenJS</dc:creator>
  <cp:lastModifiedBy>SUHAILA BINTI SAMSURI</cp:lastModifiedBy>
  <cp:revision>2</cp:revision>
  <dcterms:created xsi:type="dcterms:W3CDTF">2026-10-12T00:26:04Z</dcterms:created>
  <dcterms:modified xsi:type="dcterms:W3CDTF">2026-10-12T00:59:08Z</dcterms:modified>
</cp:coreProperties>
</file>